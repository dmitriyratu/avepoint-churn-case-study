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Give all three answers immediately, then spend one slide on each. Two of the three answers are negative and I say so on slide one rather than building up to it. If pressed on how firm they are: answer one is the strongest result in the study, answer two is a 'cannot tell' rather than a 'no', answer three rests on cost arithmetic we can check rather than on any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solid each half is. The rise: Poisson trend on calendar month with accounts-at-risk as offset, rate ratio 1.089 per month, p = 2e-16. The flat cross-section: Cox over 21 characteristics returns global p = 0.57 and concordance 0.571; log-rank across 7 segments has a smallest adjusted p of 0.39. The two facts are one fact. Something that moves every account at once leaves no differences between accounts for a model to find.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challenges to expect on this slide.</a:t>
            </a:r>
          </a:p>
          <a:p/>
          <a:p>
            <a:r>
              <a:t>1. 'But AUC 0.58 is above 0.50, so there is something there.' The answer is that 0.583 is the maximum of a 15-model search, not a measurement of one model. Nested cross-validation, which prices in that search, gives AUC 0.534 +/- 0.016. The same search on shuffled labels averages AUC 0.566 and clears 0.583 in 7 of 20 trials. Permutation p = 0.076.</a:t>
            </a:r>
          </a:p>
          <a:p/>
          <a:p>
            <a:r>
              <a:t>2. 'Is AUC the right metric at 31% positives, or should this be F1 or precision-recall?' AUC is right here because its null is 0.50 at any base rate, which is what makes the twelve horizon/buffer cells comparable when their positive rates run 11% to 45%. But it does not matter which we use: average precision is 0.378 against a base-rate null of 0.305, permutation p = 0.070, against p = 0.076 on AUC. And F1 is 0.497 against 0.467 for contacting everyone -- a lift of 0.029, which is smaller than the 0.049 optimism in its own tuned threshold. F1 is the weakest of the three for this claim precisely because it is threshold-dependent and has no natural null.</a:t>
            </a:r>
          </a:p>
          <a:p/>
          <a:p>
            <a:r>
              <a:t>The three approaches are the cross-sectional classifier, a Cox survival model (concordance 0.509) and the horizon sweep. Do not overclaim the negative: the planted weak-signal control scores AUC 0.584 against our 0.583, so 'underpowered' is the defensible claim and 'no signal exists' is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action is the one thing on this deck that does not depend on the modelling. Break-even is 10.3% against a base rate of 30.5%, a factor of three, so it survives large errors in the cost assumptions. On onboarding: the pooled hazard genuinely does fall, rho = 0.737 with p = 1.7e-13, which is why the obvious analysis recommends the programme. Within each signup cohort rho comes back to about 1 (range 0.87 to 1.25, none significant), so the pooled shape is which cohorts are present at each tenure, not tenure itself. This reverses a recommendation an earlier pass of this work made.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here is arithmetic on quantities we can check, not model output. Net value at the model's best threshold is $53,000 against $52,400 for treating everyone, hence the 1%, and that 1% is itself optimistic because the threshold was chosen on the same data. The 15 months comes from a minimum detectable effect of 17.2pp at 88 per arm; a 5pp improvement would need about ten years.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rather than on the negative results. The second request is the one to push, because the label and the timestamps block any re-measurement of question two and also limit what we can say about the other two.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371600"/>
            <a:ext cx="10820095" cy="2011680"/>
          </a:xfrm>
          <a:prstGeom prst="rect">
            <a:avLst/>
          </a:prstGeom>
          <a:noFill/>
        </p:spPr>
        <p:txBody>
          <a:bodyPr wrap="square">
            <a:spAutoFit/>
          </a:bodyPr>
          <a:lstStyle/>
          <a:p>
            <a:r>
              <a:rPr sz="4000" b="1" i="0">
                <a:solidFill>
                  <a:srgbClr val="1A1A1A"/>
                </a:solidFill>
                <a:latin typeface="Calibri"/>
              </a:rPr>
              <a:t>Customer churn: what we found</a:t>
            </a:r>
          </a:p>
          <a:p>
            <a:pPr>
              <a:spcBef>
                <a:spcPts val="1200"/>
              </a:spcBef>
            </a:pPr>
            <a:r>
              <a:rPr sz="1700" b="0" i="0">
                <a:solidFill>
                  <a:srgbClr val="5A6270"/>
                </a:solidFill>
                <a:latin typeface="Calibri"/>
              </a:rPr>
              <a:t>Executive summary. You asked three questions. Here are the three answers, each with the evidence behind it.</a:t>
            </a:r>
          </a:p>
        </p:txBody>
      </p:sp>
      <p:sp>
        <p:nvSpPr>
          <p:cNvPr id="3" name="TextBox 2"/>
          <p:cNvSpPr txBox="1"/>
          <p:nvPr/>
        </p:nvSpPr>
        <p:spPr>
          <a:xfrm>
            <a:off x="685800" y="3200400"/>
            <a:ext cx="10820095" cy="4572000"/>
          </a:xfrm>
          <a:prstGeom prst="rect">
            <a:avLst/>
          </a:prstGeom>
          <a:noFill/>
        </p:spPr>
        <p:txBody>
          <a:bodyPr wrap="square">
            <a:spAutoFit/>
          </a:bodyPr>
          <a:lstStyle/>
          <a:p>
            <a:pPr>
              <a:spcAft>
                <a:spcPts val="700"/>
              </a:spcAft>
            </a:pPr>
            <a:r>
              <a:rPr sz="1600" b="1" i="0">
                <a:solidFill>
                  <a:srgbClr val="1A1A1A"/>
                </a:solidFill>
                <a:latin typeface="Calibri"/>
              </a:rPr>
              <a:t>Why are customers leaving?</a:t>
            </a:r>
          </a:p>
          <a:p>
            <a:pPr lvl="1">
              <a:spcAft>
                <a:spcPts val="700"/>
              </a:spcAft>
            </a:pPr>
            <a:r>
              <a:rPr sz="1400" b="0" i="0">
                <a:solidFill>
                  <a:srgbClr val="1A1A1A"/>
                </a:solidFill>
                <a:latin typeface="Calibri"/>
              </a:rPr>
              <a:t>The pattern is about when, not who. Churn roughly quadrupled over two years, and no customer characteristic we hold separates those who left from those who stayed.</a:t>
            </a:r>
          </a:p>
          <a:p>
            <a:pPr>
              <a:spcAft>
                <a:spcPts val="700"/>
              </a:spcAft>
            </a:pPr>
            <a:r>
              <a:rPr sz="1600" b="1" i="0">
                <a:solidFill>
                  <a:srgbClr val="1A1A1A"/>
                </a:solidFill>
                <a:latin typeface="Calibri"/>
              </a:rPr>
              <a:t>Can we predict who will leave?</a:t>
            </a:r>
          </a:p>
          <a:p>
            <a:pPr lvl="1">
              <a:spcAft>
                <a:spcPts val="700"/>
              </a:spcAft>
            </a:pPr>
            <a:r>
              <a:rPr sz="1400" b="0" i="0">
                <a:solidFill>
                  <a:srgbClr val="B02E2E"/>
                </a:solidFill>
                <a:latin typeface="Calibri"/>
              </a:rPr>
              <a:t>Not from this data as it stands. Two data faults have to be fixed before the question can be answered properly. A better algorithm is not the missing piece.</a:t>
            </a:r>
          </a:p>
          <a:p>
            <a:pPr>
              <a:spcAft>
                <a:spcPts val="700"/>
              </a:spcAft>
            </a:pPr>
            <a:r>
              <a:rPr sz="1600" b="1" i="0">
                <a:solidFill>
                  <a:srgbClr val="1A1A1A"/>
                </a:solidFill>
                <a:latin typeface="Calibri"/>
              </a:rPr>
              <a:t>What actions will improve retention?</a:t>
            </a:r>
          </a:p>
          <a:p>
            <a:pPr lvl="1">
              <a:spcAft>
                <a:spcPts val="700"/>
              </a:spcAft>
            </a:pPr>
            <a:r>
              <a:rPr sz="1400" b="0" i="0">
                <a:solidFill>
                  <a:srgbClr val="1E7A4B"/>
                </a:solidFill>
                <a:latin typeface="Calibri"/>
              </a:rPr>
              <a:t>Contacting every at-risk customer already pays for itself on the cost arithmetic alone. Beyond that we cannot yet prove what works, because no retention action has ever been recorded.</a:t>
            </a:r>
          </a:p>
        </p:txBody>
      </p:sp>
      <p:sp>
        <p:nvSpPr>
          <p:cNvPr id="4" name="TextBox 3"/>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Each answer carries its supporting numbers on its own slide, including where the evidence is thin. Two of the three are limited by the data we hold, not by the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QUESTION 1</a:t>
            </a:r>
          </a:p>
          <a:p>
            <a:pPr>
              <a:spcBef>
                <a:spcPts val="400"/>
              </a:spcBef>
            </a:pPr>
            <a:r>
              <a:rPr sz="2800" b="1" i="0">
                <a:solidFill>
                  <a:srgbClr val="1A1A1A"/>
                </a:solidFill>
                <a:latin typeface="Calibri"/>
              </a:rPr>
              <a:t>Why are customers leaving?</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685800"/>
          </a:xfrm>
          <a:prstGeom prst="rect">
            <a:avLst/>
          </a:prstGeom>
          <a:noFill/>
        </p:spPr>
        <p:txBody>
          <a:bodyPr wrap="square">
            <a:spAutoFit/>
          </a:bodyPr>
          <a:lstStyle/>
          <a:p>
            <a:r>
              <a:rPr sz="2100" b="1" i="0">
                <a:solidFill>
                  <a:srgbClr val="2E5F8A"/>
                </a:solidFill>
                <a:latin typeface="Calibri"/>
              </a:rPr>
              <a:t>The clearest signal is when they were with us, not who they are.</a:t>
            </a:r>
          </a:p>
        </p:txBody>
      </p:sp>
      <p:pic>
        <p:nvPicPr>
          <p:cNvPr id="5" name="Picture 4" descr="12_calendar_hazard.png"/>
          <p:cNvPicPr>
            <a:picLocks noChangeAspect="1"/>
          </p:cNvPicPr>
          <p:nvPr/>
        </p:nvPicPr>
        <p:blipFill>
          <a:blip r:embed="rId2"/>
          <a:stretch>
            <a:fillRect/>
          </a:stretch>
        </p:blipFill>
        <p:spPr>
          <a:xfrm>
            <a:off x="3535905" y="2240280"/>
            <a:ext cx="5119884" cy="2286000"/>
          </a:xfrm>
          <a:prstGeom prst="rect">
            <a:avLst/>
          </a:prstGeom>
        </p:spPr>
      </p:pic>
      <p:sp>
        <p:nvSpPr>
          <p:cNvPr id="6" name="TextBox 5"/>
          <p:cNvSpPr txBox="1"/>
          <p:nvPr/>
        </p:nvSpPr>
        <p:spPr>
          <a:xfrm>
            <a:off x="685800" y="4590288"/>
            <a:ext cx="10820095" cy="4572000"/>
          </a:xfrm>
          <a:prstGeom prst="rect">
            <a:avLst/>
          </a:prstGeom>
          <a:noFill/>
        </p:spPr>
        <p:txBody>
          <a:bodyPr wrap="square">
            <a:spAutoFit/>
          </a:bodyPr>
          <a:lstStyle/>
          <a:p>
            <a:pPr>
              <a:spcAft>
                <a:spcPts val="400"/>
              </a:spcAft>
            </a:pPr>
            <a:r>
              <a:rPr sz="1250" b="1" i="0">
                <a:solidFill>
                  <a:srgbClr val="1A1A1A"/>
                </a:solidFill>
                <a:latin typeface="Calibri"/>
              </a:rPr>
              <a:t>Churn rose from about 5 in every 100 customers a month in 2023 to 22 in 100 by December 2024, on a customer base that did not grow. A 2.8x increase per year, and the most tightly estimated effect in the data.</a:t>
            </a:r>
          </a:p>
          <a:p>
            <a:pPr>
              <a:spcAft>
                <a:spcPts val="400"/>
              </a:spcAft>
            </a:pPr>
            <a:r>
              <a:rPr sz="1250" b="0" i="0">
                <a:solidFill>
                  <a:srgbClr val="1A1A1A"/>
                </a:solidFill>
                <a:latin typeface="Calibri"/>
              </a:rPr>
              <a:t>We tested every characteristic we hold: industry, country, plan, size, how they found us, usage, support history. None separated leavers from stayers by more than chance produces. The best reaches AUC 0.62, against AUC 0.61 from deliberately scrambled labels.</a:t>
            </a:r>
          </a:p>
          <a:p>
            <a:pPr>
              <a:spcAft>
                <a:spcPts val="400"/>
              </a:spcAft>
            </a:pPr>
            <a:r>
              <a:rPr sz="1250" b="0" i="0">
                <a:solidFill>
                  <a:srgbClr val="B02E2E"/>
                </a:solidFill>
                <a:latin typeface="Calibri"/>
              </a:rPr>
              <a:t>What we cannot yet say is why the rate rose. The data holds nothing that varies over time, so we can establish the increase but not attribute it. Slide 6 says what would fix that.</a:t>
            </a:r>
          </a:p>
        </p:txBody>
      </p:sp>
      <p:sp>
        <p:nvSpPr>
          <p:cNvPr id="7" name="TextBox 6"/>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AUC is ranking accuracy: 0.50 is a coin flip, 1.00 is perfect. With 54 churners we could only have detected a large difference between customer types, so "none found" is not proof that none exists. The rise over calendar time is the opposite case: large, and precisely estimated.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QUESTION 2</a:t>
            </a:r>
          </a:p>
          <a:p>
            <a:pPr>
              <a:spcBef>
                <a:spcPts val="400"/>
              </a:spcBef>
            </a:pPr>
            <a:r>
              <a:rPr sz="2800" b="1" i="0">
                <a:solidFill>
                  <a:srgbClr val="1A1A1A"/>
                </a:solidFill>
                <a:latin typeface="Calibri"/>
              </a:rPr>
              <a:t>Can we predict churn before it happens?</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685800"/>
          </a:xfrm>
          <a:prstGeom prst="rect">
            <a:avLst/>
          </a:prstGeom>
          <a:noFill/>
        </p:spPr>
        <p:txBody>
          <a:bodyPr wrap="square">
            <a:spAutoFit/>
          </a:bodyPr>
          <a:lstStyle/>
          <a:p>
            <a:r>
              <a:rPr sz="2100" b="1" i="0">
                <a:solidFill>
                  <a:srgbClr val="B02E2E"/>
                </a:solidFill>
                <a:latin typeface="Calibri"/>
              </a:rPr>
              <a:t>Not from this data as it stands, and a better algorithm is not the missing piece.</a:t>
            </a:r>
          </a:p>
        </p:txBody>
      </p:sp>
      <p:sp>
        <p:nvSpPr>
          <p:cNvPr id="5" name="TextBox 4"/>
          <p:cNvSpPr txBox="1"/>
          <p:nvPr/>
        </p:nvSpPr>
        <p:spPr>
          <a:xfrm>
            <a:off x="685800" y="2139696"/>
            <a:ext cx="10820095" cy="4572000"/>
          </a:xfrm>
          <a:prstGeom prst="rect">
            <a:avLst/>
          </a:prstGeom>
          <a:noFill/>
        </p:spPr>
        <p:txBody>
          <a:bodyPr wrap="square">
            <a:spAutoFit/>
          </a:bodyPr>
          <a:lstStyle/>
          <a:p>
            <a:pPr>
              <a:spcAft>
                <a:spcPts val="300"/>
              </a:spcAft>
            </a:pPr>
            <a:r>
              <a:rPr sz="1400" b="1" i="0">
                <a:solidFill>
                  <a:srgbClr val="1A1A1A"/>
                </a:solidFill>
                <a:latin typeface="Calibri"/>
              </a:rPr>
              <a:t>We tried three genuinely different approaches. None beat chance once we account for having tried many.</a:t>
            </a:r>
          </a:p>
          <a:p>
            <a:pPr lvl="1">
              <a:spcAft>
                <a:spcPts val="300"/>
              </a:spcAft>
            </a:pPr>
            <a:r>
              <a:rPr sz="1200" b="0" i="0">
                <a:solidFill>
                  <a:srgbClr val="5A6270"/>
                </a:solidFill>
                <a:latin typeface="Calibri"/>
              </a:rPr>
              <a:t>Best model: AUC 0.58, on a scale where 0.50 is a coin flip and 1.00 is perfect. Its uncertainty spans AUC 0.37 to 0.75, the same search on deliberately scrambled data reached AUC 0.58 or better in 7 of 20 attempts, and priced for the fact that we picked the winner it is AUC 0.53.</a:t>
            </a:r>
          </a:p>
          <a:p>
            <a:pPr>
              <a:spcAft>
                <a:spcPts val="300"/>
              </a:spcAft>
            </a:pPr>
            <a:r>
              <a:rPr sz="600" b="0" i="0">
                <a:solidFill>
                  <a:srgbClr val="1A1A1A"/>
                </a:solidFill>
                <a:latin typeface="Calibri"/>
              </a:rPr>
              <a:t> </a:t>
            </a:r>
          </a:p>
          <a:p>
            <a:pPr>
              <a:spcAft>
                <a:spcPts val="300"/>
              </a:spcAft>
            </a:pPr>
            <a:r>
              <a:rPr sz="1400" b="1" i="0">
                <a:solidFill>
                  <a:srgbClr val="1A1A1A"/>
                </a:solidFill>
                <a:latin typeface="Calibri"/>
              </a:rPr>
              <a:t>The careful version: we cannot tell, rather than there is nothing there.</a:t>
            </a:r>
          </a:p>
          <a:p>
            <a:pPr lvl="1">
              <a:spcAft>
                <a:spcPts val="300"/>
              </a:spcAft>
            </a:pPr>
            <a:r>
              <a:rPr sz="1200" b="0" i="0">
                <a:solidFill>
                  <a:srgbClr val="5A6270"/>
                </a:solidFill>
                <a:latin typeface="Calibri"/>
              </a:rPr>
              <a:t>A planted relationship that is real but weak also reaches AUC 0.58 here. At 54 churners the two are indistinguishable. Hence re-measure, rather than close the question.</a:t>
            </a:r>
          </a:p>
          <a:p>
            <a:pPr>
              <a:spcAft>
                <a:spcPts val="300"/>
              </a:spcAft>
            </a:pPr>
            <a:r>
              <a:rPr sz="600" b="0" i="0">
                <a:solidFill>
                  <a:srgbClr val="1A1A1A"/>
                </a:solidFill>
                <a:latin typeface="Calibri"/>
              </a:rPr>
              <a:t> </a:t>
            </a:r>
          </a:p>
          <a:p>
            <a:pPr>
              <a:spcAft>
                <a:spcPts val="300"/>
              </a:spcAft>
            </a:pPr>
            <a:r>
              <a:rPr sz="1400" b="1" i="0">
                <a:solidFill>
                  <a:srgbClr val="1A1A1A"/>
                </a:solidFill>
                <a:latin typeface="Calibri"/>
              </a:rPr>
              <a:t>The warning time we would need makes it harder, not easier.</a:t>
            </a:r>
          </a:p>
          <a:p>
            <a:pPr lvl="1">
              <a:spcAft>
                <a:spcPts val="300"/>
              </a:spcAft>
            </a:pPr>
            <a:r>
              <a:rPr sz="1200" b="0" i="0">
                <a:solidFill>
                  <a:srgbClr val="5A6270"/>
                </a:solidFill>
                <a:latin typeface="Calibri"/>
              </a:rPr>
              <a:t>Asking for 30 days of notice, so somebody could act, moves every horizon into the AUC 0.42 to 0.52 band. A prediction that arrives too late to use is not useful.</a:t>
            </a:r>
          </a:p>
          <a:p>
            <a:pPr>
              <a:spcAft>
                <a:spcPts val="300"/>
              </a:spcAft>
            </a:pPr>
            <a:r>
              <a:rPr sz="600" b="0" i="0">
                <a:solidFill>
                  <a:srgbClr val="1A1A1A"/>
                </a:solidFill>
                <a:latin typeface="Calibri"/>
              </a:rPr>
              <a:t> </a:t>
            </a:r>
          </a:p>
          <a:p>
            <a:pPr>
              <a:spcAft>
                <a:spcPts val="300"/>
              </a:spcAft>
            </a:pPr>
            <a:r>
              <a:rPr sz="1400" b="1" i="0">
                <a:solidFill>
                  <a:srgbClr val="1A1A1A"/>
                </a:solidFill>
                <a:latin typeface="Calibri"/>
              </a:rPr>
              <a:t>Two data faults are doing most of the damage.</a:t>
            </a:r>
          </a:p>
          <a:p>
            <a:pPr lvl="1">
              <a:spcAft>
                <a:spcPts val="300"/>
              </a:spcAft>
            </a:pPr>
            <a:r>
              <a:rPr sz="1200" b="0" i="0">
                <a:solidFill>
                  <a:srgbClr val="5A6270"/>
                </a:solidFill>
                <a:latin typeface="Calibri"/>
              </a:rPr>
              <a:t>Three sources disagree on who churned: they agree on about one account in five, which is what two unrelated columns would do.</a:t>
            </a:r>
          </a:p>
          <a:p>
            <a:pPr lvl="1">
              <a:spcAft>
                <a:spcPts val="300"/>
              </a:spcAft>
            </a:pPr>
            <a:r>
              <a:rPr sz="1200" b="0" i="0">
                <a:solidFill>
                  <a:srgbClr val="5A6270"/>
                </a:solidFill>
                <a:latin typeface="Calibri"/>
              </a:rPr>
              <a:t>Roughly three-quarters of usage rows are dated before the subscription they belong to.</a:t>
            </a:r>
          </a:p>
          <a:p>
            <a:pPr>
              <a:spcAft>
                <a:spcPts val="300"/>
              </a:spcAft>
            </a:pPr>
            <a:r>
              <a:rPr sz="600" b="0" i="0">
                <a:solidFill>
                  <a:srgbClr val="1A1A1A"/>
                </a:solidFill>
                <a:latin typeface="Calibri"/>
              </a:rPr>
              <a:t> </a:t>
            </a:r>
          </a:p>
          <a:p>
            <a:pPr>
              <a:spcAft>
                <a:spcPts val="300"/>
              </a:spcAft>
            </a:pPr>
            <a:r>
              <a:rPr sz="1400" b="1" i="0">
                <a:solidFill>
                  <a:srgbClr val="2E5F8A"/>
                </a:solidFill>
                <a:latin typeface="Calibri"/>
              </a:rPr>
              <a:t>Practically: do not buy or build churn scoring yet. Fix those two faults and re-measure, which is one command once the data is clean.</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AUC is ranking accuracy: 0.50 is a coin flip, 1.00 is perfect. The metric is not doing the work — precision-recall and F1 agree, and on F1 the model beats a no-model policy by less than the optimism in its own tuned threshold. Ladder and null tests in the technical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QUESTION 3</a:t>
            </a:r>
          </a:p>
          <a:p>
            <a:pPr>
              <a:spcBef>
                <a:spcPts val="400"/>
              </a:spcBef>
            </a:pPr>
            <a:r>
              <a:rPr sz="2800" b="1" i="0">
                <a:solidFill>
                  <a:srgbClr val="1A1A1A"/>
                </a:solidFill>
                <a:latin typeface="Calibri"/>
              </a:rPr>
              <a:t>What actions will improve retention?</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685800"/>
          </a:xfrm>
          <a:prstGeom prst="rect">
            <a:avLst/>
          </a:prstGeom>
          <a:noFill/>
        </p:spPr>
        <p:txBody>
          <a:bodyPr wrap="square">
            <a:spAutoFit/>
          </a:bodyPr>
          <a:lstStyle/>
          <a:p>
            <a:r>
              <a:rPr sz="2100" b="1" i="0">
                <a:solidFill>
                  <a:srgbClr val="1E7A4B"/>
                </a:solidFill>
                <a:latin typeface="Calibri"/>
              </a:rPr>
              <a:t>One action pays for itself today. Beyond that, we cannot yet prove what works.</a:t>
            </a:r>
          </a:p>
        </p:txBody>
      </p:sp>
      <p:sp>
        <p:nvSpPr>
          <p:cNvPr id="5" name="TextBox 4"/>
          <p:cNvSpPr txBox="1"/>
          <p:nvPr/>
        </p:nvSpPr>
        <p:spPr>
          <a:xfrm>
            <a:off x="685800" y="2240280"/>
            <a:ext cx="10820095" cy="4572000"/>
          </a:xfrm>
          <a:prstGeom prst="rect">
            <a:avLst/>
          </a:prstGeom>
          <a:noFill/>
        </p:spPr>
        <p:txBody>
          <a:bodyPr wrap="square">
            <a:spAutoFit/>
          </a:bodyPr>
          <a:lstStyle/>
          <a:p>
            <a:pPr>
              <a:spcAft>
                <a:spcPts val="500"/>
              </a:spcAft>
            </a:pPr>
            <a:r>
              <a:rPr sz="1500" b="1" i="0">
                <a:solidFill>
                  <a:srgbClr val="1E7A4B"/>
                </a:solidFill>
                <a:latin typeface="Calibri"/>
              </a:rPr>
              <a:t>Do this now: contact every at-risk customer, and do not rank them.</a:t>
            </a:r>
          </a:p>
          <a:p>
            <a:pPr lvl="1">
              <a:spcAft>
                <a:spcPts val="500"/>
              </a:spcAft>
            </a:pPr>
            <a:r>
              <a:rPr sz="1300" b="0" i="0">
                <a:solidFill>
                  <a:srgbClr val="5A6270"/>
                </a:solidFill>
                <a:latin typeface="Calibri"/>
              </a:rPr>
              <a:t>A call costs around $150 and an average customer is worth around $7,300. If one call in five succeeds, it pays for itself on anyone with more than a 10% chance of leaving. In this group 31% left within 90 days, so the margin is wide.</a:t>
            </a:r>
          </a:p>
          <a:p>
            <a:pPr lvl="1">
              <a:spcAft>
                <a:spcPts val="500"/>
              </a:spcAft>
            </a:pPr>
            <a:r>
              <a:rPr sz="1300" b="0" i="0">
                <a:solidFill>
                  <a:srgbClr val="5A6270"/>
                </a:solidFill>
                <a:latin typeface="Calibri"/>
              </a:rPr>
              <a:t>This rests on the cost arithmetic rather than on the model, which is why the prediction result does not hold up the decision.</a:t>
            </a:r>
          </a:p>
          <a:p>
            <a:pPr>
              <a:spcAft>
                <a:spcPts val="500"/>
              </a:spcAft>
            </a:pPr>
            <a:r>
              <a:rPr sz="600" b="0" i="0">
                <a:solidFill>
                  <a:srgbClr val="1A1A1A"/>
                </a:solidFill>
                <a:latin typeface="Calibri"/>
              </a:rPr>
              <a:t> </a:t>
            </a:r>
          </a:p>
          <a:p>
            <a:pPr>
              <a:spcAft>
                <a:spcPts val="500"/>
              </a:spcAft>
            </a:pPr>
            <a:r>
              <a:rPr sz="1500" b="1" i="0">
                <a:solidFill>
                  <a:srgbClr val="B02E2E"/>
                </a:solidFill>
                <a:latin typeface="Calibri"/>
              </a:rPr>
              <a:t>Hold off on this: the structured onboarding programme.</a:t>
            </a:r>
          </a:p>
          <a:p>
            <a:pPr lvl="1">
              <a:spcAft>
                <a:spcPts val="500"/>
              </a:spcAft>
            </a:pPr>
            <a:r>
              <a:rPr sz="1300" b="0" i="0">
                <a:solidFill>
                  <a:srgbClr val="5A6270"/>
                </a:solidFill>
                <a:latin typeface="Calibri"/>
              </a:rPr>
              <a:t>New customers look more fragile, which is the usual reason to invest here. The pattern appears to be composition rather than tenure: pooled together the risk looks front-loaded, but within each signup cohort it is flat. On that reading a ten-month customer is about as likely to leave as a ten-day one.</a:t>
            </a:r>
          </a:p>
          <a:p>
            <a:pPr>
              <a:spcAft>
                <a:spcPts val="500"/>
              </a:spcAft>
            </a:pPr>
            <a:r>
              <a:rPr sz="600" b="0" i="0">
                <a:solidFill>
                  <a:srgbClr val="1A1A1A"/>
                </a:solidFill>
                <a:latin typeface="Calibri"/>
              </a:rPr>
              <a:t> </a:t>
            </a:r>
          </a:p>
          <a:p>
            <a:pPr>
              <a:spcAft>
                <a:spcPts val="500"/>
              </a:spcAft>
            </a:pPr>
            <a:r>
              <a:rPr sz="1500" b="1" i="0">
                <a:solidFill>
                  <a:srgbClr val="1A1A1A"/>
                </a:solidFill>
                <a:latin typeface="Calibri"/>
              </a:rPr>
              <a:t>Everything else we might try is currently untestable, not disproven.</a:t>
            </a:r>
          </a:p>
          <a:p>
            <a:pPr lvl="1">
              <a:spcAft>
                <a:spcPts val="500"/>
              </a:spcAft>
            </a:pPr>
            <a:r>
              <a:rPr sz="1300" b="0" i="0">
                <a:solidFill>
                  <a:srgbClr val="5A6270"/>
                </a:solidFill>
                <a:latin typeface="Calibri"/>
              </a:rPr>
              <a:t>No call, discount or campaign is recorded anywhere in the data. Without a record of what we did there is no way to measure what worked, so the other retention ideas are opinions for now, including the good ones.</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Costs and save rates are our estimates and should be replaced with finance's figures. The onboarding finding is a within-cohort result on 54 churners and would be worth revisiting if richer cohort data arrives.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THE ECONOMICS</a:t>
            </a:r>
          </a:p>
          <a:p>
            <a:pPr>
              <a:spcBef>
                <a:spcPts val="400"/>
              </a:spcBef>
            </a:pPr>
            <a:r>
              <a:rPr sz="2800" b="1" i="0">
                <a:solidFill>
                  <a:srgbClr val="1A1A1A"/>
                </a:solidFill>
                <a:latin typeface="Calibri"/>
              </a:rPr>
              <a:t>Why calling everyone is the right call today</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20240"/>
            <a:ext cx="2743200" cy="1371600"/>
          </a:xfrm>
          <a:prstGeom prst="rect">
            <a:avLst/>
          </a:prstGeom>
          <a:noFill/>
        </p:spPr>
        <p:txBody>
          <a:bodyPr wrap="square">
            <a:spAutoFit/>
          </a:bodyPr>
          <a:lstStyle/>
          <a:p>
            <a:r>
              <a:rPr sz="4000" b="1" i="0">
                <a:solidFill>
                  <a:srgbClr val="1A1A1A"/>
                </a:solidFill>
                <a:latin typeface="Calibri"/>
              </a:rPr>
              <a:t>$7,300</a:t>
            </a:r>
          </a:p>
          <a:p>
            <a:pPr>
              <a:spcBef>
                <a:spcPts val="200"/>
              </a:spcBef>
            </a:pPr>
            <a:r>
              <a:rPr sz="1300" b="0" i="0">
                <a:solidFill>
                  <a:srgbClr val="5A6270"/>
                </a:solidFill>
                <a:latin typeface="Calibri"/>
              </a:rPr>
              <a:t>Average customer value, 3 years, discounted</a:t>
            </a:r>
          </a:p>
        </p:txBody>
      </p:sp>
      <p:sp>
        <p:nvSpPr>
          <p:cNvPr id="5" name="TextBox 4"/>
          <p:cNvSpPr txBox="1"/>
          <p:nvPr/>
        </p:nvSpPr>
        <p:spPr>
          <a:xfrm>
            <a:off x="3931920" y="1920240"/>
            <a:ext cx="2743200" cy="1371600"/>
          </a:xfrm>
          <a:prstGeom prst="rect">
            <a:avLst/>
          </a:prstGeom>
          <a:noFill/>
        </p:spPr>
        <p:txBody>
          <a:bodyPr wrap="square">
            <a:spAutoFit/>
          </a:bodyPr>
          <a:lstStyle/>
          <a:p>
            <a:r>
              <a:rPr sz="4000" b="1" i="0">
                <a:solidFill>
                  <a:srgbClr val="1A1A1A"/>
                </a:solidFill>
                <a:latin typeface="Calibri"/>
              </a:rPr>
              <a:t>31%</a:t>
            </a:r>
          </a:p>
          <a:p>
            <a:pPr>
              <a:spcBef>
                <a:spcPts val="200"/>
              </a:spcBef>
            </a:pPr>
            <a:r>
              <a:rPr sz="1300" b="0" i="0">
                <a:solidFill>
                  <a:srgbClr val="5A6270"/>
                </a:solidFill>
                <a:latin typeface="Calibri"/>
              </a:rPr>
              <a:t>Of this at-risk group left within 90 days (54 of 177)</a:t>
            </a:r>
          </a:p>
        </p:txBody>
      </p:sp>
      <p:sp>
        <p:nvSpPr>
          <p:cNvPr id="6" name="TextBox 5"/>
          <p:cNvSpPr txBox="1"/>
          <p:nvPr/>
        </p:nvSpPr>
        <p:spPr>
          <a:xfrm>
            <a:off x="7223760" y="1920240"/>
            <a:ext cx="2743200" cy="1371600"/>
          </a:xfrm>
          <a:prstGeom prst="rect">
            <a:avLst/>
          </a:prstGeom>
          <a:noFill/>
        </p:spPr>
        <p:txBody>
          <a:bodyPr wrap="square">
            <a:spAutoFit/>
          </a:bodyPr>
          <a:lstStyle/>
          <a:p>
            <a:r>
              <a:rPr sz="4000" b="1" i="0">
                <a:solidFill>
                  <a:srgbClr val="1A1A1A"/>
                </a:solidFill>
                <a:latin typeface="Calibri"/>
              </a:rPr>
              <a:t>10%</a:t>
            </a:r>
          </a:p>
          <a:p>
            <a:pPr>
              <a:spcBef>
                <a:spcPts val="200"/>
              </a:spcBef>
            </a:pPr>
            <a:r>
              <a:rPr sz="1300" b="0" i="0">
                <a:solidFill>
                  <a:srgbClr val="5A6270"/>
                </a:solidFill>
                <a:latin typeface="Calibri"/>
              </a:rPr>
              <a:t>Break-even chance of leaving for one call</a:t>
            </a:r>
          </a:p>
        </p:txBody>
      </p:sp>
      <p:sp>
        <p:nvSpPr>
          <p:cNvPr id="7" name="TextBox 6"/>
          <p:cNvSpPr txBox="1"/>
          <p:nvPr/>
        </p:nvSpPr>
        <p:spPr>
          <a:xfrm>
            <a:off x="685800" y="3749039"/>
            <a:ext cx="2743200" cy="1371600"/>
          </a:xfrm>
          <a:prstGeom prst="rect">
            <a:avLst/>
          </a:prstGeom>
          <a:noFill/>
        </p:spPr>
        <p:txBody>
          <a:bodyPr wrap="square">
            <a:spAutoFit/>
          </a:bodyPr>
          <a:lstStyle/>
          <a:p>
            <a:r>
              <a:rPr sz="4000" b="1" i="0">
                <a:solidFill>
                  <a:srgbClr val="1E7A4B"/>
                </a:solidFill>
                <a:latin typeface="Calibri"/>
              </a:rPr>
              <a:t>$52,400</a:t>
            </a:r>
          </a:p>
          <a:p>
            <a:pPr>
              <a:spcBef>
                <a:spcPts val="200"/>
              </a:spcBef>
            </a:pPr>
            <a:r>
              <a:rPr sz="1300" b="0" i="0">
                <a:solidFill>
                  <a:srgbClr val="5A6270"/>
                </a:solidFill>
                <a:latin typeface="Calibri"/>
              </a:rPr>
              <a:t>Value of calling all 177, at a 1-in-5 save rate</a:t>
            </a:r>
          </a:p>
        </p:txBody>
      </p:sp>
      <p:sp>
        <p:nvSpPr>
          <p:cNvPr id="8" name="TextBox 7"/>
          <p:cNvSpPr txBox="1"/>
          <p:nvPr/>
        </p:nvSpPr>
        <p:spPr>
          <a:xfrm>
            <a:off x="3931920" y="3749039"/>
            <a:ext cx="2743200" cy="1371600"/>
          </a:xfrm>
          <a:prstGeom prst="rect">
            <a:avLst/>
          </a:prstGeom>
          <a:noFill/>
        </p:spPr>
        <p:txBody>
          <a:bodyPr wrap="square">
            <a:spAutoFit/>
          </a:bodyPr>
          <a:lstStyle/>
          <a:p>
            <a:r>
              <a:rPr sz="4000" b="1" i="0">
                <a:solidFill>
                  <a:srgbClr val="5A6270"/>
                </a:solidFill>
                <a:latin typeface="Calibri"/>
              </a:rPr>
              <a:t>1%</a:t>
            </a:r>
          </a:p>
          <a:p>
            <a:pPr>
              <a:spcBef>
                <a:spcPts val="200"/>
              </a:spcBef>
            </a:pPr>
            <a:r>
              <a:rPr sz="1300" b="0" i="0">
                <a:solidFill>
                  <a:srgbClr val="5A6270"/>
                </a:solidFill>
                <a:latin typeface="Calibri"/>
              </a:rPr>
              <a:t>What a perfect ranking would add on top</a:t>
            </a:r>
          </a:p>
        </p:txBody>
      </p:sp>
      <p:sp>
        <p:nvSpPr>
          <p:cNvPr id="9" name="TextBox 8"/>
          <p:cNvSpPr txBox="1"/>
          <p:nvPr/>
        </p:nvSpPr>
        <p:spPr>
          <a:xfrm>
            <a:off x="7223760" y="3749039"/>
            <a:ext cx="2743200" cy="1371600"/>
          </a:xfrm>
          <a:prstGeom prst="rect">
            <a:avLst/>
          </a:prstGeom>
          <a:noFill/>
        </p:spPr>
        <p:txBody>
          <a:bodyPr wrap="square">
            <a:spAutoFit/>
          </a:bodyPr>
          <a:lstStyle/>
          <a:p>
            <a:r>
              <a:rPr sz="4000" b="1" i="0">
                <a:solidFill>
                  <a:srgbClr val="5A6270"/>
                </a:solidFill>
                <a:latin typeface="Calibri"/>
              </a:rPr>
              <a:t>15 months</a:t>
            </a:r>
          </a:p>
          <a:p>
            <a:pPr>
              <a:spcBef>
                <a:spcPts val="200"/>
              </a:spcBef>
            </a:pPr>
            <a:r>
              <a:rPr sz="1300" b="0" i="0">
                <a:solidFill>
                  <a:srgbClr val="5A6270"/>
                </a:solidFill>
                <a:latin typeface="Calibri"/>
              </a:rPr>
              <a:t>To prove a halving of churn; smaller gains take years</a:t>
            </a:r>
          </a:p>
        </p:txBody>
      </p:sp>
      <p:sp>
        <p:nvSpPr>
          <p:cNvPr id="10" name="TextBox 9"/>
          <p:cNvSpPr txBox="1"/>
          <p:nvPr/>
        </p:nvSpPr>
        <p:spPr>
          <a:xfrm>
            <a:off x="685800" y="5120640"/>
            <a:ext cx="10820095" cy="4572000"/>
          </a:xfrm>
          <a:prstGeom prst="rect">
            <a:avLst/>
          </a:prstGeom>
          <a:noFill/>
        </p:spPr>
        <p:txBody>
          <a:bodyPr wrap="square">
            <a:spAutoFit/>
          </a:bodyPr>
          <a:lstStyle/>
          <a:p>
            <a:pPr>
              <a:spcAft>
                <a:spcPts val="900"/>
              </a:spcAft>
            </a:pPr>
            <a:r>
              <a:rPr sz="1400" b="1" i="0">
                <a:solidFill>
                  <a:srgbClr val="1A1A1A"/>
                </a:solidFill>
                <a:latin typeface="Calibri"/>
              </a:rPr>
              <a:t>Customers here leave about three times as often as the break-even point, so contacting all of them makes money without any model involved. A perfect ranking would add roughly 1% on top. That is why the prediction result does not block this decision.</a:t>
            </a:r>
          </a:p>
        </p:txBody>
      </p:sp>
      <p:sp>
        <p:nvSpPr>
          <p:cNvPr id="11" name="TextBox 10"/>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The call cost and the 1-in-5 save rate are our assumptions rather than finance's, and should be replaced. We varied both widely and the treat-everyone conclusion held: break-even would have to rise past 31% to reverse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WHAT WE NEED</a:t>
            </a:r>
          </a:p>
          <a:p>
            <a:pPr>
              <a:spcBef>
                <a:spcPts val="400"/>
              </a:spcBef>
            </a:pPr>
            <a:r>
              <a:rPr sz="2800" b="1" i="0">
                <a:solidFill>
                  <a:srgbClr val="1A1A1A"/>
                </a:solidFill>
                <a:latin typeface="Calibri"/>
              </a:rPr>
              <a:t>Three data requests, and what each one unlocks</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700"/>
              </a:spcAft>
            </a:pPr>
            <a:r>
              <a:rPr sz="1500" b="1" i="0">
                <a:solidFill>
                  <a:srgbClr val="2E5F8A"/>
                </a:solidFill>
                <a:latin typeface="Calibri"/>
              </a:rPr>
              <a:t>To explain why churn is rising  (Question 1)</a:t>
            </a:r>
          </a:p>
          <a:p>
            <a:pPr lvl="1">
              <a:spcAft>
                <a:spcPts val="700"/>
              </a:spcAft>
            </a:pPr>
            <a:r>
              <a:rPr sz="1300" b="0" i="0">
                <a:solidFill>
                  <a:srgbClr val="5A6270"/>
                </a:solidFill>
                <a:latin typeface="Calibri"/>
              </a:rPr>
              <a:t>Give us anything that varies over time and could plausibly affect customers: price changes, release dates, outages, competitor moves. We can already establish the rise. This is what would let us attribute it.</a:t>
            </a:r>
          </a:p>
          <a:p>
            <a:pPr>
              <a:spcAft>
                <a:spcPts val="700"/>
              </a:spcAft>
            </a:pPr>
            <a:r>
              <a:rPr sz="600" b="0" i="0">
                <a:solidFill>
                  <a:srgbClr val="1A1A1A"/>
                </a:solidFill>
                <a:latin typeface="Calibri"/>
              </a:rPr>
              <a:t> </a:t>
            </a:r>
          </a:p>
          <a:p>
            <a:pPr>
              <a:spcAft>
                <a:spcPts val="700"/>
              </a:spcAft>
            </a:pPr>
            <a:r>
              <a:rPr sz="1500" b="1" i="0">
                <a:solidFill>
                  <a:srgbClr val="1A1A1A"/>
                </a:solidFill>
                <a:latin typeface="Calibri"/>
              </a:rPr>
              <a:t>To make prediction answerable  (Question 2)</a:t>
            </a:r>
          </a:p>
          <a:p>
            <a:pPr lvl="1">
              <a:spcAft>
                <a:spcPts val="700"/>
              </a:spcAft>
            </a:pPr>
            <a:r>
              <a:rPr sz="1300" b="0" i="0">
                <a:solidFill>
                  <a:srgbClr val="5A6270"/>
                </a:solidFill>
                <a:latin typeface="Calibri"/>
              </a:rPr>
              <a:t>Agree one definition of churn and apply it everywhere. The three definitions we currently have agree on about one account in five.</a:t>
            </a:r>
          </a:p>
          <a:p>
            <a:pPr lvl="1">
              <a:spcAft>
                <a:spcPts val="700"/>
              </a:spcAft>
            </a:pPr>
            <a:r>
              <a:rPr sz="1300" b="0" i="0">
                <a:solidFill>
                  <a:srgbClr val="5A6270"/>
                </a:solidFill>
                <a:latin typeface="Calibri"/>
              </a:rPr>
              <a:t>Fix the product usage timestamps. Roughly three-quarters of rows are dated before the subscription they belong to.</a:t>
            </a:r>
          </a:p>
          <a:p>
            <a:pPr lvl="1">
              <a:spcAft>
                <a:spcPts val="700"/>
              </a:spcAft>
            </a:pPr>
            <a:r>
              <a:rPr sz="1300" b="0" i="0">
                <a:solidFill>
                  <a:srgbClr val="5A6270"/>
                </a:solidFill>
                <a:latin typeface="Calibri"/>
              </a:rPr>
              <a:t>We would put this first, because it also unblocks the other two.</a:t>
            </a:r>
          </a:p>
          <a:p>
            <a:pPr>
              <a:spcAft>
                <a:spcPts val="700"/>
              </a:spcAft>
            </a:pPr>
            <a:r>
              <a:rPr sz="600" b="0" i="0">
                <a:solidFill>
                  <a:srgbClr val="1A1A1A"/>
                </a:solidFill>
                <a:latin typeface="Calibri"/>
              </a:rPr>
              <a:t> </a:t>
            </a:r>
          </a:p>
          <a:p>
            <a:pPr>
              <a:spcAft>
                <a:spcPts val="700"/>
              </a:spcAft>
            </a:pPr>
            <a:r>
              <a:rPr sz="1500" b="1" i="0">
                <a:solidFill>
                  <a:srgbClr val="1E7A4B"/>
                </a:solidFill>
                <a:latin typeface="Calibri"/>
              </a:rPr>
              <a:t>To learn which actions work  (Question 3)</a:t>
            </a:r>
          </a:p>
          <a:p>
            <a:pPr lvl="1">
              <a:spcAft>
                <a:spcPts val="700"/>
              </a:spcAft>
            </a:pPr>
            <a:r>
              <a:rPr sz="1300" b="0" i="0">
                <a:solidFill>
                  <a:srgbClr val="5A6270"/>
                </a:solidFill>
                <a:latin typeface="Calibri"/>
              </a:rPr>
              <a:t>Start logging every call, discount and campaign with a date and an account attached. Then run one deliberate trial where half the at-risk customers are contacted and half are not.</a:t>
            </a:r>
          </a:p>
          <a:p>
            <a:pPr lvl="1">
              <a:spcAft>
                <a:spcPts val="700"/>
              </a:spcAft>
            </a:pPr>
            <a:r>
              <a:rPr sz="1300" b="0" i="0">
                <a:solidFill>
                  <a:srgbClr val="5A6270"/>
                </a:solidFill>
                <a:latin typeface="Calibri"/>
              </a:rPr>
              <a:t>Worth setting expectations on what a trial of our size can settle: roughly halving churn would show up in about 15 months, while a 5-point improvement would take years.</a:t>
            </a:r>
          </a:p>
        </p:txBody>
      </p:sp>
      <p:sp>
        <p:nvSpPr>
          <p:cNvPr id="5" name="TextBox 4"/>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None of these is a modelling problem. All three are data collection, none of them is expensive, and none asks for a decision on tooling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