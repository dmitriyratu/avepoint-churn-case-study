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Give all three answers immediately, then spend one slide on each. Two of the three answers are negative and I say so on slide one rather than building up to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371600"/>
            <a:ext cx="10820095" cy="2011680"/>
          </a:xfrm>
          <a:prstGeom prst="rect">
            <a:avLst/>
          </a:prstGeom>
          <a:noFill/>
        </p:spPr>
        <p:txBody>
          <a:bodyPr wrap="square">
            <a:spAutoFit/>
          </a:bodyPr>
          <a:lstStyle/>
          <a:p>
            <a:r>
              <a:rPr sz="4000" b="1" i="0">
                <a:solidFill>
                  <a:srgbClr val="1A1A1A"/>
                </a:solidFill>
                <a:latin typeface="Calibri"/>
              </a:rPr>
              <a:t>Customer churn: what we found</a:t>
            </a:r>
          </a:p>
          <a:p>
            <a:pPr>
              <a:spcBef>
                <a:spcPts val="1200"/>
              </a:spcBef>
            </a:pPr>
            <a:r>
              <a:rPr sz="1700" b="0" i="0">
                <a:solidFill>
                  <a:srgbClr val="5A6270"/>
                </a:solidFill>
                <a:latin typeface="Calibri"/>
              </a:rPr>
              <a:t>Executive summary. You asked three questions. Here are the three answers.</a:t>
            </a:r>
          </a:p>
        </p:txBody>
      </p:sp>
      <p:sp>
        <p:nvSpPr>
          <p:cNvPr id="3" name="TextBox 2"/>
          <p:cNvSpPr txBox="1"/>
          <p:nvPr/>
        </p:nvSpPr>
        <p:spPr>
          <a:xfrm>
            <a:off x="685800" y="3200400"/>
            <a:ext cx="10820095" cy="4572000"/>
          </a:xfrm>
          <a:prstGeom prst="rect">
            <a:avLst/>
          </a:prstGeom>
          <a:noFill/>
        </p:spPr>
        <p:txBody>
          <a:bodyPr wrap="square">
            <a:spAutoFit/>
          </a:bodyPr>
          <a:lstStyle/>
          <a:p>
            <a:pPr>
              <a:spcAft>
                <a:spcPts val="700"/>
              </a:spcAft>
            </a:pPr>
            <a:r>
              <a:rPr sz="1600" b="1" i="0">
                <a:solidFill>
                  <a:srgbClr val="1A1A1A"/>
                </a:solidFill>
                <a:latin typeface="Calibri"/>
              </a:rPr>
              <a:t>Why are customers leaving?</a:t>
            </a:r>
          </a:p>
          <a:p>
            <a:pPr lvl="1">
              <a:spcAft>
                <a:spcPts val="700"/>
              </a:spcAft>
            </a:pPr>
            <a:r>
              <a:rPr sz="1400" b="0" i="0">
                <a:solidFill>
                  <a:srgbClr val="1A1A1A"/>
                </a:solidFill>
                <a:latin typeface="Calibri"/>
              </a:rPr>
              <a:t>Not because of who they are. Because of when. Churn has roughly quadrupled over two years, and it affects every kind of customer equally.</a:t>
            </a:r>
          </a:p>
          <a:p>
            <a:pPr>
              <a:spcAft>
                <a:spcPts val="700"/>
              </a:spcAft>
            </a:pPr>
            <a:r>
              <a:rPr sz="1600" b="1" i="0">
                <a:solidFill>
                  <a:srgbClr val="1A1A1A"/>
                </a:solidFill>
                <a:latin typeface="Calibri"/>
              </a:rPr>
              <a:t>Can we predict who will leave?</a:t>
            </a:r>
          </a:p>
          <a:p>
            <a:pPr lvl="1">
              <a:spcAft>
                <a:spcPts val="700"/>
              </a:spcAft>
            </a:pPr>
            <a:r>
              <a:rPr sz="1400" b="0" i="0">
                <a:solidFill>
                  <a:srgbClr val="B02E2E"/>
                </a:solidFill>
                <a:latin typeface="Calibri"/>
              </a:rPr>
              <a:t>No, and not with more modelling either. Two data problems have to be fixed first.</a:t>
            </a:r>
          </a:p>
          <a:p>
            <a:pPr>
              <a:spcAft>
                <a:spcPts val="700"/>
              </a:spcAft>
            </a:pPr>
            <a:r>
              <a:rPr sz="1600" b="1" i="0">
                <a:solidFill>
                  <a:srgbClr val="1A1A1A"/>
                </a:solidFill>
                <a:latin typeface="Calibri"/>
              </a:rPr>
              <a:t>What actions will improve retention?</a:t>
            </a:r>
          </a:p>
          <a:p>
            <a:pPr lvl="1">
              <a:spcAft>
                <a:spcPts val="700"/>
              </a:spcAft>
            </a:pPr>
            <a:r>
              <a:rPr sz="1400" b="0" i="0">
                <a:solidFill>
                  <a:srgbClr val="1E7A4B"/>
                </a:solidFill>
                <a:latin typeface="Calibri"/>
              </a:rPr>
              <a:t>Calling every at-risk customer already pays for itself today. Beyond that we cannot yet prove what works, because we have never recorded taking an action.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1</a:t>
            </a:r>
          </a:p>
          <a:p>
            <a:pPr>
              <a:spcBef>
                <a:spcPts val="400"/>
              </a:spcBef>
            </a:pPr>
            <a:r>
              <a:rPr sz="2800" b="1" i="0">
                <a:solidFill>
                  <a:srgbClr val="1A1A1A"/>
                </a:solidFill>
                <a:latin typeface="Calibri"/>
              </a:rPr>
              <a:t>Why are customers leaving?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2E5F8A"/>
                </a:solidFill>
                <a:latin typeface="Calibri"/>
              </a:rPr>
              <a:t>Not because of who they are. Because of when they were with us.</a:t>
            </a:r>
          </a:p>
        </p:txBody>
      </p:sp>
      <p:pic>
        <p:nvPicPr>
          <p:cNvPr id="5" name="Picture 4" descr="12_calendar_hazard.png"/>
          <p:cNvPicPr>
            <a:picLocks noChangeAspect="1"/>
          </p:cNvPicPr>
          <p:nvPr/>
        </p:nvPicPr>
        <p:blipFill>
          <a:blip r:embed="rId2"/>
          <a:stretch>
            <a:fillRect/>
          </a:stretch>
        </p:blipFill>
        <p:spPr>
          <a:xfrm>
            <a:off x="3023917" y="2331720"/>
            <a:ext cx="6143861" cy="2743200"/>
          </a:xfrm>
          <a:prstGeom prst="rect">
            <a:avLst/>
          </a:prstGeom>
        </p:spPr>
      </p:pic>
      <p:sp>
        <p:nvSpPr>
          <p:cNvPr id="6" name="TextBox 5"/>
          <p:cNvSpPr txBox="1"/>
          <p:nvPr/>
        </p:nvSpPr>
        <p:spPr>
          <a:xfrm>
            <a:off x="685800" y="5029200"/>
            <a:ext cx="10820095" cy="4572000"/>
          </a:xfrm>
          <a:prstGeom prst="rect">
            <a:avLst/>
          </a:prstGeom>
          <a:noFill/>
        </p:spPr>
        <p:txBody>
          <a:bodyPr wrap="square">
            <a:spAutoFit/>
          </a:bodyPr>
          <a:lstStyle/>
          <a:p>
            <a:pPr>
              <a:spcAft>
                <a:spcPts val="600"/>
              </a:spcAft>
            </a:pPr>
            <a:r>
              <a:rPr sz="1350" b="1" i="0">
                <a:solidFill>
                  <a:srgbClr val="1A1A1A"/>
                </a:solidFill>
                <a:latin typeface="Calibri"/>
              </a:rPr>
              <a:t>In 2023 about 5 in every 100 customers left each month. By December 2024 it was 22 in every 100. The customer base stayed the same size, so this is not a side effect of growth.</a:t>
            </a:r>
          </a:p>
          <a:p>
            <a:pPr>
              <a:spcAft>
                <a:spcPts val="600"/>
              </a:spcAft>
            </a:pPr>
            <a:r>
              <a:rPr sz="1350" b="0" i="0">
                <a:solidFill>
                  <a:srgbClr val="1A1A1A"/>
                </a:solidFill>
                <a:latin typeface="Calibri"/>
              </a:rPr>
              <a:t>We tested every customer characteristic we hold: industry, country, plan, company size, how they found us, product usage and support history. None of them separates the customers who leave from the ones who stay.</a:t>
            </a:r>
          </a:p>
          <a:p>
            <a:pPr>
              <a:spcAft>
                <a:spcPts val="600"/>
              </a:spcAft>
            </a:pPr>
            <a:r>
              <a:rPr sz="1350" b="0" i="0">
                <a:solidFill>
                  <a:srgbClr val="B02E2E"/>
                </a:solidFill>
                <a:latin typeface="Calibri"/>
              </a:rPr>
              <a:t>What we cannot yet say is why the rate rose. The data holds nothing that changes over time, so we can prove the increase is real but not name the cause. Slide 6 says what would fix that.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2</a:t>
            </a:r>
          </a:p>
          <a:p>
            <a:pPr>
              <a:spcBef>
                <a:spcPts val="400"/>
              </a:spcBef>
            </a:pPr>
            <a:r>
              <a:rPr sz="2800" b="1" i="0">
                <a:solidFill>
                  <a:srgbClr val="1A1A1A"/>
                </a:solidFill>
                <a:latin typeface="Calibri"/>
              </a:rPr>
              <a:t>Can we predict churn before it happens?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B02E2E"/>
                </a:solidFill>
                <a:latin typeface="Calibri"/>
              </a:rPr>
              <a:t>No. Not from this data, and not with a better algorithm.</a:t>
            </a:r>
          </a:p>
        </p:txBody>
      </p:sp>
      <p:sp>
        <p:nvSpPr>
          <p:cNvPr id="5" name="TextBox 4"/>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We tried three genuinely different approaches. All three performed about as well as flipping a coin.</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There is a second, harder problem underneath that.</a:t>
            </a:r>
          </a:p>
          <a:p>
            <a:pPr lvl="1">
              <a:spcAft>
                <a:spcPts val="900"/>
              </a:spcAft>
            </a:pPr>
            <a:r>
              <a:rPr sz="1400" b="0" i="0">
                <a:solidFill>
                  <a:srgbClr val="5A6270"/>
                </a:solidFill>
                <a:latin typeface="Calibri"/>
              </a:rPr>
              <a:t>Even the faint signal that does exist only appears in the days just before a customer leaves. If we ask the model for 30 days of warning, so somebody could actually act on it, performance drops to no better than guessing. A prediction that arrives too late to use is not useful.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 reasons are about data, not method.</a:t>
            </a:r>
          </a:p>
          <a:p>
            <a:pPr lvl="1">
              <a:spcAft>
                <a:spcPts val="900"/>
              </a:spcAft>
            </a:pPr>
            <a:r>
              <a:rPr sz="1400" b="0" i="0">
                <a:solidFill>
                  <a:srgbClr val="5A6270"/>
                </a:solidFill>
                <a:latin typeface="Calibri"/>
              </a:rPr>
              <a:t>Our records disagree about who has even churned. Three separate sources agree for only one customer in five.</a:t>
            </a:r>
          </a:p>
          <a:p>
            <a:pPr lvl="1">
              <a:spcAft>
                <a:spcPts val="900"/>
              </a:spcAft>
            </a:pPr>
            <a:r>
              <a:rPr sz="1400" b="0" i="0">
                <a:solidFill>
                  <a:srgbClr val="5A6270"/>
                </a:solidFill>
                <a:latin typeface="Calibri"/>
              </a:rPr>
              <a:t>Most product usage records are dated before the subscription they belong to, so anything built on recent activity is built on nonsense.</a:t>
            </a:r>
          </a:p>
          <a:p>
            <a:pPr lvl="1">
              <a:spcAft>
                <a:spcPts val="900"/>
              </a:spcAft>
            </a:pPr>
            <a:r>
              <a:rPr sz="1400" b="0" i="0">
                <a:solidFill>
                  <a:srgbClr val="5A6270"/>
                </a:solidFill>
                <a:latin typeface="Calibri"/>
              </a:rPr>
              <a:t>We only have 54 customers who left. That is far too few to learn from.</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What this means practically: do not buy or build a churn scoring product yet. Fix the two data problems, then measure again. That is one command once the data is clean.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QUESTION 3</a:t>
            </a:r>
          </a:p>
          <a:p>
            <a:pPr>
              <a:spcBef>
                <a:spcPts val="400"/>
              </a:spcBef>
            </a:pPr>
            <a:r>
              <a:rPr sz="2800" b="1" i="0">
                <a:solidFill>
                  <a:srgbClr val="1A1A1A"/>
                </a:solidFill>
                <a:latin typeface="Calibri"/>
              </a:rPr>
              <a:t>What actions will improve retention?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685800"/>
          </a:xfrm>
          <a:prstGeom prst="rect">
            <a:avLst/>
          </a:prstGeom>
          <a:noFill/>
        </p:spPr>
        <p:txBody>
          <a:bodyPr wrap="square">
            <a:spAutoFit/>
          </a:bodyPr>
          <a:lstStyle/>
          <a:p>
            <a:r>
              <a:rPr sz="2100" b="1" i="0">
                <a:solidFill>
                  <a:srgbClr val="1E7A4B"/>
                </a:solidFill>
                <a:latin typeface="Calibri"/>
              </a:rPr>
              <a:t>One action already pays for itself. Beyond that, we cannot yet prove what works.</a:t>
            </a:r>
          </a:p>
        </p:txBody>
      </p:sp>
      <p:sp>
        <p:nvSpPr>
          <p:cNvPr id="5" name="TextBox 4"/>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E7A4B"/>
                </a:solidFill>
                <a:latin typeface="Calibri"/>
              </a:rPr>
              <a:t>Do this now: call every at-risk customer, and do not rank them.</a:t>
            </a:r>
          </a:p>
          <a:p>
            <a:pPr lvl="1">
              <a:spcAft>
                <a:spcPts val="900"/>
              </a:spcAft>
            </a:pPr>
            <a:r>
              <a:rPr sz="1400" b="0" i="0">
                <a:solidFill>
                  <a:srgbClr val="5A6270"/>
                </a:solidFill>
                <a:latin typeface="Calibri"/>
              </a:rPr>
              <a:t>A call costs around $150. A customer is worth around $7,300. If one call in five succeeds, it pays for itself on any customer with more than a 10% chance of leaving. In this group 31% leave, so the maths is comfortable.</a:t>
            </a:r>
          </a:p>
          <a:p>
            <a:pPr lvl="1">
              <a:spcAft>
                <a:spcPts val="900"/>
              </a:spcAft>
            </a:pPr>
            <a:r>
              <a:rPr sz="1400" b="0" i="0">
                <a:solidFill>
                  <a:srgbClr val="5A6270"/>
                </a:solidFill>
                <a:latin typeface="Calibri"/>
              </a:rPr>
              <a:t>Calling everyone is profitable today, with no model needed. That is why the failed prediction work does not hold up the decision.</a:t>
            </a:r>
          </a:p>
          <a:p>
            <a:pPr>
              <a:spcAft>
                <a:spcPts val="900"/>
              </a:spcAft>
            </a:pPr>
            <a:r>
              <a:rPr sz="600" b="0" i="0">
                <a:solidFill>
                  <a:srgbClr val="1A1A1A"/>
                </a:solidFill>
                <a:latin typeface="Calibri"/>
              </a:rPr>
              <a:t> </a:t>
            </a:r>
          </a:p>
          <a:p>
            <a:pPr>
              <a:spcAft>
                <a:spcPts val="900"/>
              </a:spcAft>
            </a:pPr>
            <a:r>
              <a:rPr sz="1600" b="1" i="0">
                <a:solidFill>
                  <a:srgbClr val="B02E2E"/>
                </a:solidFill>
                <a:latin typeface="Calibri"/>
              </a:rPr>
              <a:t>Do not do this: the onboarding programme.</a:t>
            </a:r>
          </a:p>
          <a:p>
            <a:pPr lvl="1">
              <a:spcAft>
                <a:spcPts val="900"/>
              </a:spcAft>
            </a:pPr>
            <a:r>
              <a:rPr sz="1400" b="0" i="0">
                <a:solidFill>
                  <a:srgbClr val="5A6270"/>
                </a:solidFill>
                <a:latin typeface="Calibri"/>
              </a:rPr>
              <a:t>It looks like new customers are more fragile, which is the usual reason to invest here. The pattern is a trick of the numbers. Corrected, a customer of ten months is just as likely to leave as one of ten days.</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 limit on everything else we might try.</a:t>
            </a:r>
          </a:p>
          <a:p>
            <a:pPr lvl="1">
              <a:spcAft>
                <a:spcPts val="900"/>
              </a:spcAft>
            </a:pPr>
            <a:r>
              <a:rPr sz="1400" b="0" i="0">
                <a:solidFill>
                  <a:srgbClr val="5A6270"/>
                </a:solidFill>
                <a:latin typeface="Calibri"/>
              </a:rPr>
              <a:t>Nowhere in our data is there a record of a customer being called, offered a discount, or put into a campaign. With no record of what we did, there is no way to measure what worked. Every other retention idea is currently an opinion, including good ones.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first action rests on cost and value, which we know well. It does not rest on the model. To go further we need to log what we do and run one deliberate trial. Slide 6 covers both.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THE ECONOMICS</a:t>
            </a:r>
          </a:p>
          <a:p>
            <a:pPr>
              <a:spcBef>
                <a:spcPts val="400"/>
              </a:spcBef>
            </a:pPr>
            <a:r>
              <a:rPr sz="2800" b="1" i="0">
                <a:solidFill>
                  <a:srgbClr val="1A1A1A"/>
                </a:solidFill>
                <a:latin typeface="Calibri"/>
              </a:rPr>
              <a:t>Why calling everyone is the right call today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0240"/>
            <a:ext cx="2743200" cy="1371600"/>
          </a:xfrm>
          <a:prstGeom prst="rect">
            <a:avLst/>
          </a:prstGeom>
          <a:noFill/>
        </p:spPr>
        <p:txBody>
          <a:bodyPr wrap="square">
            <a:spAutoFit/>
          </a:bodyPr>
          <a:lstStyle/>
          <a:p>
            <a:r>
              <a:rPr sz="4000" b="1" i="0">
                <a:solidFill>
                  <a:srgbClr val="1A1A1A"/>
                </a:solidFill>
                <a:latin typeface="Calibri"/>
              </a:rPr>
              <a:t>$7,300</a:t>
            </a:r>
          </a:p>
          <a:p>
            <a:pPr>
              <a:spcBef>
                <a:spcPts val="200"/>
              </a:spcBef>
            </a:pPr>
            <a:r>
              <a:rPr sz="1300" b="0" i="0">
                <a:solidFill>
                  <a:srgbClr val="5A6270"/>
                </a:solidFill>
                <a:latin typeface="Calibri"/>
              </a:rPr>
              <a:t>What an average customer is worth to us</a:t>
            </a:r>
          </a:p>
        </p:txBody>
      </p:sp>
      <p:sp>
        <p:nvSpPr>
          <p:cNvPr id="5" name="TextBox 4"/>
          <p:cNvSpPr txBox="1"/>
          <p:nvPr/>
        </p:nvSpPr>
        <p:spPr>
          <a:xfrm>
            <a:off x="3931920" y="1920240"/>
            <a:ext cx="2743200" cy="1371600"/>
          </a:xfrm>
          <a:prstGeom prst="rect">
            <a:avLst/>
          </a:prstGeom>
          <a:noFill/>
        </p:spPr>
        <p:txBody>
          <a:bodyPr wrap="square">
            <a:spAutoFit/>
          </a:bodyPr>
          <a:lstStyle/>
          <a:p>
            <a:r>
              <a:rPr sz="4000" b="1" i="0">
                <a:solidFill>
                  <a:srgbClr val="1A1A1A"/>
                </a:solidFill>
                <a:latin typeface="Calibri"/>
              </a:rPr>
              <a:t>31%</a:t>
            </a:r>
          </a:p>
          <a:p>
            <a:pPr>
              <a:spcBef>
                <a:spcPts val="200"/>
              </a:spcBef>
            </a:pPr>
            <a:r>
              <a:rPr sz="1300" b="0" i="0">
                <a:solidFill>
                  <a:srgbClr val="5A6270"/>
                </a:solidFill>
                <a:latin typeface="Calibri"/>
              </a:rPr>
              <a:t>Of at-risk customers leave within 90 days</a:t>
            </a:r>
          </a:p>
        </p:txBody>
      </p:sp>
      <p:sp>
        <p:nvSpPr>
          <p:cNvPr id="6" name="TextBox 5"/>
          <p:cNvSpPr txBox="1"/>
          <p:nvPr/>
        </p:nvSpPr>
        <p:spPr>
          <a:xfrm>
            <a:off x="7223760" y="1920240"/>
            <a:ext cx="2743200" cy="1371600"/>
          </a:xfrm>
          <a:prstGeom prst="rect">
            <a:avLst/>
          </a:prstGeom>
          <a:noFill/>
        </p:spPr>
        <p:txBody>
          <a:bodyPr wrap="square">
            <a:spAutoFit/>
          </a:bodyPr>
          <a:lstStyle/>
          <a:p>
            <a:r>
              <a:rPr sz="4000" b="1" i="0">
                <a:solidFill>
                  <a:srgbClr val="1A1A1A"/>
                </a:solidFill>
                <a:latin typeface="Calibri"/>
              </a:rPr>
              <a:t>10%</a:t>
            </a:r>
          </a:p>
          <a:p>
            <a:pPr>
              <a:spcBef>
                <a:spcPts val="200"/>
              </a:spcBef>
            </a:pPr>
            <a:r>
              <a:rPr sz="1300" b="0" i="0">
                <a:solidFill>
                  <a:srgbClr val="5A6270"/>
                </a:solidFill>
                <a:latin typeface="Calibri"/>
              </a:rPr>
              <a:t>The break-even point for making a call</a:t>
            </a:r>
          </a:p>
        </p:txBody>
      </p:sp>
      <p:sp>
        <p:nvSpPr>
          <p:cNvPr id="7" name="TextBox 6"/>
          <p:cNvSpPr txBox="1"/>
          <p:nvPr/>
        </p:nvSpPr>
        <p:spPr>
          <a:xfrm>
            <a:off x="685800" y="3749039"/>
            <a:ext cx="2743200" cy="1371600"/>
          </a:xfrm>
          <a:prstGeom prst="rect">
            <a:avLst/>
          </a:prstGeom>
          <a:noFill/>
        </p:spPr>
        <p:txBody>
          <a:bodyPr wrap="square">
            <a:spAutoFit/>
          </a:bodyPr>
          <a:lstStyle/>
          <a:p>
            <a:r>
              <a:rPr sz="4000" b="1" i="0">
                <a:solidFill>
                  <a:srgbClr val="1E7A4B"/>
                </a:solidFill>
                <a:latin typeface="Calibri"/>
              </a:rPr>
              <a:t>$52,400</a:t>
            </a:r>
          </a:p>
          <a:p>
            <a:pPr>
              <a:spcBef>
                <a:spcPts val="200"/>
              </a:spcBef>
            </a:pPr>
            <a:r>
              <a:rPr sz="1300" b="0" i="0">
                <a:solidFill>
                  <a:srgbClr val="5A6270"/>
                </a:solidFill>
                <a:latin typeface="Calibri"/>
              </a:rPr>
              <a:t>Value of calling this group of 177 customers</a:t>
            </a:r>
          </a:p>
        </p:txBody>
      </p:sp>
      <p:sp>
        <p:nvSpPr>
          <p:cNvPr id="8" name="TextBox 7"/>
          <p:cNvSpPr txBox="1"/>
          <p:nvPr/>
        </p:nvSpPr>
        <p:spPr>
          <a:xfrm>
            <a:off x="3931920" y="3749039"/>
            <a:ext cx="2743200" cy="1371600"/>
          </a:xfrm>
          <a:prstGeom prst="rect">
            <a:avLst/>
          </a:prstGeom>
          <a:noFill/>
        </p:spPr>
        <p:txBody>
          <a:bodyPr wrap="square">
            <a:spAutoFit/>
          </a:bodyPr>
          <a:lstStyle/>
          <a:p>
            <a:r>
              <a:rPr sz="4000" b="1" i="0">
                <a:solidFill>
                  <a:srgbClr val="5A6270"/>
                </a:solidFill>
                <a:latin typeface="Calibri"/>
              </a:rPr>
              <a:t>1%</a:t>
            </a:r>
          </a:p>
          <a:p>
            <a:pPr>
              <a:spcBef>
                <a:spcPts val="200"/>
              </a:spcBef>
            </a:pPr>
            <a:r>
              <a:rPr sz="1300" b="0" i="0">
                <a:solidFill>
                  <a:srgbClr val="5A6270"/>
                </a:solidFill>
                <a:latin typeface="Calibri"/>
              </a:rPr>
              <a:t>Extra value a perfect ranking would add</a:t>
            </a:r>
          </a:p>
        </p:txBody>
      </p:sp>
      <p:sp>
        <p:nvSpPr>
          <p:cNvPr id="9" name="TextBox 8"/>
          <p:cNvSpPr txBox="1"/>
          <p:nvPr/>
        </p:nvSpPr>
        <p:spPr>
          <a:xfrm>
            <a:off x="7223760" y="3749039"/>
            <a:ext cx="2743200" cy="1371600"/>
          </a:xfrm>
          <a:prstGeom prst="rect">
            <a:avLst/>
          </a:prstGeom>
          <a:noFill/>
        </p:spPr>
        <p:txBody>
          <a:bodyPr wrap="square">
            <a:spAutoFit/>
          </a:bodyPr>
          <a:lstStyle/>
          <a:p>
            <a:r>
              <a:rPr sz="4000" b="1" i="0">
                <a:solidFill>
                  <a:srgbClr val="5A6270"/>
                </a:solidFill>
                <a:latin typeface="Calibri"/>
              </a:rPr>
              <a:t>15 months</a:t>
            </a:r>
          </a:p>
          <a:p>
            <a:pPr>
              <a:spcBef>
                <a:spcPts val="200"/>
              </a:spcBef>
            </a:pPr>
            <a:r>
              <a:rPr sz="1300" b="0" i="0">
                <a:solidFill>
                  <a:srgbClr val="5A6270"/>
                </a:solidFill>
                <a:latin typeface="Calibri"/>
              </a:rPr>
              <a:t>To prove a retention programme works</a:t>
            </a:r>
          </a:p>
        </p:txBody>
      </p:sp>
      <p:sp>
        <p:nvSpPr>
          <p:cNvPr id="10" name="TextBox 9"/>
          <p:cNvSpPr txBox="1"/>
          <p:nvPr/>
        </p:nvSpPr>
        <p:spPr>
          <a:xfrm>
            <a:off x="685800" y="5486400"/>
            <a:ext cx="10820095" cy="4572000"/>
          </a:xfrm>
          <a:prstGeom prst="rect">
            <a:avLst/>
          </a:prstGeom>
          <a:noFill/>
        </p:spPr>
        <p:txBody>
          <a:bodyPr wrap="square">
            <a:spAutoFit/>
          </a:bodyPr>
          <a:lstStyle/>
          <a:p>
            <a:pPr>
              <a:spcAft>
                <a:spcPts val="900"/>
              </a:spcAft>
            </a:pPr>
            <a:r>
              <a:rPr sz="1500" b="1" i="0">
                <a:solidFill>
                  <a:srgbClr val="1A1A1A"/>
                </a:solidFill>
                <a:latin typeface="Calibri"/>
              </a:rPr>
              <a:t>Customers leave three times more often than the break-even point, so contacting all of them makes money without any model involved. A perfect ranking would add about 1% on top. That is why the failed model does not block the decision.</a:t>
            </a:r>
          </a:p>
        </p:txBody>
      </p:sp>
      <p:sp>
        <p:nvSpPr>
          <p:cNvPr id="11" name="TextBox 10"/>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Cost and success rates are estimates and should be replaced with finance's figures. The conclusion holds across a wide range of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WHAT WE NEED</a:t>
            </a:r>
          </a:p>
          <a:p>
            <a:pPr>
              <a:spcBef>
                <a:spcPts val="400"/>
              </a:spcBef>
            </a:pPr>
            <a:r>
              <a:rPr sz="2800" b="1" i="0">
                <a:solidFill>
                  <a:srgbClr val="1A1A1A"/>
                </a:solidFill>
                <a:latin typeface="Calibri"/>
              </a:rPr>
              <a:t>Three data requests, and what each one unlocks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700"/>
              </a:spcAft>
            </a:pPr>
            <a:r>
              <a:rPr sz="1500" b="1" i="0">
                <a:solidFill>
                  <a:srgbClr val="2E5F8A"/>
                </a:solidFill>
                <a:latin typeface="Calibri"/>
              </a:rPr>
              <a:t>To explain why churn is rising  (Question 1)</a:t>
            </a:r>
          </a:p>
          <a:p>
            <a:pPr lvl="1">
              <a:spcAft>
                <a:spcPts val="700"/>
              </a:spcAft>
            </a:pPr>
            <a:r>
              <a:rPr sz="1300" b="0" i="0">
                <a:solidFill>
                  <a:srgbClr val="5A6270"/>
                </a:solidFill>
                <a:latin typeface="Calibri"/>
              </a:rPr>
              <a:t>Give us anything that changes over time and could affect customers: price changes, release dates, outages, competitor moves. We can already prove the rise is real. This would let us name the cause.</a:t>
            </a:r>
          </a:p>
          <a:p>
            <a:pPr>
              <a:spcAft>
                <a:spcPts val="700"/>
              </a:spcAft>
            </a:pPr>
            <a:r>
              <a:rPr sz="600" b="0" i="0">
                <a:solidFill>
                  <a:srgbClr val="1A1A1A"/>
                </a:solidFill>
                <a:latin typeface="Calibri"/>
              </a:rPr>
              <a:t> </a:t>
            </a:r>
          </a:p>
          <a:p>
            <a:pPr>
              <a:spcAft>
                <a:spcPts val="700"/>
              </a:spcAft>
            </a:pPr>
            <a:r>
              <a:rPr sz="1500" b="1" i="0">
                <a:solidFill>
                  <a:srgbClr val="1A1A1A"/>
                </a:solidFill>
                <a:latin typeface="Calibri"/>
              </a:rPr>
              <a:t>To make prediction possible  (Question 2)</a:t>
            </a:r>
          </a:p>
          <a:p>
            <a:pPr lvl="1">
              <a:spcAft>
                <a:spcPts val="700"/>
              </a:spcAft>
            </a:pPr>
            <a:r>
              <a:rPr sz="1300" b="0" i="0">
                <a:solidFill>
                  <a:srgbClr val="5A6270"/>
                </a:solidFill>
                <a:latin typeface="Calibri"/>
              </a:rPr>
              <a:t>Agree one definition of churn and apply it everywhere. Our three current sources agree for one customer in five.</a:t>
            </a:r>
          </a:p>
          <a:p>
            <a:pPr lvl="1">
              <a:spcAft>
                <a:spcPts val="700"/>
              </a:spcAft>
            </a:pPr>
            <a:r>
              <a:rPr sz="1300" b="0" i="0">
                <a:solidFill>
                  <a:srgbClr val="5A6270"/>
                </a:solidFill>
                <a:latin typeface="Calibri"/>
              </a:rPr>
              <a:t>Fix the product usage timestamps. Most records are dated before the subscription they belong to.</a:t>
            </a:r>
          </a:p>
          <a:p>
            <a:pPr lvl="1">
              <a:spcAft>
                <a:spcPts val="700"/>
              </a:spcAft>
            </a:pPr>
            <a:r>
              <a:rPr sz="1300" b="0" i="0">
                <a:solidFill>
                  <a:srgbClr val="5A6270"/>
                </a:solidFill>
                <a:latin typeface="Calibri"/>
              </a:rPr>
              <a:t>This is the highest-leverage item on the page, because it also unblocks the other two.</a:t>
            </a:r>
          </a:p>
          <a:p>
            <a:pPr>
              <a:spcAft>
                <a:spcPts val="700"/>
              </a:spcAft>
            </a:pPr>
            <a:r>
              <a:rPr sz="600" b="0" i="0">
                <a:solidFill>
                  <a:srgbClr val="1A1A1A"/>
                </a:solidFill>
                <a:latin typeface="Calibri"/>
              </a:rPr>
              <a:t> </a:t>
            </a:r>
          </a:p>
          <a:p>
            <a:pPr>
              <a:spcAft>
                <a:spcPts val="700"/>
              </a:spcAft>
            </a:pPr>
            <a:r>
              <a:rPr sz="1500" b="1" i="0">
                <a:solidFill>
                  <a:srgbClr val="1E7A4B"/>
                </a:solidFill>
                <a:latin typeface="Calibri"/>
              </a:rPr>
              <a:t>To learn which actions work  (Question 3)</a:t>
            </a:r>
          </a:p>
          <a:p>
            <a:pPr lvl="1">
              <a:spcAft>
                <a:spcPts val="700"/>
              </a:spcAft>
            </a:pPr>
            <a:r>
              <a:rPr sz="1300" b="0" i="0">
                <a:solidFill>
                  <a:srgbClr val="5A6270"/>
                </a:solidFill>
                <a:latin typeface="Calibri"/>
              </a:rPr>
              <a:t>Start logging every call, discount and campaign with a date and a customer attached. Then run one deliberate trial where half the at-risk customers are contacted and half are not.</a:t>
            </a:r>
          </a:p>
          <a:p>
            <a:pPr lvl="1">
              <a:spcAft>
                <a:spcPts val="700"/>
              </a:spcAft>
            </a:pPr>
            <a:r>
              <a:rPr sz="1300" b="0" i="0">
                <a:solidFill>
                  <a:srgbClr val="5A6270"/>
                </a:solidFill>
                <a:latin typeface="Calibri"/>
              </a:rPr>
              <a:t>Be aware we can only detect a large effect at our size. Roughly halving churn would show up in about 15 months. A smaller improvement would take years to prove.</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None of these is a modelling problem. All three are data collection, and none of them is expensive.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