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72" r:id="rId6"/>
    <p:sldId id="273" r:id="rId7"/>
    <p:sldId id="276" r:id="rId8"/>
    <p:sldId id="277" r:id="rId9"/>
    <p:sldId id="261" r:id="rId10"/>
    <p:sldId id="262" r:id="rId11"/>
    <p:sldId id="263" r:id="rId12"/>
    <p:sldId id="264" r:id="rId13"/>
    <p:sldId id="265" r:id="rId14"/>
    <p:sldId id="266" r:id="rId15"/>
    <p:sldId id="267" r:id="rId16"/>
    <p:sldId id="268" r:id="rId17"/>
    <p:sldId id="269" r:id="rId18"/>
    <p:sldId id="270" r:id="rId19"/>
    <p:sldId id="271"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106" dt="2026-07-29T12:13:55.3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382" autoAdjust="0"/>
  </p:normalViewPr>
  <p:slideViewPr>
    <p:cSldViewPr snapToGrid="0" snapToObjects="1">
      <p:cViewPr varScale="1">
        <p:scale>
          <a:sx n="159" d="100"/>
          <a:sy n="159" d="100"/>
        </p:scale>
        <p:origin x="330"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addSld delSld modSld">
      <pc:chgData name="Dmitriy Ratushny" userId="08050032e8047aee" providerId="LiveId" clId="{78EB1A6D-D3A9-4525-A4D5-A50D4E20D487}" dt="2026-07-29T12:18:14.207" v="2148" actId="21"/>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9T04:10:32.206" v="1621" actId="1076"/>
        <pc:sldMkLst>
          <pc:docMk/>
          <pc:sldMk cId="0" sldId="257"/>
        </pc:sldMkLst>
        <pc:spChg chg="mod">
          <ac:chgData name="Dmitriy Ratushny" userId="08050032e8047aee" providerId="LiveId" clId="{78EB1A6D-D3A9-4525-A4D5-A50D4E20D487}" dt="2026-07-29T03:10:07.367" v="1058" actId="21"/>
          <ac:spMkLst>
            <pc:docMk/>
            <pc:sldMk cId="0" sldId="257"/>
            <ac:spMk id="2" creationId="{00000000-0000-0000-0000-000000000000}"/>
          </ac:spMkLst>
        </pc:spChg>
        <pc:spChg chg="mod">
          <ac:chgData name="Dmitriy Ratushny" userId="08050032e8047aee" providerId="LiveId" clId="{78EB1A6D-D3A9-4525-A4D5-A50D4E20D487}" dt="2026-07-29T02:47:45.155" v="617" actId="1076"/>
          <ac:spMkLst>
            <pc:docMk/>
            <pc:sldMk cId="0" sldId="257"/>
            <ac:spMk id="3" creationId="{00000000-0000-0000-0000-000000000000}"/>
          </ac:spMkLst>
        </pc:spChg>
        <pc:spChg chg="mod">
          <ac:chgData name="Dmitriy Ratushny" userId="08050032e8047aee" providerId="LiveId" clId="{78EB1A6D-D3A9-4525-A4D5-A50D4E20D487}" dt="2026-07-29T04:10:28.776" v="1619" actId="1076"/>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9T04:10:32.206" v="1621" actId="1076"/>
          <ac:picMkLst>
            <pc:docMk/>
            <pc:sldMk cId="0" sldId="257"/>
            <ac:picMk id="5" creationId="{00000000-0000-0000-0000-000000000000}"/>
          </ac:picMkLst>
        </pc:picChg>
      </pc:sldChg>
      <pc:sldChg chg="addSp delSp modSp mod">
        <pc:chgData name="Dmitriy Ratushny" userId="08050032e8047aee" providerId="LiveId" clId="{78EB1A6D-D3A9-4525-A4D5-A50D4E20D487}" dt="2026-07-29T03:10:20.569" v="1059" actId="1076"/>
        <pc:sldMkLst>
          <pc:docMk/>
          <pc:sldMk cId="0" sldId="258"/>
        </pc:sldMkLst>
        <pc:spChg chg="mod">
          <ac:chgData name="Dmitriy Ratushny" userId="08050032e8047aee" providerId="LiveId" clId="{78EB1A6D-D3A9-4525-A4D5-A50D4E20D487}" dt="2026-07-29T03:03:49.359" v="801"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3:10:20.569" v="1059" actId="1076"/>
          <ac:spMkLst>
            <pc:docMk/>
            <pc:sldMk cId="0" sldId="258"/>
            <ac:spMk id="4" creationId="{00000000-0000-0000-0000-000000000000}"/>
          </ac:spMkLst>
        </pc:spChg>
        <pc:picChg chg="add del mod">
          <ac:chgData name="Dmitriy Ratushny" userId="08050032e8047aee" providerId="LiveId" clId="{78EB1A6D-D3A9-4525-A4D5-A50D4E20D487}" dt="2026-07-29T02:08:27.146" v="361" actId="478"/>
          <ac:picMkLst>
            <pc:docMk/>
            <pc:sldMk cId="0" sldId="258"/>
            <ac:picMk id="6" creationId="{E355C817-C75E-F7EE-C8D2-DD4E3A010816}"/>
          </ac:picMkLst>
        </pc:picChg>
        <pc:picChg chg="add del mod">
          <ac:chgData name="Dmitriy Ratushny" userId="08050032e8047aee" providerId="LiveId" clId="{78EB1A6D-D3A9-4525-A4D5-A50D4E20D487}" dt="2026-07-29T03:02:03.496" v="710" actId="478"/>
          <ac:picMkLst>
            <pc:docMk/>
            <pc:sldMk cId="0" sldId="258"/>
            <ac:picMk id="7" creationId="{D4F31BD9-B3BF-043E-1566-F360B51678E4}"/>
          </ac:picMkLst>
        </pc:picChg>
      </pc:sldChg>
      <pc:sldChg chg="addSp delSp modSp mod">
        <pc:chgData name="Dmitriy Ratushny" userId="08050032e8047aee" providerId="LiveId" clId="{78EB1A6D-D3A9-4525-A4D5-A50D4E20D487}" dt="2026-07-29T11:11:12.385" v="1638" actId="20577"/>
        <pc:sldMkLst>
          <pc:docMk/>
          <pc:sldMk cId="0" sldId="259"/>
        </pc:sldMkLst>
        <pc:spChg chg="mod">
          <ac:chgData name="Dmitriy Ratushny" userId="08050032e8047aee" providerId="LiveId" clId="{78EB1A6D-D3A9-4525-A4D5-A50D4E20D487}" dt="2026-07-29T03:09:55.301" v="1057" actId="21"/>
          <ac:spMkLst>
            <pc:docMk/>
            <pc:sldMk cId="0" sldId="259"/>
            <ac:spMk id="2" creationId="{00000000-0000-0000-0000-000000000000}"/>
          </ac:spMkLst>
        </pc:spChg>
        <pc:spChg chg="mod">
          <ac:chgData name="Dmitriy Ratushny" userId="08050032e8047aee" providerId="LiveId" clId="{78EB1A6D-D3A9-4525-A4D5-A50D4E20D487}" dt="2026-07-29T03:46:14.271" v="1481" actId="20577"/>
          <ac:spMkLst>
            <pc:docMk/>
            <pc:sldMk cId="0" sldId="259"/>
            <ac:spMk id="4" creationId="{00000000-0000-0000-0000-000000000000}"/>
          </ac:spMkLst>
        </pc:spChg>
        <pc:spChg chg="add del mod">
          <ac:chgData name="Dmitriy Ratushny" userId="08050032e8047aee" providerId="LiveId" clId="{78EB1A6D-D3A9-4525-A4D5-A50D4E20D487}" dt="2026-07-29T03:37:29.843" v="1111" actId="21"/>
          <ac:spMkLst>
            <pc:docMk/>
            <pc:sldMk cId="0" sldId="259"/>
            <ac:spMk id="8" creationId="{2FF164C1-78B3-A0BA-94F3-0349A08F30F4}"/>
          </ac:spMkLst>
        </pc:spChg>
        <pc:graphicFrameChg chg="add mod modGraphic">
          <ac:chgData name="Dmitriy Ratushny" userId="08050032e8047aee" providerId="LiveId" clId="{78EB1A6D-D3A9-4525-A4D5-A50D4E20D487}" dt="2026-07-29T11:11:12.385" v="1638" actId="20577"/>
          <ac:graphicFrameMkLst>
            <pc:docMk/>
            <pc:sldMk cId="0" sldId="259"/>
            <ac:graphicFrameMk id="9" creationId="{AC539327-68EC-BE64-46D2-74F957FFB0AC}"/>
          </ac:graphicFrameMkLst>
        </pc:graphicFrameChg>
        <pc:picChg chg="add mod">
          <ac:chgData name="Dmitriy Ratushny" userId="08050032e8047aee" providerId="LiveId" clId="{78EB1A6D-D3A9-4525-A4D5-A50D4E20D487}" dt="2026-07-29T03:36:22.485" v="1109" actId="1076"/>
          <ac:picMkLst>
            <pc:docMk/>
            <pc:sldMk cId="0" sldId="259"/>
            <ac:picMk id="6" creationId="{12AD3BC4-A210-DDC1-716F-E8B388A4C0BB}"/>
          </ac:picMkLst>
        </pc:picChg>
      </pc:sldChg>
      <pc:sldChg chg="modSp del mod">
        <pc:chgData name="Dmitriy Ratushny" userId="08050032e8047aee" providerId="LiveId" clId="{78EB1A6D-D3A9-4525-A4D5-A50D4E20D487}" dt="2026-07-29T12:06:42.299" v="1955" actId="47"/>
        <pc:sldMkLst>
          <pc:docMk/>
          <pc:sldMk cId="0" sldId="260"/>
        </pc:sldMkLst>
        <pc:picChg chg="mod">
          <ac:chgData name="Dmitriy Ratushny" userId="08050032e8047aee" providerId="LiveId" clId="{78EB1A6D-D3A9-4525-A4D5-A50D4E20D487}" dt="2026-07-29T03:42:52.582" v="1479" actId="1076"/>
          <ac:picMkLst>
            <pc:docMk/>
            <pc:sldMk cId="0" sldId="260"/>
            <ac:picMk id="4" creationId="{00000000-0000-0000-0000-000000000000}"/>
          </ac:picMkLst>
        </pc:picChg>
      </pc:sldChg>
      <pc:sldChg chg="modSp add del mod">
        <pc:chgData name="Dmitriy Ratushny" userId="08050032e8047aee" providerId="LiveId" clId="{78EB1A6D-D3A9-4525-A4D5-A50D4E20D487}" dt="2026-07-29T12:16:55.676" v="2147" actId="20577"/>
        <pc:sldMkLst>
          <pc:docMk/>
          <pc:sldMk cId="0" sldId="261"/>
        </pc:sldMkLst>
        <pc:spChg chg="mod">
          <ac:chgData name="Dmitriy Ratushny" userId="08050032e8047aee" providerId="LiveId" clId="{78EB1A6D-D3A9-4525-A4D5-A50D4E20D487}" dt="2026-07-29T12:16:55.676" v="2147" actId="20577"/>
          <ac:spMkLst>
            <pc:docMk/>
            <pc:sldMk cId="0" sldId="261"/>
            <ac:spMk id="5" creationId="{00000000-0000-0000-0000-000000000000}"/>
          </ac:spMkLst>
        </pc:spChg>
      </pc:sldChg>
      <pc:sldChg chg="modSp mod">
        <pc:chgData name="Dmitriy Ratushny" userId="08050032e8047aee" providerId="LiveId" clId="{78EB1A6D-D3A9-4525-A4D5-A50D4E20D487}" dt="2026-07-29T12:18:14.207" v="2148" actId="21"/>
        <pc:sldMkLst>
          <pc:docMk/>
          <pc:sldMk cId="0" sldId="262"/>
        </pc:sldMkLst>
        <pc:spChg chg="mod">
          <ac:chgData name="Dmitriy Ratushny" userId="08050032e8047aee" providerId="LiveId" clId="{78EB1A6D-D3A9-4525-A4D5-A50D4E20D487}" dt="2026-07-29T12:18:14.207" v="2148" actId="21"/>
          <ac:spMkLst>
            <pc:docMk/>
            <pc:sldMk cId="0" sldId="262"/>
            <ac:spMk id="2" creationId="{00000000-0000-0000-0000-000000000000}"/>
          </ac:spMkLst>
        </pc:spChg>
      </pc:sldChg>
      <pc:sldChg chg="addSp delSp modSp new mod">
        <pc:chgData name="Dmitriy Ratushny" userId="08050032e8047aee" providerId="LiveId" clId="{78EB1A6D-D3A9-4525-A4D5-A50D4E20D487}" dt="2026-07-29T11:26:45.518" v="1890" actId="20577"/>
        <pc:sldMkLst>
          <pc:docMk/>
          <pc:sldMk cId="727656364" sldId="272"/>
        </pc:sldMkLst>
        <pc:spChg chg="add mod">
          <ac:chgData name="Dmitriy Ratushny" userId="08050032e8047aee" providerId="LiveId" clId="{78EB1A6D-D3A9-4525-A4D5-A50D4E20D487}" dt="2026-07-29T11:26:45.518" v="1890" actId="20577"/>
          <ac:spMkLst>
            <pc:docMk/>
            <pc:sldMk cId="727656364" sldId="272"/>
            <ac:spMk id="3" creationId="{502800D6-974F-2F17-A52E-0A306D35DF0C}"/>
          </ac:spMkLst>
        </pc:spChg>
        <pc:spChg chg="add del">
          <ac:chgData name="Dmitriy Ratushny" userId="08050032e8047aee" providerId="LiveId" clId="{78EB1A6D-D3A9-4525-A4D5-A50D4E20D487}" dt="2026-07-29T04:32:12.401" v="1623" actId="22"/>
          <ac:spMkLst>
            <pc:docMk/>
            <pc:sldMk cId="727656364" sldId="272"/>
            <ac:spMk id="4" creationId="{ADD1133A-118A-E00D-C649-50786DE58214}"/>
          </ac:spMkLst>
        </pc:spChg>
        <pc:spChg chg="add">
          <ac:chgData name="Dmitriy Ratushny" userId="08050032e8047aee" providerId="LiveId" clId="{78EB1A6D-D3A9-4525-A4D5-A50D4E20D487}" dt="2026-07-29T03:53:25.069" v="1505" actId="22"/>
          <ac:spMkLst>
            <pc:docMk/>
            <pc:sldMk cId="727656364" sldId="272"/>
            <ac:spMk id="5" creationId="{CA970AC4-91F5-08BB-443D-4F894B789C96}"/>
          </ac:spMkLst>
        </pc:spChg>
        <pc:spChg chg="add">
          <ac:chgData name="Dmitriy Ratushny" userId="08050032e8047aee" providerId="LiveId" clId="{78EB1A6D-D3A9-4525-A4D5-A50D4E20D487}" dt="2026-07-29T03:53:25.069" v="1505" actId="22"/>
          <ac:spMkLst>
            <pc:docMk/>
            <pc:sldMk cId="727656364" sldId="272"/>
            <ac:spMk id="7" creationId="{9F1B9989-6A7C-C50E-2B6A-E012B6E3A475}"/>
          </ac:spMkLst>
        </pc:spChg>
      </pc:sldChg>
      <pc:sldChg chg="modSp add mod">
        <pc:chgData name="Dmitriy Ratushny" userId="08050032e8047aee" providerId="LiveId" clId="{78EB1A6D-D3A9-4525-A4D5-A50D4E20D487}" dt="2026-07-29T04:34:24.604" v="1631" actId="1076"/>
        <pc:sldMkLst>
          <pc:docMk/>
          <pc:sldMk cId="0" sldId="273"/>
        </pc:sldMkLst>
        <pc:spChg chg="mod">
          <ac:chgData name="Dmitriy Ratushny" userId="08050032e8047aee" providerId="LiveId" clId="{78EB1A6D-D3A9-4525-A4D5-A50D4E20D487}" dt="2026-07-29T04:34:16.235" v="1629"/>
          <ac:spMkLst>
            <pc:docMk/>
            <pc:sldMk cId="0" sldId="273"/>
            <ac:spMk id="2" creationId="{00000000-0000-0000-0000-000000000000}"/>
          </ac:spMkLst>
        </pc:spChg>
        <pc:spChg chg="mod">
          <ac:chgData name="Dmitriy Ratushny" userId="08050032e8047aee" providerId="LiveId" clId="{78EB1A6D-D3A9-4525-A4D5-A50D4E20D487}" dt="2026-07-29T04:34:21.479" v="1630" actId="1076"/>
          <ac:spMkLst>
            <pc:docMk/>
            <pc:sldMk cId="0" sldId="273"/>
            <ac:spMk id="3" creationId="{00000000-0000-0000-0000-000000000000}"/>
          </ac:spMkLst>
        </pc:spChg>
        <pc:picChg chg="mod">
          <ac:chgData name="Dmitriy Ratushny" userId="08050032e8047aee" providerId="LiveId" clId="{78EB1A6D-D3A9-4525-A4D5-A50D4E20D487}" dt="2026-07-29T04:34:24.604" v="1631" actId="1076"/>
          <ac:picMkLst>
            <pc:docMk/>
            <pc:sldMk cId="0" sldId="273"/>
            <ac:picMk id="4" creationId="{00000000-0000-0000-0000-000000000000}"/>
          </ac:picMkLst>
        </pc:picChg>
      </pc:sldChg>
      <pc:sldChg chg="add del">
        <pc:chgData name="Dmitriy Ratushny" userId="08050032e8047aee" providerId="LiveId" clId="{78EB1A6D-D3A9-4525-A4D5-A50D4E20D487}" dt="2026-07-29T12:01:40.979" v="1935" actId="47"/>
        <pc:sldMkLst>
          <pc:docMk/>
          <pc:sldMk cId="0" sldId="274"/>
        </pc:sldMkLst>
      </pc:sldChg>
      <pc:sldChg chg="modSp add del mod">
        <pc:chgData name="Dmitriy Ratushny" userId="08050032e8047aee" providerId="LiveId" clId="{78EB1A6D-D3A9-4525-A4D5-A50D4E20D487}" dt="2026-07-29T11:59:15.942" v="1933" actId="47"/>
        <pc:sldMkLst>
          <pc:docMk/>
          <pc:sldMk cId="0" sldId="275"/>
        </pc:sldMkLst>
        <pc:spChg chg="mod">
          <ac:chgData name="Dmitriy Ratushny" userId="08050032e8047aee" providerId="LiveId" clId="{78EB1A6D-D3A9-4525-A4D5-A50D4E20D487}" dt="2026-07-29T11:52:01.754" v="1927" actId="20577"/>
          <ac:spMkLst>
            <pc:docMk/>
            <pc:sldMk cId="0" sldId="275"/>
            <ac:spMk id="2" creationId="{00000000-0000-0000-0000-000000000000}"/>
          </ac:spMkLst>
        </pc:spChg>
      </pc:sldChg>
      <pc:sldChg chg="delSp modSp add del mod">
        <pc:chgData name="Dmitriy Ratushny" userId="08050032e8047aee" providerId="LiveId" clId="{78EB1A6D-D3A9-4525-A4D5-A50D4E20D487}" dt="2026-07-29T12:10:32.324" v="1976" actId="1076"/>
        <pc:sldMkLst>
          <pc:docMk/>
          <pc:sldMk cId="0" sldId="276"/>
        </pc:sldMkLst>
        <pc:spChg chg="del mod">
          <ac:chgData name="Dmitriy Ratushny" userId="08050032e8047aee" providerId="LiveId" clId="{78EB1A6D-D3A9-4525-A4D5-A50D4E20D487}" dt="2026-07-29T12:09:56.344" v="1959" actId="478"/>
          <ac:spMkLst>
            <pc:docMk/>
            <pc:sldMk cId="0" sldId="276"/>
            <ac:spMk id="5" creationId="{00000000-0000-0000-0000-000000000000}"/>
          </ac:spMkLst>
        </pc:spChg>
        <pc:spChg chg="mod">
          <ac:chgData name="Dmitriy Ratushny" userId="08050032e8047aee" providerId="LiveId" clId="{78EB1A6D-D3A9-4525-A4D5-A50D4E20D487}" dt="2026-07-29T12:10:18.255" v="1972" actId="1076"/>
          <ac:spMkLst>
            <pc:docMk/>
            <pc:sldMk cId="0" sldId="276"/>
            <ac:spMk id="6" creationId="{00000000-0000-0000-0000-000000000000}"/>
          </ac:spMkLst>
        </pc:spChg>
        <pc:picChg chg="mod">
          <ac:chgData name="Dmitriy Ratushny" userId="08050032e8047aee" providerId="LiveId" clId="{78EB1A6D-D3A9-4525-A4D5-A50D4E20D487}" dt="2026-07-29T12:10:32.324" v="1976" actId="1076"/>
          <ac:picMkLst>
            <pc:docMk/>
            <pc:sldMk cId="0" sldId="276"/>
            <ac:picMk id="4" creationId="{00000000-0000-0000-0000-000000000000}"/>
          </ac:picMkLst>
        </pc:picChg>
      </pc:sldChg>
      <pc:sldChg chg="addSp delSp modSp add mod">
        <pc:chgData name="Dmitriy Ratushny" userId="08050032e8047aee" providerId="LiveId" clId="{78EB1A6D-D3A9-4525-A4D5-A50D4E20D487}" dt="2026-07-29T12:14:43.485" v="2145" actId="20577"/>
        <pc:sldMkLst>
          <pc:docMk/>
          <pc:sldMk cId="0" sldId="277"/>
        </pc:sldMkLst>
        <pc:spChg chg="del mod">
          <ac:chgData name="Dmitriy Ratushny" userId="08050032e8047aee" providerId="LiveId" clId="{78EB1A6D-D3A9-4525-A4D5-A50D4E20D487}" dt="2026-07-29T12:11:08.206" v="1977" actId="478"/>
          <ac:spMkLst>
            <pc:docMk/>
            <pc:sldMk cId="0" sldId="277"/>
            <ac:spMk id="5" creationId="{00000000-0000-0000-0000-000000000000}"/>
          </ac:spMkLst>
        </pc:spChg>
        <pc:spChg chg="add mod">
          <ac:chgData name="Dmitriy Ratushny" userId="08050032e8047aee" providerId="LiveId" clId="{78EB1A6D-D3A9-4525-A4D5-A50D4E20D487}" dt="2026-07-29T12:14:43.485" v="2145" actId="20577"/>
          <ac:spMkLst>
            <pc:docMk/>
            <pc:sldMk cId="0" sldId="277"/>
            <ac:spMk id="8" creationId="{03FA6BE2-C20B-E0BF-644E-23535214989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slide to open with if anyone asks what the data looks like.</a:t>
            </a:r>
          </a:p>
          <a:p>
            <a:endParaRPr/>
          </a:p>
          <a:p>
            <a:r>
              <a:t>Read the arrows, not the boxes. Referential integrity is perfect: every subscription_id in feature_usage resolves, every account_id in support_tickets and churn_events resolves, and no contract predates its account. A schema check passes cleanly, which is why a cleaning pipeline does not catch this — and the other published analysis of this dataset ran one and reported nothing.</a:t>
            </a:r>
          </a:p>
          <a:p>
            <a:endParaRPr/>
          </a:p>
          <a:p>
            <a:r>
              <a:t>What fails is temporal integrity, and nothing in a data dictionary tests it. 13,198 of 25,000 usage rows and 1,077 of 2,000 tickets are dated before their customer signed up. Correlation between event date and signup date is 0.002 and 0.016. Every behavioural feature in the model is built from those two tables.</a:t>
            </a:r>
          </a:p>
          <a:p>
            <a:endParaRPr/>
          </a:p>
          <a:p>
            <a:r>
              <a:t>The left column of the read-out is every check a reviewer would ask for. The right column is why passing them settles nothing.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conventional univariate pass, in the conventional order: distributions, then categorical frequencies, then missingness. Every panel names the table and column it came from.</a:t>
            </a:r>
          </a:p>
          <a:p>
            <a:endParaRPr/>
          </a:p>
          <a:p>
            <a:r>
              <a:t>What to point at. Spend and seats look like real billing data — right-skewed, long tail, median $931 and 15 seats. Tickets and usage do not: tickets run 1 to 11 with a median of 4, usage 10 to 101 with a median of 50. No power law, no heavy users, no dormant accounts. That shape is a per-customer draw, not behaviour.</a:t>
            </a:r>
          </a:p>
          <a:p>
            <a:endParaRPr/>
          </a:p>
          <a:p>
            <a:r>
              <a:t>The dashed line on each categorical is what an even split would be. Plan, industry and referral source sit near it, which is unremarkable on 500 customers. Ticket priority and churn reason sit on it exactly, and those are the two that should not — urgent tickets are rare in every support organisation, and churn reasons always have a dominant category.</a:t>
            </a:r>
          </a:p>
          <a:p>
            <a:endParaRPr/>
          </a:p>
          <a:p>
            <a:r>
              <a:t>Missingness: only three columns have any. end_date is missing for 90% because contracts never end. satisfaction_score is missing for 41% and takes only 3, 4 and 5 when present, so both the value and its absence are degenerate. Nothing is imputed — a missing satisfaction score means the ticket was not rated, which is information, and filling it would invent a rating.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Replaces the three bar charts. Bars of churn rate invited exactly the comparison the slide argues against — a viewer saw Cybersecurity at 0.09 against DevTools at 0.41 and read a threefold effect, when it is two churners out of twenty-three.</a:t>
            </a:r>
          </a:p>
          <a:p>
            <a:endParaRPr/>
          </a:p>
          <a:p>
            <a:r>
              <a:t>Volunteer Cybersecurity rather than waiting to be asked. Producing the one result that looks significant, and showing it is what 22 comparisons produce on their own, is the same move as the generator null later in the deck.</a:t>
            </a:r>
          </a:p>
          <a:p>
            <a:endParaRPr/>
          </a:p>
          <a:p>
            <a:r>
              <a:t>IF ASKED HOW THE LINES ARE CALCULATED. They are Wilson intervals. The question they answer is 'which true churn rates could have produced what I saw'. For Cybersecurity we saw 2 of 23. A true rate of 5% produces that easily, 25% produces it occasionally, 45% almost never — so the line runs 2% to 27%.</a:t>
            </a:r>
          </a:p>
          <a:p>
            <a:endParaRPr/>
          </a:p>
          <a:p>
            <a:r>
              <a:t>The textbook version is p +/- 2 x sqrt(p(1-p)/n), and it breaks here: for Cybersecurity it returns -3% to 21%, a negative churn rate, and for Canada with 0 of 6 it returns 0% to 0%, claiming certainty from six customers. Wilson is the same idea done properly and cannot leave the 0 to 1 range. Standard choice at these group sizes.</a:t>
            </a:r>
          </a:p>
          <a:p>
            <a:endParaRPr/>
          </a:p>
          <a:p>
            <a:r>
              <a:t>Width is driven by n under a square root, so quadrupling the group halves the line: CA at n=6 spans +/-0.20, Cybersecurity at n=23 +/-0.12, the US at n=100 +/-0.09.</a:t>
            </a:r>
          </a:p>
          <a:p>
            <a:endParaRPr/>
          </a:p>
          <a:p>
            <a:r>
              <a:t>Chi-square p-values: industry 0.079, referral 0.086, plan 0.837, country 0.428, trial 0.548. The figure is built by build/fig_segment_forest.py.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The business problem</a:t>
            </a:r>
          </a:p>
        </p:txBody>
      </p:sp>
      <p:sp>
        <p:nvSpPr>
          <p:cNvPr id="3" name="Rectangle 2"/>
          <p:cNvSpPr/>
          <p:nvPr/>
        </p:nvSpPr>
        <p:spPr>
          <a:xfrm>
            <a:off x="685800" y="12105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210564"/>
            <a:ext cx="10820095" cy="5555367"/>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That gives 648 customer-dates, 281 distinct customers, and 159 leavers - 24.5%. The rate per cutoff runs 17% to 31%</a:t>
            </a:r>
          </a:p>
          <a:p>
            <a:pPr marL="685800" lvl="1" indent="-228600" algn="just">
              <a:spcAft>
                <a:spcPts val="600"/>
              </a:spcAft>
              <a:buFont typeface="+mj-lt"/>
              <a:buAutoNum type="arabicPeriod"/>
            </a:pPr>
            <a:r>
              <a:rPr lang="en-US" sz="1200" dirty="0">
                <a:solidFill>
                  <a:srgbClr val="5A6270"/>
                </a:solidFill>
              </a:rPr>
              <a:t>The label comes from </a:t>
            </a:r>
            <a:r>
              <a:rPr lang="en-US" sz="1200" b="1" dirty="0" err="1">
                <a:solidFill>
                  <a:schemeClr val="tx2"/>
                </a:solidFill>
              </a:rPr>
              <a:t>churn_events</a:t>
            </a:r>
            <a:r>
              <a:rPr lang="en-US" sz="1200" dirty="0">
                <a:solidFill>
                  <a:srgbClr val="5A6270"/>
                </a:solidFill>
              </a:rPr>
              <a:t>: an eligible account is positive if its earliest </a:t>
            </a:r>
            <a:r>
              <a:rPr lang="en-US" sz="1200" b="1" dirty="0" err="1">
                <a:solidFill>
                  <a:schemeClr val="tx2"/>
                </a:solidFill>
              </a:rPr>
              <a:t>churn_events.churn_date</a:t>
            </a:r>
            <a:r>
              <a:rPr lang="en-US" sz="1200" dirty="0">
                <a:solidFill>
                  <a:srgbClr val="5A6270"/>
                </a:solidFill>
              </a:rPr>
              <a:t> falls within the 90 days from the cutoff. Everything else is negative. </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1357228" y="4214707"/>
            <a:ext cx="7427274" cy="16763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7856" y="293881"/>
            <a:ext cx="10820095" cy="1051560"/>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9748" y="1586167"/>
            <a:ext cx="11277599" cy="4231928"/>
          </a:xfrm>
          <a:prstGeom prst="rect">
            <a:avLst/>
          </a:prstGeom>
          <a:noFill/>
        </p:spPr>
        <p:txBody>
          <a:bodyPr wrap="square">
            <a:spAutoFit/>
          </a:bodyPr>
          <a:lstStyle/>
          <a:p>
            <a:pPr algn="just">
              <a:spcAft>
                <a:spcPts val="900"/>
              </a:spcAft>
            </a:pPr>
            <a:r>
              <a:rPr sz="2000" b="1" i="0" dirty="0">
                <a:solidFill>
                  <a:srgbClr val="1A1A1A"/>
                </a:solidFill>
                <a:latin typeface="Calibri"/>
              </a:rPr>
              <a:t>For the model</a:t>
            </a:r>
            <a:r>
              <a:rPr lang="en-US" sz="2000" b="1" dirty="0">
                <a:solidFill>
                  <a:srgbClr val="1A1A1A"/>
                </a:solidFill>
              </a:rPr>
              <a:t> - </a:t>
            </a:r>
            <a:r>
              <a:rPr lang="en-US" sz="2000" dirty="0">
                <a:solidFill>
                  <a:srgbClr val="1A1A1A"/>
                </a:solidFill>
              </a:rPr>
              <a:t>measured in this work</a:t>
            </a:r>
            <a:endParaRPr sz="2000" i="0" dirty="0">
              <a:solidFill>
                <a:srgbClr val="1A1A1A"/>
              </a:solidFill>
              <a:latin typeface="Calibri"/>
            </a:endParaRP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a:t>
            </a:r>
            <a:r>
              <a:rPr lang="en-US" sz="1400" b="0" i="0" dirty="0">
                <a:solidFill>
                  <a:srgbClr val="5A6270"/>
                </a:solidFill>
                <a:latin typeface="Calibri"/>
              </a:rPr>
              <a:t>.</a:t>
            </a:r>
            <a:endParaRPr sz="1400" b="0" i="0" dirty="0">
              <a:solidFill>
                <a:srgbClr val="5A6270"/>
              </a:solidFill>
              <a:latin typeface="Calibri"/>
            </a:endParaRPr>
          </a:p>
          <a:p>
            <a:pPr marL="800100" lvl="1" indent="-342900" algn="just">
              <a:spcAft>
                <a:spcPts val="900"/>
              </a:spcAft>
              <a:buFont typeface="+mj-lt"/>
              <a:buAutoNum type="arabicPeriod"/>
            </a:pPr>
            <a:r>
              <a:rPr lang="en-US" sz="1400" dirty="0">
                <a:solidFill>
                  <a:srgbClr val="5A6270"/>
                </a:solidFill>
              </a:rPr>
              <a:t>Precision and recall, because they say what the CS team experiences working the list.</a:t>
            </a: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lang="en-US" sz="2000" b="1" dirty="0">
                <a:solidFill>
                  <a:srgbClr val="1A1A1A"/>
                </a:solidFill>
                <a:latin typeface="+mj-lt"/>
              </a:rPr>
              <a:t> For the business — </a:t>
            </a:r>
            <a:r>
              <a:rPr lang="en-US" sz="2000" dirty="0">
                <a:solidFill>
                  <a:srgbClr val="1A1A1A"/>
                </a:solidFill>
                <a:latin typeface="+mj-lt"/>
              </a:rPr>
              <a:t>these metrics are proposed, none are measurable from the data we are provided</a:t>
            </a:r>
          </a:p>
          <a:p>
            <a:pPr marL="800100" lvl="1" indent="-342900" algn="just">
              <a:spcAft>
                <a:spcPts val="900"/>
              </a:spcAft>
              <a:buFont typeface="+mj-lt"/>
              <a:buAutoNum type="arabicPeriod"/>
            </a:pPr>
            <a:r>
              <a:rPr lang="en-US" sz="1400" dirty="0">
                <a:solidFill>
                  <a:srgbClr val="5A6270"/>
                </a:solidFill>
              </a:rPr>
              <a:t>Retention at 180 days, customers we called against a half we deliberately didn’t.</a:t>
            </a:r>
          </a:p>
          <a:p>
            <a:pPr marL="800100" lvl="1" indent="-342900" algn="just">
              <a:spcAft>
                <a:spcPts val="900"/>
              </a:spcAft>
              <a:buFont typeface="+mj-lt"/>
              <a:buAutoNum type="arabicPeriod"/>
            </a:pPr>
            <a:r>
              <a:rPr lang="en-US" sz="1400" dirty="0">
                <a:solidFill>
                  <a:srgbClr val="5A6270"/>
                </a:solidFill>
              </a:rPr>
              <a:t>Net revenue retention, so a customer kept with a big discount counts for what they are still worth.</a:t>
            </a:r>
          </a:p>
          <a:p>
            <a:pPr marL="800100" lvl="1" indent="-342900" algn="just">
              <a:spcAft>
                <a:spcPts val="900"/>
              </a:spcAft>
              <a:buFont typeface="+mj-lt"/>
              <a:buAutoNum type="arabicPeriod"/>
            </a:pPr>
            <a:r>
              <a:rPr lang="en-US" sz="1400" dirty="0">
                <a:solidFill>
                  <a:srgbClr val="5A6270"/>
                </a:solidFill>
              </a:rPr>
              <a:t>Incremental revenue over simply calling everyone.</a:t>
            </a:r>
          </a:p>
          <a:p>
            <a:pPr algn="just">
              <a:spcAft>
                <a:spcPts val="900"/>
              </a:spcAft>
            </a:pPr>
            <a:br>
              <a:rPr lang="en-US" sz="2000" b="1" dirty="0">
                <a:solidFill>
                  <a:srgbClr val="1A1A1A"/>
                </a:solidFill>
              </a:rPr>
            </a:br>
            <a:r>
              <a:rPr lang="en-US" sz="2000" b="1" dirty="0">
                <a:solidFill>
                  <a:srgbClr val="1A1A1A"/>
                </a:solidFill>
              </a:rPr>
              <a:t>Limits I set before starting:</a:t>
            </a:r>
            <a:endParaRPr lang="en-US" sz="2000" dirty="0">
              <a:solidFill>
                <a:srgbClr val="1A1A1A"/>
              </a:solidFill>
            </a:endParaRPr>
          </a:p>
          <a:p>
            <a:pPr marL="800100" lvl="1" indent="-342900" algn="just">
              <a:spcAft>
                <a:spcPts val="900"/>
              </a:spcAft>
              <a:buFont typeface="+mj-lt"/>
              <a:buAutoNum type="arabicPeriod"/>
            </a:pPr>
            <a:r>
              <a:rPr lang="en-US" sz="1400" dirty="0">
                <a:solidFill>
                  <a:srgbClr val="5A6270"/>
                </a:solidFill>
              </a:rPr>
              <a:t>The model must beat guessing at the bottom of its range, not just on average. It also has to beat simply calling every customer. </a:t>
            </a:r>
          </a:p>
          <a:p>
            <a:pPr marL="800100" lvl="1" indent="-342900" algn="just">
              <a:spcAft>
                <a:spcPts val="900"/>
              </a:spcAft>
              <a:buFont typeface="+mj-lt"/>
              <a:buAutoNum type="arabicPeriod"/>
            </a:pPr>
            <a:r>
              <a:rPr lang="en-US" sz="1400" dirty="0">
                <a:solidFill>
                  <a:srgbClr val="5A6270"/>
                </a:solidFill>
              </a:rPr>
              <a:t>Scores would determine what the intervention would look like.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7645" y="1578846"/>
            <a:ext cx="5390147" cy="2162130"/>
          </a:xfrm>
          <a:prstGeom prst="rect">
            <a:avLst/>
          </a:prstGeom>
          <a:noFill/>
        </p:spPr>
        <p:txBody>
          <a:bodyPr wrap="square">
            <a:spAutoFit/>
          </a:bodyPr>
          <a:lstStyle/>
          <a:p>
            <a:pPr algn="just">
              <a:spcAft>
                <a:spcPts val="500"/>
              </a:spcAft>
            </a:pPr>
            <a:r>
              <a:rPr sz="1400" b="1" i="0" dirty="0">
                <a:solidFill>
                  <a:srgbClr val="B02E2E"/>
                </a:solidFill>
                <a:latin typeface="Calibri"/>
              </a:rPr>
              <a:t>Two of the five tables are not joined to their customers in time.</a:t>
            </a:r>
          </a:p>
          <a:p>
            <a:pPr marL="685800" lvl="1" indent="-228600" algn="just">
              <a:spcAft>
                <a:spcPts val="500"/>
              </a:spcAft>
              <a:buFont typeface="+mj-lt"/>
              <a:buAutoNum type="arabicPeriod"/>
            </a:pPr>
            <a:r>
              <a:rPr lang="en-US" sz="1200" dirty="0">
                <a:solidFill>
                  <a:srgbClr val="5A6270"/>
                </a:solidFill>
              </a:rPr>
              <a:t>Usage and support events are not attached to the customers they belong to. Plotted against signup date they form a square cloud, where real data would be a band above the line. Just over half of all usage rows and support tickets are dated before the customer existed. </a:t>
            </a:r>
          </a:p>
          <a:p>
            <a:pPr marL="685800" lvl="1" indent="-228600" algn="just">
              <a:spcAft>
                <a:spcPts val="500"/>
              </a:spcAft>
              <a:buFont typeface="+mj-lt"/>
              <a:buAutoNum type="arabicPeriod"/>
            </a:pPr>
            <a:r>
              <a:rPr sz="1200" b="0" i="0" dirty="0">
                <a:solidFill>
                  <a:srgbClr val="5A6270"/>
                </a:solidFill>
                <a:latin typeface="Calibri"/>
              </a:rPr>
              <a:t>Nothing links inside those tables either. Ticket priority does not predict how fast we answered. Plan tier does not predict how much people used.</a:t>
            </a:r>
          </a:p>
          <a:p>
            <a:pPr marL="685800" lvl="1" indent="-228600" algn="just">
              <a:spcAft>
                <a:spcPts val="500"/>
              </a:spcAft>
              <a:buFont typeface="+mj-lt"/>
              <a:buAutoNum type="arabicPeriod"/>
            </a:pPr>
            <a:r>
              <a:rPr sz="1200" b="0" i="0" dirty="0">
                <a:solidFill>
                  <a:srgbClr val="5A6270"/>
                </a:solidFill>
                <a:latin typeface="Calibri"/>
              </a:rPr>
              <a:t>There are three ways to say a customer churned. All three agree for only 20% of customers.</a:t>
            </a:r>
          </a:p>
        </p:txBody>
      </p:sp>
      <p:pic>
        <p:nvPicPr>
          <p:cNvPr id="6" name="Picture 5">
            <a:extLst>
              <a:ext uri="{FF2B5EF4-FFF2-40B4-BE49-F238E27FC236}">
                <a16:creationId xmlns:a16="http://schemas.microsoft.com/office/drawing/2014/main" id="{12AD3BC4-A210-DDC1-716F-E8B388A4C0BB}"/>
              </a:ext>
            </a:extLst>
          </p:cNvPr>
          <p:cNvPicPr>
            <a:picLocks noChangeAspect="1"/>
          </p:cNvPicPr>
          <p:nvPr/>
        </p:nvPicPr>
        <p:blipFill>
          <a:blip r:embed="rId2"/>
          <a:stretch>
            <a:fillRect/>
          </a:stretch>
        </p:blipFill>
        <p:spPr>
          <a:xfrm>
            <a:off x="5976017" y="1660202"/>
            <a:ext cx="5888338" cy="2473205"/>
          </a:xfrm>
          <a:prstGeom prst="rect">
            <a:avLst/>
          </a:prstGeom>
        </p:spPr>
      </p:pic>
      <p:graphicFrame>
        <p:nvGraphicFramePr>
          <p:cNvPr id="9" name="Table 8">
            <a:extLst>
              <a:ext uri="{FF2B5EF4-FFF2-40B4-BE49-F238E27FC236}">
                <a16:creationId xmlns:a16="http://schemas.microsoft.com/office/drawing/2014/main" id="{AC539327-68EC-BE64-46D2-74F957FFB0AC}"/>
              </a:ext>
            </a:extLst>
          </p:cNvPr>
          <p:cNvGraphicFramePr>
            <a:graphicFrameLocks noGrp="1"/>
          </p:cNvGraphicFramePr>
          <p:nvPr>
            <p:extLst>
              <p:ext uri="{D42A27DB-BD31-4B8C-83A1-F6EECF244321}">
                <p14:modId xmlns:p14="http://schemas.microsoft.com/office/powerpoint/2010/main" val="3112051045"/>
              </p:ext>
            </p:extLst>
          </p:nvPr>
        </p:nvGraphicFramePr>
        <p:xfrm>
          <a:off x="144379" y="4319016"/>
          <a:ext cx="11833058" cy="2225040"/>
        </p:xfrm>
        <a:graphic>
          <a:graphicData uri="http://schemas.openxmlformats.org/drawingml/2006/table">
            <a:tbl>
              <a:tblPr firstRow="1" bandRow="1">
                <a:tableStyleId>{5940675A-B579-460E-94D1-54222C63F5DA}</a:tableStyleId>
              </a:tblPr>
              <a:tblGrid>
                <a:gridCol w="1534026">
                  <a:extLst>
                    <a:ext uri="{9D8B030D-6E8A-4147-A177-3AD203B41FA5}">
                      <a16:colId xmlns:a16="http://schemas.microsoft.com/office/drawing/2014/main" val="110780927"/>
                    </a:ext>
                  </a:extLst>
                </a:gridCol>
                <a:gridCol w="2424363">
                  <a:extLst>
                    <a:ext uri="{9D8B030D-6E8A-4147-A177-3AD203B41FA5}">
                      <a16:colId xmlns:a16="http://schemas.microsoft.com/office/drawing/2014/main" val="2373065068"/>
                    </a:ext>
                  </a:extLst>
                </a:gridCol>
                <a:gridCol w="7874669">
                  <a:extLst>
                    <a:ext uri="{9D8B030D-6E8A-4147-A177-3AD203B41FA5}">
                      <a16:colId xmlns:a16="http://schemas.microsoft.com/office/drawing/2014/main" val="1041026438"/>
                    </a:ext>
                  </a:extLst>
                </a:gridCol>
              </a:tblGrid>
              <a:tr h="370840">
                <a:tc>
                  <a:txBody>
                    <a:bodyPr/>
                    <a:lstStyle/>
                    <a:p>
                      <a:r>
                        <a:rPr lang="en-US" b="1" dirty="0"/>
                        <a:t>Table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Verdict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Why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3705390"/>
                  </a:ext>
                </a:extLst>
              </a:tr>
              <a:tr h="370840">
                <a:tc>
                  <a:txBody>
                    <a:bodyPr/>
                    <a:lstStyle/>
                    <a:p>
                      <a:r>
                        <a:rPr lang="en-US" sz="1400" dirty="0"/>
                        <a:t>accounts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Signup date is consistent, and the rest is attributes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762405"/>
                  </a:ext>
                </a:extLst>
              </a:tr>
              <a:tr h="370840">
                <a:tc>
                  <a:txBody>
                    <a:bodyPr/>
                    <a:lstStyle/>
                    <a:p>
                      <a:r>
                        <a:rPr lang="en-US" sz="1400" dirty="0"/>
                        <a:t>subscriptions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Price follows plan * seats, ARR = 12 * MRR, no subscription predates its customer</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4247228"/>
                  </a:ext>
                </a:extLst>
              </a:tr>
              <a:tr h="370840">
                <a:tc>
                  <a:txBody>
                    <a:bodyPr/>
                    <a:lstStyle/>
                    <a:p>
                      <a:r>
                        <a:rPr lang="en-US" sz="1400" dirty="0" err="1"/>
                        <a:t>feature_usage</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16 features — dates unrelated to the customer, r = 0.002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3096637"/>
                  </a:ext>
                </a:extLst>
              </a:tr>
              <a:tr h="370840">
                <a:tc>
                  <a:txBody>
                    <a:bodyPr/>
                    <a:lstStyle/>
                    <a:p>
                      <a:r>
                        <a:rPr lang="en-US" sz="1400" dirty="0" err="1"/>
                        <a:t>support_tickets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15 features — same, r = 0.016; satisfaction documented 1–5, only ever 3, 4, 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1415731"/>
                  </a:ext>
                </a:extLst>
              </a:tr>
              <a:tr h="370840">
                <a:tc>
                  <a:txBody>
                    <a:bodyPr/>
                    <a:lstStyle/>
                    <a:p>
                      <a:r>
                        <a:rPr lang="en-US" sz="1400" dirty="0" err="1"/>
                        <a:t>churn_events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The only churn record with a date, but it disagrees with the other two</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464719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2800D6-974F-2F17-A52E-0A306D35DF0C}"/>
              </a:ext>
            </a:extLst>
          </p:cNvPr>
          <p:cNvSpPr txBox="1"/>
          <p:nvPr/>
        </p:nvSpPr>
        <p:spPr>
          <a:xfrm>
            <a:off x="747998" y="1869170"/>
            <a:ext cx="11202905" cy="3159839"/>
          </a:xfrm>
          <a:prstGeom prst="rect">
            <a:avLst/>
          </a:prstGeom>
          <a:noFill/>
        </p:spPr>
        <p:txBody>
          <a:bodyPr wrap="square">
            <a:spAutoFit/>
          </a:bodyPr>
          <a:lstStyle/>
          <a:p>
            <a:pPr>
              <a:spcAft>
                <a:spcPts val="500"/>
              </a:spcAft>
            </a:pPr>
            <a:r>
              <a:rPr lang="en-US" sz="600" b="0" i="0" dirty="0">
                <a:solidFill>
                  <a:srgbClr val="1A1A1A"/>
                </a:solidFill>
                <a:latin typeface="Calibri"/>
              </a:rPr>
              <a:t> </a:t>
            </a:r>
          </a:p>
          <a:p>
            <a:pPr>
              <a:spcAft>
                <a:spcPts val="500"/>
              </a:spcAft>
            </a:pPr>
            <a:r>
              <a:rPr lang="en-US" sz="1400" b="1" i="0" dirty="0">
                <a:solidFill>
                  <a:srgbClr val="1A1A1A"/>
                </a:solidFill>
                <a:latin typeface="Calibri"/>
              </a:rPr>
              <a:t>Assumptions I am making</a:t>
            </a:r>
          </a:p>
          <a:p>
            <a:pPr>
              <a:spcAft>
                <a:spcPts val="500"/>
              </a:spcAft>
            </a:pPr>
            <a:endParaRPr lang="en-US" sz="1400" b="1" i="0" dirty="0">
              <a:solidFill>
                <a:srgbClr val="1A1A1A"/>
              </a:solidFill>
              <a:latin typeface="Calibri"/>
            </a:endParaRPr>
          </a:p>
          <a:p>
            <a:pPr marL="685800" lvl="1" indent="-228600">
              <a:spcAft>
                <a:spcPts val="500"/>
              </a:spcAft>
              <a:buFont typeface="+mj-lt"/>
              <a:buAutoNum type="arabicPeriod"/>
            </a:pPr>
            <a:r>
              <a:rPr lang="en-US" sz="1200" dirty="0">
                <a:solidFill>
                  <a:srgbClr val="5A6270"/>
                </a:solidFill>
              </a:rPr>
              <a:t>I used churn from the churn defined by rows in </a:t>
            </a:r>
            <a:r>
              <a:rPr lang="en-US" sz="1200" b="1" dirty="0" err="1">
                <a:solidFill>
                  <a:schemeClr val="tx2"/>
                </a:solidFill>
              </a:rPr>
              <a:t>churn_events</a:t>
            </a:r>
            <a:r>
              <a:rPr lang="en-US" sz="1200" dirty="0">
                <a:solidFill>
                  <a:srgbClr val="5A6270"/>
                </a:solidFill>
              </a:rPr>
              <a:t>. Three records claim to say who left and they disagree - I picked </a:t>
            </a:r>
            <a:r>
              <a:rPr lang="en-US" sz="1200" b="1" dirty="0" err="1">
                <a:solidFill>
                  <a:schemeClr val="tx2"/>
                </a:solidFill>
              </a:rPr>
              <a:t>churn_events</a:t>
            </a:r>
            <a:r>
              <a:rPr lang="en-US" sz="1200" dirty="0">
                <a:solidFill>
                  <a:srgbClr val="5A6270"/>
                </a:solidFill>
              </a:rPr>
              <a:t> table because it has a usable date. </a:t>
            </a:r>
          </a:p>
          <a:p>
            <a:pPr marL="685800" lvl="1" indent="-228600">
              <a:spcAft>
                <a:spcPts val="500"/>
              </a:spcAft>
              <a:buFont typeface="+mj-lt"/>
              <a:buAutoNum type="arabicPeriod"/>
            </a:pPr>
            <a:r>
              <a:rPr lang="en-US" sz="1200" dirty="0">
                <a:solidFill>
                  <a:srgbClr val="5A6270"/>
                </a:solidFill>
              </a:rPr>
              <a:t>A customer is at risk if they hold an open subscription on the date we ask. Customers whose subscriptions had all ended are excluded they cannot leave again.</a:t>
            </a:r>
          </a:p>
          <a:p>
            <a:pPr marL="685800" lvl="1" indent="-228600">
              <a:spcAft>
                <a:spcPts val="500"/>
              </a:spcAft>
              <a:buFont typeface="+mj-lt"/>
              <a:buAutoNum type="arabicPeriod"/>
            </a:pPr>
            <a:r>
              <a:rPr lang="en-US" sz="1200" dirty="0">
                <a:solidFill>
                  <a:srgbClr val="5A6270"/>
                </a:solidFill>
              </a:rPr>
              <a:t>A 90-day window and quarter-end dates. I chose both before running anything, then swept horizons from 30 to 180 days to see if the choice mattered. It moved the AUC score by 0.026, basically noise.</a:t>
            </a:r>
          </a:p>
          <a:p>
            <a:pPr marL="685800" lvl="1" indent="-228600">
              <a:spcAft>
                <a:spcPts val="500"/>
              </a:spcAft>
              <a:buFont typeface="+mj-lt"/>
              <a:buAutoNum type="arabicPeriod"/>
            </a:pPr>
            <a:r>
              <a:rPr lang="en-US" sz="1200" dirty="0">
                <a:solidFill>
                  <a:srgbClr val="5A6270"/>
                </a:solidFill>
              </a:rPr>
              <a:t>We focus in this analysis on the first churn event. Some customers have reactivations. We take the earliest churn date and dispense with what happens after for simplicity.</a:t>
            </a:r>
          </a:p>
          <a:p>
            <a:pPr marL="685800" lvl="1" indent="-228600">
              <a:spcAft>
                <a:spcPts val="500"/>
              </a:spcAft>
              <a:buFont typeface="+mj-lt"/>
              <a:buAutoNum type="arabicPeriod"/>
            </a:pPr>
            <a:r>
              <a:rPr lang="en-US" sz="1200" dirty="0">
                <a:solidFill>
                  <a:srgbClr val="5A6270"/>
                </a:solidFill>
              </a:rPr>
              <a:t>Events dated before their customer are kept. Over half of all usage rows and tickets predate their customer's signup by a median of seven months — too far to be pre-sales evaluation, but not something I can prove wrong. Dropping them costs 43% of usage and 68% of tickets and takes AUC from 0.596 to 0.517. So I kept every row and accounted for this in feature engineering.</a:t>
            </a:r>
            <a:endParaRPr lang="en-US" sz="1200" b="0" i="0" dirty="0">
              <a:solidFill>
                <a:srgbClr val="5A6270"/>
              </a:solidFill>
              <a:latin typeface="Calibri"/>
            </a:endParaRPr>
          </a:p>
          <a:p>
            <a:pPr marL="685800" lvl="1" indent="-228600">
              <a:spcAft>
                <a:spcPts val="500"/>
              </a:spcAft>
              <a:buFont typeface="+mj-lt"/>
              <a:buAutoNum type="arabicPeriod"/>
            </a:pPr>
            <a:endParaRPr lang="en-US" sz="1200" b="0" i="0" dirty="0">
              <a:solidFill>
                <a:srgbClr val="5A6270"/>
              </a:solidFill>
              <a:latin typeface="Calibri"/>
            </a:endParaRPr>
          </a:p>
        </p:txBody>
      </p:sp>
      <p:sp>
        <p:nvSpPr>
          <p:cNvPr id="5" name="TextBox 4">
            <a:extLst>
              <a:ext uri="{FF2B5EF4-FFF2-40B4-BE49-F238E27FC236}">
                <a16:creationId xmlns:a16="http://schemas.microsoft.com/office/drawing/2014/main" id="{CA970AC4-91F5-08BB-443D-4F894B789C96}"/>
              </a:ext>
            </a:extLst>
          </p:cNvPr>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7" name="Rectangle 6">
            <a:extLst>
              <a:ext uri="{FF2B5EF4-FFF2-40B4-BE49-F238E27FC236}">
                <a16:creationId xmlns:a16="http://schemas.microsoft.com/office/drawing/2014/main" id="{9F1B9989-6A7C-C50E-2B6A-E012B6E3A475}"/>
              </a:ext>
            </a:extLst>
          </p:cNvPr>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27656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dirty="0">
                <a:solidFill>
                  <a:srgbClr val="1A1A1A"/>
                </a:solidFill>
              </a:rPr>
              <a:t>Schema, scale and integrity</a:t>
            </a:r>
            <a:endParaRPr sz="2800" b="1" i="0" dirty="0">
              <a:solidFill>
                <a:srgbClr val="1A1A1A"/>
              </a:solidFill>
              <a:latin typeface="Calibri"/>
            </a:endParaRPr>
          </a:p>
        </p:txBody>
      </p:sp>
      <p:sp>
        <p:nvSpPr>
          <p:cNvPr id="3" name="Rectangle 2"/>
          <p:cNvSpPr/>
          <p:nvPr/>
        </p:nvSpPr>
        <p:spPr>
          <a:xfrm>
            <a:off x="685799" y="127063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9_data_model.png"/>
          <p:cNvPicPr>
            <a:picLocks noChangeAspect="1"/>
          </p:cNvPicPr>
          <p:nvPr/>
        </p:nvPicPr>
        <p:blipFill>
          <a:blip r:embed="rId3"/>
          <a:stretch>
            <a:fillRect/>
          </a:stretch>
        </p:blipFill>
        <p:spPr>
          <a:xfrm>
            <a:off x="1105078" y="1425853"/>
            <a:ext cx="9428085" cy="5394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EXPLORATORY ANALYSIS</a:t>
            </a:r>
          </a:p>
          <a:p>
            <a:pPr>
              <a:spcBef>
                <a:spcPts val="400"/>
              </a:spcBef>
            </a:pPr>
            <a:r>
              <a:rPr sz="2800" b="1" i="0">
                <a:solidFill>
                  <a:srgbClr val="1A1A1A"/>
                </a:solidFill>
                <a:latin typeface="Calibri"/>
              </a:rPr>
              <a:t>Every field, one at a time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21_eda_profile.png"/>
          <p:cNvPicPr>
            <a:picLocks noChangeAspect="1"/>
          </p:cNvPicPr>
          <p:nvPr/>
        </p:nvPicPr>
        <p:blipFill>
          <a:blip r:embed="rId3"/>
          <a:stretch>
            <a:fillRect/>
          </a:stretch>
        </p:blipFill>
        <p:spPr>
          <a:xfrm>
            <a:off x="848226" y="1499547"/>
            <a:ext cx="9978184" cy="4625521"/>
          </a:xfrm>
          <a:prstGeom prst="rect">
            <a:avLst/>
          </a:prstGeom>
        </p:spPr>
      </p:pic>
      <p:sp>
        <p:nvSpPr>
          <p:cNvPr id="6" name="TextBox 5"/>
          <p:cNvSpPr txBox="1"/>
          <p:nvPr/>
        </p:nvSpPr>
        <p:spPr>
          <a:xfrm>
            <a:off x="848226" y="6207295"/>
            <a:ext cx="10820095" cy="269304"/>
          </a:xfrm>
          <a:prstGeom prst="rect">
            <a:avLst/>
          </a:prstGeom>
          <a:noFill/>
        </p:spPr>
        <p:txBody>
          <a:bodyPr wrap="square">
            <a:spAutoFit/>
          </a:bodyPr>
          <a:lstStyle/>
          <a:p>
            <a:r>
              <a:rPr sz="1150" b="0" i="1" dirty="0">
                <a:solidFill>
                  <a:srgbClr val="5A6270"/>
                </a:solidFill>
                <a:latin typeface="Calibri"/>
              </a:rPr>
              <a:t>Missingness is recorded</a:t>
            </a:r>
            <a:r>
              <a:rPr lang="en-US" sz="1150" i="1" dirty="0">
                <a:solidFill>
                  <a:srgbClr val="5A6270"/>
                </a:solidFill>
                <a:latin typeface="Calibri"/>
              </a:rPr>
              <a:t> and not </a:t>
            </a:r>
            <a:r>
              <a:rPr sz="1150" b="0" i="1" dirty="0">
                <a:solidFill>
                  <a:srgbClr val="5A6270"/>
                </a:solidFill>
                <a:latin typeface="Calibri"/>
              </a:rPr>
              <a:t>imputed. A ticket with no satisfaction score has not been rated, and that is itself a feature.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No group of customers stands out</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5_segment_forest_html.png"/>
          <p:cNvPicPr>
            <a:picLocks noChangeAspect="1"/>
          </p:cNvPicPr>
          <p:nvPr/>
        </p:nvPicPr>
        <p:blipFill>
          <a:blip r:embed="rId3"/>
          <a:stretch>
            <a:fillRect/>
          </a:stretch>
        </p:blipFill>
        <p:spPr>
          <a:xfrm>
            <a:off x="457200" y="1572768"/>
            <a:ext cx="5029200" cy="4526280"/>
          </a:xfrm>
          <a:prstGeom prst="rect">
            <a:avLst/>
          </a:prstGeom>
        </p:spPr>
      </p:pic>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A group of 23 customers cannot tell you much. The width of these intervals is the finding, not the position of the dots.</a:t>
            </a:r>
          </a:p>
        </p:txBody>
      </p:sp>
      <p:sp>
        <p:nvSpPr>
          <p:cNvPr id="8" name="TextBox 7">
            <a:extLst>
              <a:ext uri="{FF2B5EF4-FFF2-40B4-BE49-F238E27FC236}">
                <a16:creationId xmlns:a16="http://schemas.microsoft.com/office/drawing/2014/main" id="{03FA6BE2-C20B-E0BF-644E-235352149894}"/>
              </a:ext>
            </a:extLst>
          </p:cNvPr>
          <p:cNvSpPr txBox="1"/>
          <p:nvPr/>
        </p:nvSpPr>
        <p:spPr>
          <a:xfrm>
            <a:off x="5989320" y="1645920"/>
            <a:ext cx="5577840" cy="3931846"/>
          </a:xfrm>
          <a:prstGeom prst="rect">
            <a:avLst/>
          </a:prstGeom>
          <a:noFill/>
        </p:spPr>
        <p:txBody>
          <a:bodyPr wrap="square">
            <a:spAutoFit/>
          </a:bodyPr>
          <a:lstStyle/>
          <a:p>
            <a:pPr>
              <a:spcAft>
                <a:spcPts val="300"/>
              </a:spcAft>
            </a:pPr>
            <a:r>
              <a:rPr lang="en-US" sz="1400" dirty="0">
                <a:solidFill>
                  <a:srgbClr val="5A6270"/>
                </a:solidFill>
              </a:rPr>
              <a:t>This is one cutoff, 30 June 2024</a:t>
            </a:r>
          </a:p>
          <a:p>
            <a:pPr>
              <a:spcAft>
                <a:spcPts val="300"/>
              </a:spcAft>
            </a:pPr>
            <a:endParaRPr lang="en-US" sz="1300" b="1" i="0" dirty="0">
              <a:solidFill>
                <a:srgbClr val="1A1A1A"/>
              </a:solidFill>
              <a:latin typeface="Calibri"/>
            </a:endParaRPr>
          </a:p>
          <a:p>
            <a:pPr>
              <a:spcAft>
                <a:spcPts val="300"/>
              </a:spcAft>
            </a:pPr>
            <a:r>
              <a:rPr sz="1300" b="1" i="0" dirty="0">
                <a:solidFill>
                  <a:srgbClr val="1A1A1A"/>
                </a:solidFill>
                <a:latin typeface="Calibri"/>
              </a:rPr>
              <a:t>I checked industry, country, plan, how they found us, and whether they started on a trial. Not one of them separates the customers who leave from the ones who stay.</a:t>
            </a:r>
          </a:p>
          <a:p>
            <a:pPr>
              <a:spcAft>
                <a:spcPts val="300"/>
              </a:spcAft>
            </a:pPr>
            <a:r>
              <a:rPr sz="600" b="0" i="0" dirty="0">
                <a:solidFill>
                  <a:srgbClr val="1A1A1A"/>
                </a:solidFill>
                <a:latin typeface="Calibri"/>
              </a:rPr>
              <a:t> </a:t>
            </a:r>
          </a:p>
          <a:p>
            <a:pPr>
              <a:spcAft>
                <a:spcPts val="300"/>
              </a:spcAft>
            </a:pPr>
            <a:r>
              <a:rPr sz="1300" b="1" i="0" dirty="0">
                <a:solidFill>
                  <a:srgbClr val="1A1A1A"/>
                </a:solidFill>
                <a:latin typeface="Calibri"/>
              </a:rPr>
              <a:t>The red line is 31%: 54 of the 177 customers left.</a:t>
            </a:r>
          </a:p>
          <a:p>
            <a:pPr lvl="1">
              <a:spcAft>
                <a:spcPts val="300"/>
              </a:spcAft>
            </a:pPr>
            <a:r>
              <a:rPr sz="1100" b="0" i="0" dirty="0">
                <a:solidFill>
                  <a:srgbClr val="5A6270"/>
                </a:solidFill>
                <a:latin typeface="Calibri"/>
              </a:rPr>
              <a:t>This is one cutoff, 30 June 2024</a:t>
            </a:r>
            <a:endParaRPr lang="en-US" sz="1100" b="0" i="0" dirty="0">
              <a:solidFill>
                <a:srgbClr val="5A6270"/>
              </a:solidFill>
              <a:latin typeface="Calibri"/>
            </a:endParaRPr>
          </a:p>
          <a:p>
            <a:pPr lvl="1">
              <a:spcAft>
                <a:spcPts val="300"/>
              </a:spcAft>
            </a:pPr>
            <a:endParaRPr sz="600" b="0" i="0" dirty="0">
              <a:solidFill>
                <a:srgbClr val="1A1A1A"/>
              </a:solidFill>
              <a:latin typeface="Calibri"/>
            </a:endParaRPr>
          </a:p>
          <a:p>
            <a:pPr>
              <a:spcAft>
                <a:spcPts val="300"/>
              </a:spcAft>
            </a:pPr>
            <a:r>
              <a:rPr sz="1300" b="1" i="0" dirty="0">
                <a:solidFill>
                  <a:srgbClr val="1A1A1A"/>
                </a:solidFill>
                <a:latin typeface="Calibri"/>
              </a:rPr>
              <a:t>The lines say how little a group this size can tell you.</a:t>
            </a:r>
          </a:p>
          <a:p>
            <a:pPr lvl="1">
              <a:spcAft>
                <a:spcPts val="300"/>
              </a:spcAft>
            </a:pPr>
            <a:r>
              <a:rPr lang="en-US" sz="1100" dirty="0">
                <a:solidFill>
                  <a:srgbClr val="5A6270"/>
                </a:solidFill>
              </a:rPr>
              <a:t>We used Wilson interval with input being the customers who churned and group size and the output the range of true rates consistent with that count</a:t>
            </a:r>
            <a:endParaRPr sz="1100" b="0" i="0" dirty="0">
              <a:solidFill>
                <a:srgbClr val="5A6270"/>
              </a:solidFill>
              <a:latin typeface="Calibri"/>
            </a:endParaRPr>
          </a:p>
          <a:p>
            <a:pPr>
              <a:spcAft>
                <a:spcPts val="300"/>
              </a:spcAft>
            </a:pPr>
            <a:r>
              <a:rPr sz="600" b="0" i="0" dirty="0">
                <a:solidFill>
                  <a:srgbClr val="1A1A1A"/>
                </a:solidFill>
                <a:latin typeface="Calibri"/>
              </a:rPr>
              <a:t> </a:t>
            </a:r>
          </a:p>
          <a:p>
            <a:pPr>
              <a:spcAft>
                <a:spcPts val="300"/>
              </a:spcAft>
            </a:pPr>
            <a:r>
              <a:rPr sz="1300" b="1" i="0" dirty="0">
                <a:solidFill>
                  <a:srgbClr val="1A1A1A"/>
                </a:solidFill>
                <a:latin typeface="Calibri"/>
              </a:rPr>
              <a:t>One group does miss the line, and it is the one to volunteer.</a:t>
            </a:r>
          </a:p>
          <a:p>
            <a:pPr lvl="1">
              <a:spcAft>
                <a:spcPts val="300"/>
              </a:spcAft>
            </a:pPr>
            <a:r>
              <a:rPr sz="1100" b="0" i="0" dirty="0">
                <a:solidFill>
                  <a:srgbClr val="5A6270"/>
                </a:solidFill>
                <a:latin typeface="Calibri"/>
              </a:rPr>
              <a:t>Cybersecurity. But testing 22 groups at 95% confidence, you expect 1.1 to miss by chance. We got one.</a:t>
            </a:r>
          </a:p>
          <a:p>
            <a:pPr>
              <a:spcAft>
                <a:spcPts val="300"/>
              </a:spcAft>
            </a:pPr>
            <a:r>
              <a:rPr sz="600" b="0" i="0" dirty="0">
                <a:solidFill>
                  <a:srgbClr val="1A1A1A"/>
                </a:solidFill>
                <a:latin typeface="Calibri"/>
              </a:rPr>
              <a:t> </a:t>
            </a:r>
          </a:p>
          <a:p>
            <a:pPr lvl="1">
              <a:spcAft>
                <a:spcPts val="300"/>
              </a:spcAft>
            </a:pPr>
            <a:r>
              <a:rPr sz="1100" b="0" i="0" dirty="0">
                <a:solidFill>
                  <a:srgbClr val="5A6270"/>
                </a:solidFill>
                <a:latin typeface="Calibri"/>
              </a:rPr>
              <a:t>Strongest association across all five is p = 0.08, before accounting for having looked at five. I explored this on a held-out slice, so the data I modelled on did not influence what I chose to look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1408078"/>
          </a:xfrm>
          <a:prstGeom prst="rect">
            <a:avLst/>
          </a:prstGeom>
          <a:noFill/>
        </p:spPr>
        <p:txBody>
          <a:bodyPr wrap="square">
            <a:spAutoFit/>
          </a:bodyPr>
          <a:lstStyle/>
          <a:p>
            <a:pPr>
              <a:spcAft>
                <a:spcPts val="300"/>
              </a:spcAft>
            </a:pPr>
            <a:r>
              <a:rPr sz="1150" b="1" i="0" dirty="0">
                <a:solidFill>
                  <a:srgbClr val="1A1A1A"/>
                </a:solidFill>
                <a:latin typeface="Calibri"/>
              </a:rPr>
              <a:t>What each family measures.</a:t>
            </a:r>
          </a:p>
          <a:p>
            <a:pPr lvl="1">
              <a:spcAft>
                <a:spcPts val="300"/>
              </a:spcAft>
            </a:pPr>
            <a:r>
              <a:rPr sz="950" b="0" i="0" dirty="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dirty="0">
                <a:solidFill>
                  <a:srgbClr val="1A1A1A"/>
                </a:solidFill>
                <a:latin typeface="Calibri"/>
              </a:rPr>
              <a:t> </a:t>
            </a:r>
          </a:p>
          <a:p>
            <a:pPr>
              <a:spcAft>
                <a:spcPts val="300"/>
              </a:spcAft>
            </a:pPr>
            <a:r>
              <a:rPr sz="1150" b="1" i="0" dirty="0">
                <a:solidFill>
                  <a:srgbClr val="2E5F8A"/>
                </a:solidFill>
                <a:latin typeface="Calibri"/>
              </a:rPr>
              <a:t>The same code builds these in training and in production.</a:t>
            </a:r>
          </a:p>
          <a:p>
            <a:pPr lvl="1">
              <a:spcAft>
                <a:spcPts val="300"/>
              </a:spcAft>
            </a:pPr>
            <a:r>
              <a:rPr sz="950" b="0" i="0" dirty="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endParaRPr sz="600" b="0" i="0" dirty="0">
              <a:solidFill>
                <a:srgbClr val="1A1A1A"/>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sz="2800" b="1" i="0" dirty="0">
                <a:solidFill>
                  <a:srgbClr val="1A1A1A"/>
                </a:solidFill>
                <a:latin typeface="Calibri"/>
              </a:rPr>
              <a:t>Choosing an algorithm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318</TotalTime>
  <Words>5095</Words>
  <Application>Microsoft Office PowerPoint</Application>
  <PresentationFormat>Widescreen</PresentationFormat>
  <Paragraphs>256</Paragraphs>
  <Slides>19</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2026-07-29T12:18:24Z</dcterms:modified>
  <cp:category/>
</cp:coreProperties>
</file>