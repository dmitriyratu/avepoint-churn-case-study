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35" dt="2026-07-29T02:51:42.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7382" autoAdjust="0"/>
  </p:normalViewPr>
  <p:slideViewPr>
    <p:cSldViewPr snapToGrid="0" snapToObjects="1">
      <p:cViewPr varScale="1">
        <p:scale>
          <a:sx n="159" d="100"/>
          <a:sy n="159" d="100"/>
        </p:scale>
        <p:origin x="330"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modSld">
      <pc:chgData name="Dmitriy Ratushny" userId="08050032e8047aee" providerId="LiveId" clId="{78EB1A6D-D3A9-4525-A4D5-A50D4E20D487}" dt="2026-07-29T02:52:36.714" v="706" actId="1076"/>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9T02:48:43.005" v="636" actId="20577"/>
        <pc:sldMkLst>
          <pc:docMk/>
          <pc:sldMk cId="0" sldId="257"/>
        </pc:sldMkLst>
        <pc:spChg chg="mod">
          <ac:chgData name="Dmitriy Ratushny" userId="08050032e8047aee" providerId="LiveId" clId="{78EB1A6D-D3A9-4525-A4D5-A50D4E20D487}" dt="2026-07-29T02:47:45.155" v="617" actId="1076"/>
          <ac:spMkLst>
            <pc:docMk/>
            <pc:sldMk cId="0" sldId="257"/>
            <ac:spMk id="3" creationId="{00000000-0000-0000-0000-000000000000}"/>
          </ac:spMkLst>
        </pc:spChg>
        <pc:spChg chg="mod">
          <ac:chgData name="Dmitriy Ratushny" userId="08050032e8047aee" providerId="LiveId" clId="{78EB1A6D-D3A9-4525-A4D5-A50D4E20D487}" dt="2026-07-29T02:48:43.005" v="636" actId="20577"/>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9T02:48:36.726" v="634" actId="1076"/>
          <ac:picMkLst>
            <pc:docMk/>
            <pc:sldMk cId="0" sldId="257"/>
            <ac:picMk id="5" creationId="{00000000-0000-0000-0000-000000000000}"/>
          </ac:picMkLst>
        </pc:picChg>
      </pc:sldChg>
      <pc:sldChg chg="addSp delSp modSp mod">
        <pc:chgData name="Dmitriy Ratushny" userId="08050032e8047aee" providerId="LiveId" clId="{78EB1A6D-D3A9-4525-A4D5-A50D4E20D487}" dt="2026-07-29T02:52:36.714" v="706" actId="1076"/>
        <pc:sldMkLst>
          <pc:docMk/>
          <pc:sldMk cId="0" sldId="258"/>
        </pc:sldMkLst>
        <pc:spChg chg="mod">
          <ac:chgData name="Dmitriy Ratushny" userId="08050032e8047aee" providerId="LiveId" clId="{78EB1A6D-D3A9-4525-A4D5-A50D4E20D487}" dt="2026-07-28T23:39:35.568" v="336"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9T02:52:27.656" v="705" actId="1076"/>
          <ac:spMkLst>
            <pc:docMk/>
            <pc:sldMk cId="0" sldId="258"/>
            <ac:spMk id="4" creationId="{00000000-0000-0000-0000-000000000000}"/>
          </ac:spMkLst>
        </pc:spChg>
        <pc:picChg chg="add del mod">
          <ac:chgData name="Dmitriy Ratushny" userId="08050032e8047aee" providerId="LiveId" clId="{78EB1A6D-D3A9-4525-A4D5-A50D4E20D487}" dt="2026-07-29T02:08:27.146" v="361" actId="478"/>
          <ac:picMkLst>
            <pc:docMk/>
            <pc:sldMk cId="0" sldId="258"/>
            <ac:picMk id="6" creationId="{E355C817-C75E-F7EE-C8D2-DD4E3A010816}"/>
          </ac:picMkLst>
        </pc:picChg>
        <pc:picChg chg="add mod">
          <ac:chgData name="Dmitriy Ratushny" userId="08050032e8047aee" providerId="LiveId" clId="{78EB1A6D-D3A9-4525-A4D5-A50D4E20D487}" dt="2026-07-29T02:52:36.714" v="706" actId="1076"/>
          <ac:picMkLst>
            <pc:docMk/>
            <pc:sldMk cId="0" sldId="258"/>
            <ac:picMk id="7" creationId="{D4F31BD9-B3BF-043E-1566-F360B51678E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The business problem, and a target I had to rebuild</a:t>
            </a:r>
          </a:p>
        </p:txBody>
      </p:sp>
      <p:sp>
        <p:nvSpPr>
          <p:cNvPr id="3" name="Rectangle 2"/>
          <p:cNvSpPr/>
          <p:nvPr/>
        </p:nvSpPr>
        <p:spPr>
          <a:xfrm>
            <a:off x="685800" y="12105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298647"/>
            <a:ext cx="10820095" cy="5555367"/>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That gives 648 customer-dates, 281 distinct customers, and 159 leavers - 24.5%. The rate per cutoff runs 17% to 31%</a:t>
            </a:r>
          </a:p>
          <a:p>
            <a:pPr marL="685800" lvl="1" indent="-228600" algn="just">
              <a:spcAft>
                <a:spcPts val="600"/>
              </a:spcAft>
              <a:buFont typeface="+mj-lt"/>
              <a:buAutoNum type="arabicPeriod"/>
            </a:pPr>
            <a:r>
              <a:rPr lang="en-US" sz="1200" dirty="0">
                <a:solidFill>
                  <a:srgbClr val="5A6270"/>
                </a:solidFill>
              </a:rPr>
              <a:t>The label comes from </a:t>
            </a:r>
            <a:r>
              <a:rPr lang="en-US" sz="1200" b="1" dirty="0" err="1">
                <a:solidFill>
                  <a:schemeClr val="tx2"/>
                </a:solidFill>
              </a:rPr>
              <a:t>churn_events</a:t>
            </a:r>
            <a:r>
              <a:rPr lang="en-US" sz="1200" dirty="0">
                <a:solidFill>
                  <a:srgbClr val="5A6270"/>
                </a:solidFill>
              </a:rPr>
              <a:t>: an eligible account is positive if its earliest </a:t>
            </a:r>
            <a:r>
              <a:rPr lang="en-US" sz="1200" b="1" dirty="0" err="1">
                <a:solidFill>
                  <a:schemeClr val="tx2"/>
                </a:solidFill>
              </a:rPr>
              <a:t>churn_events.churn_date</a:t>
            </a:r>
            <a:r>
              <a:rPr lang="en-US" sz="1200" dirty="0">
                <a:solidFill>
                  <a:srgbClr val="5A6270"/>
                </a:solidFill>
              </a:rPr>
              <a:t> falls within the 90 days from the cutoff. Everything else is negative. </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1327150" y="4335023"/>
            <a:ext cx="7427274" cy="16763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62393"/>
            <a:ext cx="10820095" cy="1051560"/>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4049" y="1306835"/>
            <a:ext cx="11277599" cy="5640006"/>
          </a:xfrm>
          <a:prstGeom prst="rect">
            <a:avLst/>
          </a:prstGeom>
          <a:noFill/>
        </p:spPr>
        <p:txBody>
          <a:bodyPr wrap="square">
            <a:spAutoFit/>
          </a:bodyPr>
          <a:lstStyle/>
          <a:p>
            <a:pPr algn="just">
              <a:spcAft>
                <a:spcPts val="900"/>
              </a:spcAft>
            </a:pPr>
            <a:r>
              <a:rPr sz="1600" b="1" i="0" dirty="0">
                <a:solidFill>
                  <a:srgbClr val="1A1A1A"/>
                </a:solidFill>
                <a:latin typeface="Calibri"/>
              </a:rPr>
              <a:t>For the model</a:t>
            </a: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a:t>
            </a:r>
          </a:p>
          <a:p>
            <a:pPr marL="800100" lvl="1" indent="-342900" algn="just">
              <a:spcAft>
                <a:spcPts val="900"/>
              </a:spcAft>
              <a:buFont typeface="+mj-lt"/>
              <a:buAutoNum type="arabicPeriod"/>
            </a:pPr>
            <a:r>
              <a:rPr sz="1400" b="0" i="0" dirty="0">
                <a:solidFill>
                  <a:srgbClr val="5A6270"/>
                </a:solidFill>
                <a:latin typeface="Calibri"/>
              </a:rPr>
              <a:t>I also report precision and recall, because they say what the CS team </a:t>
            </a:r>
            <a:r>
              <a:rPr lang="en-US" sz="1400" b="0" i="0" dirty="0">
                <a:solidFill>
                  <a:srgbClr val="5A6270"/>
                </a:solidFill>
                <a:latin typeface="Calibri"/>
              </a:rPr>
              <a:t>actually experiences</a:t>
            </a:r>
            <a:r>
              <a:rPr sz="1400" b="0" i="0" dirty="0">
                <a:solidFill>
                  <a:srgbClr val="5A6270"/>
                </a:solidFill>
                <a:latin typeface="Calibri"/>
              </a:rPr>
              <a:t> when they work the list.</a:t>
            </a:r>
          </a:p>
          <a:p>
            <a:pPr marL="800100" lvl="1" indent="-342900" algn="just">
              <a:spcAft>
                <a:spcPts val="900"/>
              </a:spcAft>
              <a:buFont typeface="+mj-lt"/>
              <a:buAutoNum type="arabicPeriod"/>
            </a:pPr>
            <a:r>
              <a:rPr lang="en-US" sz="1400" dirty="0">
                <a:solidFill>
                  <a:srgbClr val="5A6270"/>
                </a:solidFill>
              </a:rPr>
              <a:t>I score the same model 25 times, each time holding out a different group of customers completely. What I report is where those 25 land and how far apart they are</a:t>
            </a:r>
            <a:endParaRPr lang="en-US" sz="1600" b="1" dirty="0">
              <a:solidFill>
                <a:srgbClr val="1A1A1A"/>
              </a:solidFill>
              <a:latin typeface="Calibri"/>
            </a:endParaRPr>
          </a:p>
          <a:p>
            <a:pPr algn="just">
              <a:spcAft>
                <a:spcPts val="900"/>
              </a:spcAft>
            </a:pPr>
            <a:endParaRPr lang="en-US" sz="1600" b="1" i="0" dirty="0">
              <a:solidFill>
                <a:srgbClr val="1A1A1A"/>
              </a:solidFill>
              <a:latin typeface="Calibri"/>
            </a:endParaRPr>
          </a:p>
          <a:p>
            <a:pPr algn="just">
              <a:spcAft>
                <a:spcPts val="900"/>
              </a:spcAft>
            </a:pPr>
            <a:endParaRPr lang="en-US" sz="1600" dirty="0">
              <a:solidFill>
                <a:srgbClr val="1A1A1A"/>
              </a:solidFill>
              <a:latin typeface="Calibri"/>
            </a:endParaRPr>
          </a:p>
          <a:p>
            <a:pPr algn="just">
              <a:spcAft>
                <a:spcPts val="900"/>
              </a:spcAft>
            </a:pP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endParaRPr lang="en-US" sz="1600" b="1" i="0" dirty="0">
              <a:solidFill>
                <a:srgbClr val="1A1A1A"/>
              </a:solidFill>
              <a:latin typeface="Calibri"/>
            </a:endParaRPr>
          </a:p>
          <a:p>
            <a:pPr algn="just">
              <a:spcAft>
                <a:spcPts val="900"/>
              </a:spcAft>
            </a:pP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sz="1600" b="1" i="0" dirty="0">
                <a:solidFill>
                  <a:srgbClr val="1A1A1A"/>
                </a:solidFill>
                <a:latin typeface="Calibri"/>
              </a:rPr>
              <a:t>For the business</a:t>
            </a:r>
          </a:p>
          <a:p>
            <a:pPr marL="800100" lvl="1" indent="-342900" algn="just">
              <a:spcAft>
                <a:spcPts val="900"/>
              </a:spcAft>
              <a:buFont typeface="+mj-lt"/>
              <a:buAutoNum type="arabicPeriod"/>
            </a:pPr>
            <a:r>
              <a:rPr lang="en-US" sz="1400" dirty="0">
                <a:solidFill>
                  <a:srgbClr val="5A6270"/>
                </a:solidFill>
              </a:rPr>
              <a:t>Did they stay? Compare the customers we called against a half we deliberately didn’t.</a:t>
            </a:r>
          </a:p>
          <a:p>
            <a:pPr marL="800100" lvl="1" indent="-342900" algn="just">
              <a:spcAft>
                <a:spcPts val="900"/>
              </a:spcAft>
              <a:buFont typeface="+mj-lt"/>
              <a:buAutoNum type="arabicPeriod"/>
            </a:pPr>
            <a:r>
              <a:rPr lang="en-US" sz="1400" dirty="0">
                <a:solidFill>
                  <a:srgbClr val="5A6270"/>
                </a:solidFill>
              </a:rPr>
              <a:t>Did we maintain our profit margins after discounts? </a:t>
            </a:r>
          </a:p>
          <a:p>
            <a:pPr marL="800100" lvl="1" indent="-342900" algn="just">
              <a:spcAft>
                <a:spcPts val="900"/>
              </a:spcAft>
              <a:buFont typeface="+mj-lt"/>
              <a:buAutoNum type="arabicPeriod"/>
            </a:pPr>
            <a:r>
              <a:rPr lang="en-US" sz="1400" dirty="0">
                <a:solidFill>
                  <a:srgbClr val="5A6270"/>
                </a:solidFill>
              </a:rPr>
              <a:t>Was the model worth using? Compare it against just calling everyone.</a:t>
            </a:r>
            <a:endParaRPr sz="1400" b="0" i="0" dirty="0">
              <a:solidFill>
                <a:srgbClr val="5A6270"/>
              </a:solidFill>
              <a:latin typeface="Calibri"/>
            </a:endParaRPr>
          </a:p>
          <a:p>
            <a:pPr algn="just">
              <a:spcAft>
                <a:spcPts val="900"/>
              </a:spcAft>
            </a:pPr>
            <a:r>
              <a:rPr sz="600" b="0" i="0" dirty="0">
                <a:solidFill>
                  <a:srgbClr val="1A1A1A"/>
                </a:solidFill>
                <a:latin typeface="Calibri"/>
              </a:rPr>
              <a:t> </a:t>
            </a:r>
          </a:p>
        </p:txBody>
      </p:sp>
      <p:pic>
        <p:nvPicPr>
          <p:cNvPr id="7" name="Picture 6">
            <a:extLst>
              <a:ext uri="{FF2B5EF4-FFF2-40B4-BE49-F238E27FC236}">
                <a16:creationId xmlns:a16="http://schemas.microsoft.com/office/drawing/2014/main" id="{D4F31BD9-B3BF-043E-1566-F360B51678E4}"/>
              </a:ext>
            </a:extLst>
          </p:cNvPr>
          <p:cNvPicPr>
            <a:picLocks noChangeAspect="1"/>
          </p:cNvPicPr>
          <p:nvPr/>
        </p:nvPicPr>
        <p:blipFill>
          <a:blip r:embed="rId2"/>
          <a:stretch>
            <a:fillRect/>
          </a:stretch>
        </p:blipFill>
        <p:spPr>
          <a:xfrm>
            <a:off x="1355557" y="2851558"/>
            <a:ext cx="9766300" cy="244157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1 · PROBLEM FRAMING</a:t>
            </a:r>
          </a:p>
          <a:p>
            <a:pPr>
              <a:spcBef>
                <a:spcPts val="400"/>
              </a:spcBef>
            </a:pPr>
            <a:r>
              <a:rPr sz="2800" b="1" i="0">
                <a:solidFill>
                  <a:srgbClr val="1A1A1A"/>
                </a:solidFill>
                <a:latin typeface="Calibri"/>
              </a:rPr>
              <a:t>Risks and assumptions, said out loud</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500"/>
              </a:spcAft>
            </a:pPr>
            <a:r>
              <a:rPr sz="1400" b="1" i="0" dirty="0">
                <a:solidFill>
                  <a:srgbClr val="B02E2E"/>
                </a:solidFill>
                <a:latin typeface="Calibri"/>
              </a:rPr>
              <a:t>Two of the five tables are not joined to their customers in time.</a:t>
            </a:r>
          </a:p>
          <a:p>
            <a:pPr lvl="1">
              <a:spcAft>
                <a:spcPts val="500"/>
              </a:spcAft>
            </a:pPr>
            <a:r>
              <a:rPr sz="1200" b="0" i="0" dirty="0">
                <a:solidFill>
                  <a:srgbClr val="5A6270"/>
                </a:solidFill>
                <a:latin typeface="Calibri"/>
              </a:rPr>
              <a:t>Usage and support ticket dates are spread at random across the whole two years. They line up with their own customer's signup date at r = 0.002 and r = 0.014, where 0 means no connection at all.</a:t>
            </a:r>
          </a:p>
          <a:p>
            <a:pPr lvl="1">
              <a:spcAft>
                <a:spcPts val="500"/>
              </a:spcAft>
            </a:pPr>
            <a:r>
              <a:rPr sz="1200" b="0" i="0" dirty="0">
                <a:solidFill>
                  <a:srgbClr val="5A6270"/>
                </a:solidFill>
                <a:latin typeface="Calibri"/>
              </a:rPr>
              <a:t>That is what produces the numbers people quote: 19,128 of 24,979 usage rows are dated before the subscription they belong to, and 1,077 of 2,000 tickets before the customer signed up.</a:t>
            </a:r>
          </a:p>
          <a:p>
            <a:pPr lvl="1">
              <a:spcAft>
                <a:spcPts val="500"/>
              </a:spcAft>
            </a:pPr>
            <a:r>
              <a:rPr sz="1200" b="0" i="0" dirty="0">
                <a:solidFill>
                  <a:srgbClr val="5A6270"/>
                </a:solidFill>
                <a:latin typeface="Calibri"/>
              </a:rPr>
              <a:t>Nothing links inside those tables either. Ticket priority does not predict how fast we answered. Plan tier does not predict how much people used.</a:t>
            </a:r>
          </a:p>
          <a:p>
            <a:pPr lvl="1">
              <a:spcAft>
                <a:spcPts val="500"/>
              </a:spcAft>
            </a:pPr>
            <a:r>
              <a:rPr sz="1200" b="0" i="0" dirty="0">
                <a:solidFill>
                  <a:srgbClr val="5A6270"/>
                </a:solidFill>
                <a:latin typeface="Calibri"/>
              </a:rPr>
              <a:t>Satisfaction is documented as a 1 to 5 score, but only ever takes the values 3, 4 and 5.</a:t>
            </a:r>
          </a:p>
          <a:p>
            <a:pPr lvl="1">
              <a:spcAft>
                <a:spcPts val="500"/>
              </a:spcAft>
            </a:pPr>
            <a:r>
              <a:rPr sz="1200" b="0" i="0" dirty="0">
                <a:solidFill>
                  <a:srgbClr val="5A6270"/>
                </a:solidFill>
                <a:latin typeface="Calibri"/>
              </a:rPr>
              <a:t>There are three ways to say a customer churned. All three agree for only 20% of customers.</a:t>
            </a:r>
          </a:p>
          <a:p>
            <a:pPr>
              <a:spcAft>
                <a:spcPts val="500"/>
              </a:spcAft>
            </a:pPr>
            <a:r>
              <a:rPr sz="600" b="0" i="0" dirty="0">
                <a:solidFill>
                  <a:srgbClr val="1A1A1A"/>
                </a:solidFill>
                <a:latin typeface="Calibri"/>
              </a:rPr>
              <a:t> </a:t>
            </a:r>
          </a:p>
          <a:p>
            <a:pPr>
              <a:spcAft>
                <a:spcPts val="500"/>
              </a:spcAft>
            </a:pPr>
            <a:r>
              <a:rPr sz="1400" b="1" i="0" dirty="0">
                <a:solidFill>
                  <a:srgbClr val="1A1A1A"/>
                </a:solidFill>
                <a:latin typeface="Calibri"/>
              </a:rPr>
              <a:t>Subscriptions is the one table built with rules, and the only one I lean on. Price follows the plan and the seat count, ARR is exactly 12 times MRR, and no subscription starts before its customer did.</a:t>
            </a:r>
          </a:p>
          <a:p>
            <a:pPr>
              <a:spcAft>
                <a:spcPts val="500"/>
              </a:spcAft>
            </a:pPr>
            <a:r>
              <a:rPr sz="600" b="0" i="0" dirty="0">
                <a:solidFill>
                  <a:srgbClr val="1A1A1A"/>
                </a:solidFill>
                <a:latin typeface="Calibri"/>
              </a:rPr>
              <a:t> </a:t>
            </a:r>
          </a:p>
          <a:p>
            <a:pPr>
              <a:spcAft>
                <a:spcPts val="500"/>
              </a:spcAft>
            </a:pPr>
            <a:r>
              <a:rPr sz="1400" b="1" i="0" dirty="0">
                <a:solidFill>
                  <a:srgbClr val="1A1A1A"/>
                </a:solidFill>
                <a:latin typeface="Calibri"/>
              </a:rPr>
              <a:t>There is very little to learn from: 54 customers who left, against 73 features. Well under one example per feature, so every result carries a wide range.</a:t>
            </a:r>
          </a:p>
          <a:p>
            <a:pPr>
              <a:spcAft>
                <a:spcPts val="500"/>
              </a:spcAft>
            </a:pPr>
            <a:r>
              <a:rPr sz="600" b="0" i="0" dirty="0">
                <a:solidFill>
                  <a:srgbClr val="1A1A1A"/>
                </a:solidFill>
                <a:latin typeface="Calibri"/>
              </a:rPr>
              <a:t> </a:t>
            </a:r>
          </a:p>
          <a:p>
            <a:pPr>
              <a:spcAft>
                <a:spcPts val="500"/>
              </a:spcAft>
            </a:pPr>
            <a:r>
              <a:rPr sz="1400" b="1" i="0" dirty="0">
                <a:solidFill>
                  <a:srgbClr val="1A1A1A"/>
                </a:solidFill>
                <a:latin typeface="Calibri"/>
              </a:rPr>
              <a:t>Assumptions I am making</a:t>
            </a:r>
          </a:p>
          <a:p>
            <a:pPr lvl="1">
              <a:spcAft>
                <a:spcPts val="500"/>
              </a:spcAft>
            </a:pPr>
            <a:r>
              <a:rPr sz="1200" b="0" i="0" dirty="0">
                <a:solidFill>
                  <a:srgbClr val="5A6270"/>
                </a:solidFill>
                <a:latin typeface="Calibri"/>
              </a:rPr>
              <a:t>A 90 day window and a 30 June 2024 cutoff. I picked both before testing anything, so they are not chosen to flatter the result.</a:t>
            </a:r>
          </a:p>
          <a:p>
            <a:pPr lvl="1">
              <a:spcAft>
                <a:spcPts val="500"/>
              </a:spcAft>
            </a:pPr>
            <a:r>
              <a:rPr sz="1200" b="0" i="0" dirty="0">
                <a:solidFill>
                  <a:srgbClr val="5A6270"/>
                </a:solidFill>
                <a:latin typeface="Calibri"/>
              </a:rPr>
              <a:t>Customers still active when the data ends are treated as unknown, not as successes.</a:t>
            </a:r>
          </a:p>
          <a:p>
            <a:pPr lvl="1">
              <a:spcAft>
                <a:spcPts val="500"/>
              </a:spcAft>
            </a:pPr>
            <a:r>
              <a:rPr sz="1200" b="0" i="0" dirty="0">
                <a:solidFill>
                  <a:srgbClr val="5A6270"/>
                </a:solidFill>
                <a:latin typeface="Calibri"/>
              </a:rPr>
              <a:t>This is a generated dataset, so every finding is tested against a null that imitates the generator — including the findings I liked. Slide 11 is that test, and it is the one that changed the answer.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churn_by_segment.png"/>
          <p:cNvPicPr>
            <a:picLocks noChangeAspect="1"/>
          </p:cNvPicPr>
          <p:nvPr/>
        </p:nvPicPr>
        <p:blipFill>
          <a:blip r:embed="rId2"/>
          <a:stretch>
            <a:fillRect/>
          </a:stretch>
        </p:blipFill>
        <p:spPr>
          <a:xfrm>
            <a:off x="-333124" y="1645920"/>
            <a:ext cx="12857944" cy="310896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169</TotalTime>
  <Words>4112</Words>
  <Application>Microsoft Office PowerPoint</Application>
  <PresentationFormat>Widescreen</PresentationFormat>
  <Paragraphs>203</Paragraphs>
  <Slides>16</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2026-07-29T02:52:37Z</dcterms:modified>
  <cp:category/>
</cp:coreProperties>
</file>