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72" r:id="rId6"/>
    <p:sldId id="273" r:id="rId7"/>
    <p:sldId id="276" r:id="rId8"/>
    <p:sldId id="278"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C782"/>
    <a:srgbClr val="9FD2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DC7B8B-EC09-4841-A573-8FF6489E0CC5}" v="135" dt="2026-07-29T13:46:55.8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7382" autoAdjust="0"/>
  </p:normalViewPr>
  <p:slideViewPr>
    <p:cSldViewPr snapToGrid="0" snapToObjects="1">
      <p:cViewPr varScale="1">
        <p:scale>
          <a:sx n="137" d="100"/>
          <a:sy n="137" d="100"/>
        </p:scale>
        <p:origin x="126" y="6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mitriy Ratushny" userId="08050032e8047aee" providerId="LiveId" clId="{78EB1A6D-D3A9-4525-A4D5-A50D4E20D487}"/>
    <pc:docChg chg="undo custSel addSld delSld modSld">
      <pc:chgData name="Dmitriy Ratushny" userId="08050032e8047aee" providerId="LiveId" clId="{78EB1A6D-D3A9-4525-A4D5-A50D4E20D487}" dt="2026-07-29T13:47:14.229" v="3031" actId="20577"/>
      <pc:docMkLst>
        <pc:docMk/>
      </pc:docMkLst>
      <pc:sldChg chg="modSp mod">
        <pc:chgData name="Dmitriy Ratushny" userId="08050032e8047aee" providerId="LiveId" clId="{78EB1A6D-D3A9-4525-A4D5-A50D4E20D487}" dt="2026-07-28T23:00:06.670" v="13" actId="20577"/>
        <pc:sldMkLst>
          <pc:docMk/>
          <pc:sldMk cId="0" sldId="256"/>
        </pc:sldMkLst>
        <pc:spChg chg="mod">
          <ac:chgData name="Dmitriy Ratushny" userId="08050032e8047aee" providerId="LiveId" clId="{78EB1A6D-D3A9-4525-A4D5-A50D4E20D487}" dt="2026-07-28T23:00:06.670" v="13" actId="20577"/>
          <ac:spMkLst>
            <pc:docMk/>
            <pc:sldMk cId="0" sldId="256"/>
            <ac:spMk id="2" creationId="{00000000-0000-0000-0000-000000000000}"/>
          </ac:spMkLst>
        </pc:spChg>
      </pc:sldChg>
      <pc:sldChg chg="delSp modSp mod">
        <pc:chgData name="Dmitriy Ratushny" userId="08050032e8047aee" providerId="LiveId" clId="{78EB1A6D-D3A9-4525-A4D5-A50D4E20D487}" dt="2026-07-29T13:47:14.229" v="3031" actId="20577"/>
        <pc:sldMkLst>
          <pc:docMk/>
          <pc:sldMk cId="0" sldId="257"/>
        </pc:sldMkLst>
        <pc:spChg chg="mod">
          <ac:chgData name="Dmitriy Ratushny" userId="08050032e8047aee" providerId="LiveId" clId="{78EB1A6D-D3A9-4525-A4D5-A50D4E20D487}" dt="2026-07-29T03:10:07.367" v="1058" actId="21"/>
          <ac:spMkLst>
            <pc:docMk/>
            <pc:sldMk cId="0" sldId="257"/>
            <ac:spMk id="2" creationId="{00000000-0000-0000-0000-000000000000}"/>
          </ac:spMkLst>
        </pc:spChg>
        <pc:spChg chg="mod">
          <ac:chgData name="Dmitriy Ratushny" userId="08050032e8047aee" providerId="LiveId" clId="{78EB1A6D-D3A9-4525-A4D5-A50D4E20D487}" dt="2026-07-29T02:47:45.155" v="617" actId="1076"/>
          <ac:spMkLst>
            <pc:docMk/>
            <pc:sldMk cId="0" sldId="257"/>
            <ac:spMk id="3" creationId="{00000000-0000-0000-0000-000000000000}"/>
          </ac:spMkLst>
        </pc:spChg>
        <pc:spChg chg="mod">
          <ac:chgData name="Dmitriy Ratushny" userId="08050032e8047aee" providerId="LiveId" clId="{78EB1A6D-D3A9-4525-A4D5-A50D4E20D487}" dt="2026-07-29T13:47:14.229" v="3031" actId="20577"/>
          <ac:spMkLst>
            <pc:docMk/>
            <pc:sldMk cId="0" sldId="257"/>
            <ac:spMk id="4" creationId="{00000000-0000-0000-0000-000000000000}"/>
          </ac:spMkLst>
        </pc:spChg>
        <pc:spChg chg="del">
          <ac:chgData name="Dmitriy Ratushny" userId="08050032e8047aee" providerId="LiveId" clId="{78EB1A6D-D3A9-4525-A4D5-A50D4E20D487}" dt="2026-07-28T22:56:21.088" v="4" actId="478"/>
          <ac:spMkLst>
            <pc:docMk/>
            <pc:sldMk cId="0" sldId="257"/>
            <ac:spMk id="6" creationId="{00000000-0000-0000-0000-000000000000}"/>
          </ac:spMkLst>
        </pc:spChg>
        <pc:picChg chg="mod modCrop">
          <ac:chgData name="Dmitriy Ratushny" userId="08050032e8047aee" providerId="LiveId" clId="{78EB1A6D-D3A9-4525-A4D5-A50D4E20D487}" dt="2026-07-29T04:10:32.206" v="1621" actId="1076"/>
          <ac:picMkLst>
            <pc:docMk/>
            <pc:sldMk cId="0" sldId="257"/>
            <ac:picMk id="5" creationId="{00000000-0000-0000-0000-000000000000}"/>
          </ac:picMkLst>
        </pc:picChg>
      </pc:sldChg>
      <pc:sldChg chg="addSp delSp modSp mod">
        <pc:chgData name="Dmitriy Ratushny" userId="08050032e8047aee" providerId="LiveId" clId="{78EB1A6D-D3A9-4525-A4D5-A50D4E20D487}" dt="2026-07-29T03:10:20.569" v="1059" actId="1076"/>
        <pc:sldMkLst>
          <pc:docMk/>
          <pc:sldMk cId="0" sldId="258"/>
        </pc:sldMkLst>
        <pc:spChg chg="mod">
          <ac:chgData name="Dmitriy Ratushny" userId="08050032e8047aee" providerId="LiveId" clId="{78EB1A6D-D3A9-4525-A4D5-A50D4E20D487}" dt="2026-07-29T03:03:49.359" v="801" actId="1076"/>
          <ac:spMkLst>
            <pc:docMk/>
            <pc:sldMk cId="0" sldId="258"/>
            <ac:spMk id="2" creationId="{00000000-0000-0000-0000-000000000000}"/>
          </ac:spMkLst>
        </pc:spChg>
        <pc:spChg chg="mod">
          <ac:chgData name="Dmitriy Ratushny" userId="08050032e8047aee" providerId="LiveId" clId="{78EB1A6D-D3A9-4525-A4D5-A50D4E20D487}" dt="2026-07-28T23:39:37.779" v="337" actId="1076"/>
          <ac:spMkLst>
            <pc:docMk/>
            <pc:sldMk cId="0" sldId="258"/>
            <ac:spMk id="3" creationId="{00000000-0000-0000-0000-000000000000}"/>
          </ac:spMkLst>
        </pc:spChg>
        <pc:spChg chg="mod">
          <ac:chgData name="Dmitriy Ratushny" userId="08050032e8047aee" providerId="LiveId" clId="{78EB1A6D-D3A9-4525-A4D5-A50D4E20D487}" dt="2026-07-29T03:10:20.569" v="1059" actId="1076"/>
          <ac:spMkLst>
            <pc:docMk/>
            <pc:sldMk cId="0" sldId="258"/>
            <ac:spMk id="4" creationId="{00000000-0000-0000-0000-000000000000}"/>
          </ac:spMkLst>
        </pc:spChg>
        <pc:picChg chg="add del mod">
          <ac:chgData name="Dmitriy Ratushny" userId="08050032e8047aee" providerId="LiveId" clId="{78EB1A6D-D3A9-4525-A4D5-A50D4E20D487}" dt="2026-07-29T02:08:27.146" v="361" actId="478"/>
          <ac:picMkLst>
            <pc:docMk/>
            <pc:sldMk cId="0" sldId="258"/>
            <ac:picMk id="6" creationId="{E355C817-C75E-F7EE-C8D2-DD4E3A010816}"/>
          </ac:picMkLst>
        </pc:picChg>
        <pc:picChg chg="add del mod">
          <ac:chgData name="Dmitriy Ratushny" userId="08050032e8047aee" providerId="LiveId" clId="{78EB1A6D-D3A9-4525-A4D5-A50D4E20D487}" dt="2026-07-29T03:02:03.496" v="710" actId="478"/>
          <ac:picMkLst>
            <pc:docMk/>
            <pc:sldMk cId="0" sldId="258"/>
            <ac:picMk id="7" creationId="{D4F31BD9-B3BF-043E-1566-F360B51678E4}"/>
          </ac:picMkLst>
        </pc:picChg>
      </pc:sldChg>
      <pc:sldChg chg="addSp delSp modSp mod">
        <pc:chgData name="Dmitriy Ratushny" userId="08050032e8047aee" providerId="LiveId" clId="{78EB1A6D-D3A9-4525-A4D5-A50D4E20D487}" dt="2026-07-29T11:11:12.385" v="1638" actId="20577"/>
        <pc:sldMkLst>
          <pc:docMk/>
          <pc:sldMk cId="0" sldId="259"/>
        </pc:sldMkLst>
        <pc:spChg chg="mod">
          <ac:chgData name="Dmitriy Ratushny" userId="08050032e8047aee" providerId="LiveId" clId="{78EB1A6D-D3A9-4525-A4D5-A50D4E20D487}" dt="2026-07-29T03:09:55.301" v="1057" actId="21"/>
          <ac:spMkLst>
            <pc:docMk/>
            <pc:sldMk cId="0" sldId="259"/>
            <ac:spMk id="2" creationId="{00000000-0000-0000-0000-000000000000}"/>
          </ac:spMkLst>
        </pc:spChg>
        <pc:spChg chg="mod">
          <ac:chgData name="Dmitriy Ratushny" userId="08050032e8047aee" providerId="LiveId" clId="{78EB1A6D-D3A9-4525-A4D5-A50D4E20D487}" dt="2026-07-29T03:46:14.271" v="1481" actId="20577"/>
          <ac:spMkLst>
            <pc:docMk/>
            <pc:sldMk cId="0" sldId="259"/>
            <ac:spMk id="4" creationId="{00000000-0000-0000-0000-000000000000}"/>
          </ac:spMkLst>
        </pc:spChg>
        <pc:spChg chg="add del mod">
          <ac:chgData name="Dmitriy Ratushny" userId="08050032e8047aee" providerId="LiveId" clId="{78EB1A6D-D3A9-4525-A4D5-A50D4E20D487}" dt="2026-07-29T03:37:29.843" v="1111" actId="21"/>
          <ac:spMkLst>
            <pc:docMk/>
            <pc:sldMk cId="0" sldId="259"/>
            <ac:spMk id="8" creationId="{2FF164C1-78B3-A0BA-94F3-0349A08F30F4}"/>
          </ac:spMkLst>
        </pc:spChg>
        <pc:graphicFrameChg chg="add mod modGraphic">
          <ac:chgData name="Dmitriy Ratushny" userId="08050032e8047aee" providerId="LiveId" clId="{78EB1A6D-D3A9-4525-A4D5-A50D4E20D487}" dt="2026-07-29T11:11:12.385" v="1638" actId="20577"/>
          <ac:graphicFrameMkLst>
            <pc:docMk/>
            <pc:sldMk cId="0" sldId="259"/>
            <ac:graphicFrameMk id="9" creationId="{AC539327-68EC-BE64-46D2-74F957FFB0AC}"/>
          </ac:graphicFrameMkLst>
        </pc:graphicFrameChg>
        <pc:picChg chg="add mod">
          <ac:chgData name="Dmitriy Ratushny" userId="08050032e8047aee" providerId="LiveId" clId="{78EB1A6D-D3A9-4525-A4D5-A50D4E20D487}" dt="2026-07-29T03:36:22.485" v="1109" actId="1076"/>
          <ac:picMkLst>
            <pc:docMk/>
            <pc:sldMk cId="0" sldId="259"/>
            <ac:picMk id="6" creationId="{12AD3BC4-A210-DDC1-716F-E8B388A4C0BB}"/>
          </ac:picMkLst>
        </pc:picChg>
      </pc:sldChg>
      <pc:sldChg chg="modSp del mod">
        <pc:chgData name="Dmitriy Ratushny" userId="08050032e8047aee" providerId="LiveId" clId="{78EB1A6D-D3A9-4525-A4D5-A50D4E20D487}" dt="2026-07-29T12:06:42.299" v="1955" actId="47"/>
        <pc:sldMkLst>
          <pc:docMk/>
          <pc:sldMk cId="0" sldId="260"/>
        </pc:sldMkLst>
        <pc:picChg chg="mod">
          <ac:chgData name="Dmitriy Ratushny" userId="08050032e8047aee" providerId="LiveId" clId="{78EB1A6D-D3A9-4525-A4D5-A50D4E20D487}" dt="2026-07-29T03:42:52.582" v="1479" actId="1076"/>
          <ac:picMkLst>
            <pc:docMk/>
            <pc:sldMk cId="0" sldId="260"/>
            <ac:picMk id="4" creationId="{00000000-0000-0000-0000-000000000000}"/>
          </ac:picMkLst>
        </pc:picChg>
      </pc:sldChg>
      <pc:sldChg chg="addSp delSp modSp add del mod">
        <pc:chgData name="Dmitriy Ratushny" userId="08050032e8047aee" providerId="LiveId" clId="{78EB1A6D-D3A9-4525-A4D5-A50D4E20D487}" dt="2026-07-29T12:44:10.995" v="2392" actId="1076"/>
        <pc:sldMkLst>
          <pc:docMk/>
          <pc:sldMk cId="0" sldId="261"/>
        </pc:sldMkLst>
        <pc:spChg chg="mod">
          <ac:chgData name="Dmitriy Ratushny" userId="08050032e8047aee" providerId="LiveId" clId="{78EB1A6D-D3A9-4525-A4D5-A50D4E20D487}" dt="2026-07-29T12:32:30.375" v="2175" actId="20577"/>
          <ac:spMkLst>
            <pc:docMk/>
            <pc:sldMk cId="0" sldId="261"/>
            <ac:spMk id="2" creationId="{00000000-0000-0000-0000-000000000000}"/>
          </ac:spMkLst>
        </pc:spChg>
        <pc:spChg chg="del mod">
          <ac:chgData name="Dmitriy Ratushny" userId="08050032e8047aee" providerId="LiveId" clId="{78EB1A6D-D3A9-4525-A4D5-A50D4E20D487}" dt="2026-07-29T12:32:09.070" v="2154" actId="478"/>
          <ac:spMkLst>
            <pc:docMk/>
            <pc:sldMk cId="0" sldId="261"/>
            <ac:spMk id="5" creationId="{00000000-0000-0000-0000-000000000000}"/>
          </ac:spMkLst>
        </pc:spChg>
        <pc:picChg chg="mod modCrop">
          <ac:chgData name="Dmitriy Ratushny" userId="08050032e8047aee" providerId="LiveId" clId="{78EB1A6D-D3A9-4525-A4D5-A50D4E20D487}" dt="2026-07-29T12:44:06.558" v="2391" actId="1076"/>
          <ac:picMkLst>
            <pc:docMk/>
            <pc:sldMk cId="0" sldId="261"/>
            <ac:picMk id="4" creationId="{00000000-0000-0000-0000-000000000000}"/>
          </ac:picMkLst>
        </pc:picChg>
        <pc:picChg chg="add del mod">
          <ac:chgData name="Dmitriy Ratushny" userId="08050032e8047aee" providerId="LiveId" clId="{78EB1A6D-D3A9-4525-A4D5-A50D4E20D487}" dt="2026-07-29T12:35:12.480" v="2265" actId="478"/>
          <ac:picMkLst>
            <pc:docMk/>
            <pc:sldMk cId="0" sldId="261"/>
            <ac:picMk id="7" creationId="{989B4BEC-82C1-D8F5-B42B-DE4CA80E73FE}"/>
          </ac:picMkLst>
        </pc:picChg>
        <pc:picChg chg="add del mod">
          <ac:chgData name="Dmitriy Ratushny" userId="08050032e8047aee" providerId="LiveId" clId="{78EB1A6D-D3A9-4525-A4D5-A50D4E20D487}" dt="2026-07-29T12:40:20.235" v="2338" actId="478"/>
          <ac:picMkLst>
            <pc:docMk/>
            <pc:sldMk cId="0" sldId="261"/>
            <ac:picMk id="9" creationId="{AC078ECF-97B9-D617-4209-FCCDA9079EAF}"/>
          </ac:picMkLst>
        </pc:picChg>
        <pc:picChg chg="add mod modCrop">
          <ac:chgData name="Dmitriy Ratushny" userId="08050032e8047aee" providerId="LiveId" clId="{78EB1A6D-D3A9-4525-A4D5-A50D4E20D487}" dt="2026-07-29T12:44:10.995" v="2392" actId="1076"/>
          <ac:picMkLst>
            <pc:docMk/>
            <pc:sldMk cId="0" sldId="261"/>
            <ac:picMk id="11" creationId="{D9478685-84BF-2555-1422-7F7ACAB891D9}"/>
          </ac:picMkLst>
        </pc:picChg>
        <pc:picChg chg="add del mod">
          <ac:chgData name="Dmitriy Ratushny" userId="08050032e8047aee" providerId="LiveId" clId="{78EB1A6D-D3A9-4525-A4D5-A50D4E20D487}" dt="2026-07-29T12:39:40.095" v="2307" actId="22"/>
          <ac:picMkLst>
            <pc:docMk/>
            <pc:sldMk cId="0" sldId="261"/>
            <ac:picMk id="13" creationId="{41F7F728-083D-E261-5219-EE4799768DBC}"/>
          </ac:picMkLst>
        </pc:picChg>
        <pc:picChg chg="add mod">
          <ac:chgData name="Dmitriy Ratushny" userId="08050032e8047aee" providerId="LiveId" clId="{78EB1A6D-D3A9-4525-A4D5-A50D4E20D487}" dt="2026-07-29T12:43:58.821" v="2389" actId="1076"/>
          <ac:picMkLst>
            <pc:docMk/>
            <pc:sldMk cId="0" sldId="261"/>
            <ac:picMk id="15" creationId="{3A739226-CB47-DDA5-CE8E-5B5A1839E840}"/>
          </ac:picMkLst>
        </pc:picChg>
      </pc:sldChg>
      <pc:sldChg chg="addSp delSp modSp mod">
        <pc:chgData name="Dmitriy Ratushny" userId="08050032e8047aee" providerId="LiveId" clId="{78EB1A6D-D3A9-4525-A4D5-A50D4E20D487}" dt="2026-07-29T13:23:39.412" v="2944" actId="1076"/>
        <pc:sldMkLst>
          <pc:docMk/>
          <pc:sldMk cId="0" sldId="262"/>
        </pc:sldMkLst>
        <pc:spChg chg="mod">
          <ac:chgData name="Dmitriy Ratushny" userId="08050032e8047aee" providerId="LiveId" clId="{78EB1A6D-D3A9-4525-A4D5-A50D4E20D487}" dt="2026-07-29T12:18:14.207" v="2148" actId="21"/>
          <ac:spMkLst>
            <pc:docMk/>
            <pc:sldMk cId="0" sldId="262"/>
            <ac:spMk id="2" creationId="{00000000-0000-0000-0000-000000000000}"/>
          </ac:spMkLst>
        </pc:spChg>
        <pc:spChg chg="mod">
          <ac:chgData name="Dmitriy Ratushny" userId="08050032e8047aee" providerId="LiveId" clId="{78EB1A6D-D3A9-4525-A4D5-A50D4E20D487}" dt="2026-07-29T13:23:39.412" v="2944" actId="1076"/>
          <ac:spMkLst>
            <pc:docMk/>
            <pc:sldMk cId="0" sldId="262"/>
            <ac:spMk id="5" creationId="{00000000-0000-0000-0000-000000000000}"/>
          </ac:spMkLst>
        </pc:spChg>
        <pc:picChg chg="add del mod">
          <ac:chgData name="Dmitriy Ratushny" userId="08050032e8047aee" providerId="LiveId" clId="{78EB1A6D-D3A9-4525-A4D5-A50D4E20D487}" dt="2026-07-29T13:23:05.261" v="2936" actId="478"/>
          <ac:picMkLst>
            <pc:docMk/>
            <pc:sldMk cId="0" sldId="262"/>
            <ac:picMk id="4" creationId="{00000000-0000-0000-0000-000000000000}"/>
          </ac:picMkLst>
        </pc:picChg>
        <pc:picChg chg="add del mod modCrop">
          <ac:chgData name="Dmitriy Ratushny" userId="08050032e8047aee" providerId="LiveId" clId="{78EB1A6D-D3A9-4525-A4D5-A50D4E20D487}" dt="2026-07-29T13:10:32.502" v="2855" actId="22"/>
          <ac:picMkLst>
            <pc:docMk/>
            <pc:sldMk cId="0" sldId="262"/>
            <ac:picMk id="7" creationId="{20B3470F-8F09-7BE4-1522-0C096A5A4A2B}"/>
          </ac:picMkLst>
        </pc:picChg>
        <pc:picChg chg="add mod">
          <ac:chgData name="Dmitriy Ratushny" userId="08050032e8047aee" providerId="LiveId" clId="{78EB1A6D-D3A9-4525-A4D5-A50D4E20D487}" dt="2026-07-29T13:16:21.699" v="2866" actId="1076"/>
          <ac:picMkLst>
            <pc:docMk/>
            <pc:sldMk cId="0" sldId="262"/>
            <ac:picMk id="9" creationId="{EE34B78E-69C8-C210-CBE4-DCFCFA91AFED}"/>
          </ac:picMkLst>
        </pc:picChg>
        <pc:picChg chg="add mod">
          <ac:chgData name="Dmitriy Ratushny" userId="08050032e8047aee" providerId="LiveId" clId="{78EB1A6D-D3A9-4525-A4D5-A50D4E20D487}" dt="2026-07-29T13:23:14.188" v="2940" actId="1076"/>
          <ac:picMkLst>
            <pc:docMk/>
            <pc:sldMk cId="0" sldId="262"/>
            <ac:picMk id="11" creationId="{AD950E2A-4BCA-F823-06CD-8AE5F2C59ADE}"/>
          </ac:picMkLst>
        </pc:picChg>
      </pc:sldChg>
      <pc:sldChg chg="addSp delSp modSp mod">
        <pc:chgData name="Dmitriy Ratushny" userId="08050032e8047aee" providerId="LiveId" clId="{78EB1A6D-D3A9-4525-A4D5-A50D4E20D487}" dt="2026-07-29T13:37:40.697" v="3026" actId="22"/>
        <pc:sldMkLst>
          <pc:docMk/>
          <pc:sldMk cId="0" sldId="263"/>
        </pc:sldMkLst>
        <pc:spChg chg="mod">
          <ac:chgData name="Dmitriy Ratushny" userId="08050032e8047aee" providerId="LiveId" clId="{78EB1A6D-D3A9-4525-A4D5-A50D4E20D487}" dt="2026-07-29T13:03:35.038" v="2730" actId="207"/>
          <ac:spMkLst>
            <pc:docMk/>
            <pc:sldMk cId="0" sldId="263"/>
            <ac:spMk id="2" creationId="{00000000-0000-0000-0000-000000000000}"/>
          </ac:spMkLst>
        </pc:spChg>
        <pc:spChg chg="mod">
          <ac:chgData name="Dmitriy Ratushny" userId="08050032e8047aee" providerId="LiveId" clId="{78EB1A6D-D3A9-4525-A4D5-A50D4E20D487}" dt="2026-07-29T13:37:39.531" v="3023" actId="20577"/>
          <ac:spMkLst>
            <pc:docMk/>
            <pc:sldMk cId="0" sldId="263"/>
            <ac:spMk id="5" creationId="{00000000-0000-0000-0000-000000000000}"/>
          </ac:spMkLst>
        </pc:spChg>
        <pc:spChg chg="mod">
          <ac:chgData name="Dmitriy Ratushny" userId="08050032e8047aee" providerId="LiveId" clId="{78EB1A6D-D3A9-4525-A4D5-A50D4E20D487}" dt="2026-07-29T13:37:38.535" v="3019" actId="1076"/>
          <ac:spMkLst>
            <pc:docMk/>
            <pc:sldMk cId="0" sldId="263"/>
            <ac:spMk id="6" creationId="{00000000-0000-0000-0000-000000000000}"/>
          </ac:spMkLst>
        </pc:spChg>
        <pc:spChg chg="del">
          <ac:chgData name="Dmitriy Ratushny" userId="08050032e8047aee" providerId="LiveId" clId="{78EB1A6D-D3A9-4525-A4D5-A50D4E20D487}" dt="2026-07-29T13:31:44.968" v="3008" actId="478"/>
          <ac:spMkLst>
            <pc:docMk/>
            <pc:sldMk cId="0" sldId="263"/>
            <ac:spMk id="7" creationId="{00000000-0000-0000-0000-000000000000}"/>
          </ac:spMkLst>
        </pc:spChg>
        <pc:spChg chg="add mod">
          <ac:chgData name="Dmitriy Ratushny" userId="08050032e8047aee" providerId="LiveId" clId="{78EB1A6D-D3A9-4525-A4D5-A50D4E20D487}" dt="2026-07-29T13:29:51.835" v="3006" actId="14100"/>
          <ac:spMkLst>
            <pc:docMk/>
            <pc:sldMk cId="0" sldId="263"/>
            <ac:spMk id="8" creationId="{12C611BC-1707-F619-DD30-259262FFA0D2}"/>
          </ac:spMkLst>
        </pc:spChg>
        <pc:picChg chg="add del mod">
          <ac:chgData name="Dmitriy Ratushny" userId="08050032e8047aee" providerId="LiveId" clId="{78EB1A6D-D3A9-4525-A4D5-A50D4E20D487}" dt="2026-07-29T13:37:40.697" v="3026" actId="22"/>
          <ac:picMkLst>
            <pc:docMk/>
            <pc:sldMk cId="0" sldId="263"/>
            <ac:picMk id="10" creationId="{E7FB8800-1062-9A37-EE8A-C1D5F26BFB26}"/>
          </ac:picMkLst>
        </pc:picChg>
      </pc:sldChg>
      <pc:sldChg chg="modSp mod">
        <pc:chgData name="Dmitriy Ratushny" userId="08050032e8047aee" providerId="LiveId" clId="{78EB1A6D-D3A9-4525-A4D5-A50D4E20D487}" dt="2026-07-29T13:46:55.803" v="3027"/>
        <pc:sldMkLst>
          <pc:docMk/>
          <pc:sldMk cId="0" sldId="264"/>
        </pc:sldMkLst>
        <pc:spChg chg="mod">
          <ac:chgData name="Dmitriy Ratushny" userId="08050032e8047aee" providerId="LiveId" clId="{78EB1A6D-D3A9-4525-A4D5-A50D4E20D487}" dt="2026-07-29T13:03:14.930" v="2708" actId="6549"/>
          <ac:spMkLst>
            <pc:docMk/>
            <pc:sldMk cId="0" sldId="264"/>
            <ac:spMk id="2" creationId="{00000000-0000-0000-0000-000000000000}"/>
          </ac:spMkLst>
        </pc:spChg>
        <pc:spChg chg="mod">
          <ac:chgData name="Dmitriy Ratushny" userId="08050032e8047aee" providerId="LiveId" clId="{78EB1A6D-D3A9-4525-A4D5-A50D4E20D487}" dt="2026-07-29T13:46:55.803" v="3027"/>
          <ac:spMkLst>
            <pc:docMk/>
            <pc:sldMk cId="0" sldId="264"/>
            <ac:spMk id="5" creationId="{00000000-0000-0000-0000-000000000000}"/>
          </ac:spMkLst>
        </pc:spChg>
      </pc:sldChg>
      <pc:sldChg chg="modSp mod">
        <pc:chgData name="Dmitriy Ratushny" userId="08050032e8047aee" providerId="LiveId" clId="{78EB1A6D-D3A9-4525-A4D5-A50D4E20D487}" dt="2026-07-29T13:04:05.667" v="2732" actId="108"/>
        <pc:sldMkLst>
          <pc:docMk/>
          <pc:sldMk cId="0" sldId="265"/>
        </pc:sldMkLst>
        <pc:spChg chg="mod">
          <ac:chgData name="Dmitriy Ratushny" userId="08050032e8047aee" providerId="LiveId" clId="{78EB1A6D-D3A9-4525-A4D5-A50D4E20D487}" dt="2026-07-29T13:04:05.667" v="2732" actId="108"/>
          <ac:spMkLst>
            <pc:docMk/>
            <pc:sldMk cId="0" sldId="265"/>
            <ac:spMk id="2" creationId="{00000000-0000-0000-0000-000000000000}"/>
          </ac:spMkLst>
        </pc:spChg>
      </pc:sldChg>
      <pc:sldChg chg="modSp mod">
        <pc:chgData name="Dmitriy Ratushny" userId="08050032e8047aee" providerId="LiveId" clId="{78EB1A6D-D3A9-4525-A4D5-A50D4E20D487}" dt="2026-07-29T13:04:49.312" v="2752" actId="207"/>
        <pc:sldMkLst>
          <pc:docMk/>
          <pc:sldMk cId="0" sldId="266"/>
        </pc:sldMkLst>
        <pc:spChg chg="mod">
          <ac:chgData name="Dmitriy Ratushny" userId="08050032e8047aee" providerId="LiveId" clId="{78EB1A6D-D3A9-4525-A4D5-A50D4E20D487}" dt="2026-07-29T13:04:49.312" v="2752" actId="207"/>
          <ac:spMkLst>
            <pc:docMk/>
            <pc:sldMk cId="0" sldId="266"/>
            <ac:spMk id="2" creationId="{00000000-0000-0000-0000-000000000000}"/>
          </ac:spMkLst>
        </pc:spChg>
      </pc:sldChg>
      <pc:sldChg chg="modSp mod">
        <pc:chgData name="Dmitriy Ratushny" userId="08050032e8047aee" providerId="LiveId" clId="{78EB1A6D-D3A9-4525-A4D5-A50D4E20D487}" dt="2026-07-29T13:04:57.467" v="2764" actId="207"/>
        <pc:sldMkLst>
          <pc:docMk/>
          <pc:sldMk cId="0" sldId="267"/>
        </pc:sldMkLst>
        <pc:spChg chg="mod">
          <ac:chgData name="Dmitriy Ratushny" userId="08050032e8047aee" providerId="LiveId" clId="{78EB1A6D-D3A9-4525-A4D5-A50D4E20D487}" dt="2026-07-29T13:04:57.467" v="2764" actId="207"/>
          <ac:spMkLst>
            <pc:docMk/>
            <pc:sldMk cId="0" sldId="267"/>
            <ac:spMk id="2" creationId="{00000000-0000-0000-0000-000000000000}"/>
          </ac:spMkLst>
        </pc:spChg>
      </pc:sldChg>
      <pc:sldChg chg="modSp mod">
        <pc:chgData name="Dmitriy Ratushny" userId="08050032e8047aee" providerId="LiveId" clId="{78EB1A6D-D3A9-4525-A4D5-A50D4E20D487}" dt="2026-07-29T13:05:04.462" v="2776" actId="207"/>
        <pc:sldMkLst>
          <pc:docMk/>
          <pc:sldMk cId="0" sldId="268"/>
        </pc:sldMkLst>
        <pc:spChg chg="mod">
          <ac:chgData name="Dmitriy Ratushny" userId="08050032e8047aee" providerId="LiveId" clId="{78EB1A6D-D3A9-4525-A4D5-A50D4E20D487}" dt="2026-07-29T13:05:04.462" v="2776" actId="207"/>
          <ac:spMkLst>
            <pc:docMk/>
            <pc:sldMk cId="0" sldId="268"/>
            <ac:spMk id="2" creationId="{00000000-0000-0000-0000-000000000000}"/>
          </ac:spMkLst>
        </pc:spChg>
      </pc:sldChg>
      <pc:sldChg chg="addSp delSp modSp new mod">
        <pc:chgData name="Dmitriy Ratushny" userId="08050032e8047aee" providerId="LiveId" clId="{78EB1A6D-D3A9-4525-A4D5-A50D4E20D487}" dt="2026-07-29T11:26:45.518" v="1890" actId="20577"/>
        <pc:sldMkLst>
          <pc:docMk/>
          <pc:sldMk cId="727656364" sldId="272"/>
        </pc:sldMkLst>
        <pc:spChg chg="add mod">
          <ac:chgData name="Dmitriy Ratushny" userId="08050032e8047aee" providerId="LiveId" clId="{78EB1A6D-D3A9-4525-A4D5-A50D4E20D487}" dt="2026-07-29T11:26:45.518" v="1890" actId="20577"/>
          <ac:spMkLst>
            <pc:docMk/>
            <pc:sldMk cId="727656364" sldId="272"/>
            <ac:spMk id="3" creationId="{502800D6-974F-2F17-A52E-0A306D35DF0C}"/>
          </ac:spMkLst>
        </pc:spChg>
        <pc:spChg chg="add del">
          <ac:chgData name="Dmitriy Ratushny" userId="08050032e8047aee" providerId="LiveId" clId="{78EB1A6D-D3A9-4525-A4D5-A50D4E20D487}" dt="2026-07-29T04:32:12.401" v="1623" actId="22"/>
          <ac:spMkLst>
            <pc:docMk/>
            <pc:sldMk cId="727656364" sldId="272"/>
            <ac:spMk id="4" creationId="{ADD1133A-118A-E00D-C649-50786DE58214}"/>
          </ac:spMkLst>
        </pc:spChg>
        <pc:spChg chg="add">
          <ac:chgData name="Dmitriy Ratushny" userId="08050032e8047aee" providerId="LiveId" clId="{78EB1A6D-D3A9-4525-A4D5-A50D4E20D487}" dt="2026-07-29T03:53:25.069" v="1505" actId="22"/>
          <ac:spMkLst>
            <pc:docMk/>
            <pc:sldMk cId="727656364" sldId="272"/>
            <ac:spMk id="5" creationId="{CA970AC4-91F5-08BB-443D-4F894B789C96}"/>
          </ac:spMkLst>
        </pc:spChg>
        <pc:spChg chg="add">
          <ac:chgData name="Dmitriy Ratushny" userId="08050032e8047aee" providerId="LiveId" clId="{78EB1A6D-D3A9-4525-A4D5-A50D4E20D487}" dt="2026-07-29T03:53:25.069" v="1505" actId="22"/>
          <ac:spMkLst>
            <pc:docMk/>
            <pc:sldMk cId="727656364" sldId="272"/>
            <ac:spMk id="7" creationId="{9F1B9989-6A7C-C50E-2B6A-E012B6E3A475}"/>
          </ac:spMkLst>
        </pc:spChg>
      </pc:sldChg>
      <pc:sldChg chg="modSp add mod">
        <pc:chgData name="Dmitriy Ratushny" userId="08050032e8047aee" providerId="LiveId" clId="{78EB1A6D-D3A9-4525-A4D5-A50D4E20D487}" dt="2026-07-29T04:34:24.604" v="1631" actId="1076"/>
        <pc:sldMkLst>
          <pc:docMk/>
          <pc:sldMk cId="0" sldId="273"/>
        </pc:sldMkLst>
        <pc:spChg chg="mod">
          <ac:chgData name="Dmitriy Ratushny" userId="08050032e8047aee" providerId="LiveId" clId="{78EB1A6D-D3A9-4525-A4D5-A50D4E20D487}" dt="2026-07-29T04:34:16.235" v="1629"/>
          <ac:spMkLst>
            <pc:docMk/>
            <pc:sldMk cId="0" sldId="273"/>
            <ac:spMk id="2" creationId="{00000000-0000-0000-0000-000000000000}"/>
          </ac:spMkLst>
        </pc:spChg>
        <pc:spChg chg="mod">
          <ac:chgData name="Dmitriy Ratushny" userId="08050032e8047aee" providerId="LiveId" clId="{78EB1A6D-D3A9-4525-A4D5-A50D4E20D487}" dt="2026-07-29T04:34:21.479" v="1630" actId="1076"/>
          <ac:spMkLst>
            <pc:docMk/>
            <pc:sldMk cId="0" sldId="273"/>
            <ac:spMk id="3" creationId="{00000000-0000-0000-0000-000000000000}"/>
          </ac:spMkLst>
        </pc:spChg>
        <pc:picChg chg="mod">
          <ac:chgData name="Dmitriy Ratushny" userId="08050032e8047aee" providerId="LiveId" clId="{78EB1A6D-D3A9-4525-A4D5-A50D4E20D487}" dt="2026-07-29T04:34:24.604" v="1631" actId="1076"/>
          <ac:picMkLst>
            <pc:docMk/>
            <pc:sldMk cId="0" sldId="273"/>
            <ac:picMk id="4" creationId="{00000000-0000-0000-0000-000000000000}"/>
          </ac:picMkLst>
        </pc:picChg>
      </pc:sldChg>
      <pc:sldChg chg="add del">
        <pc:chgData name="Dmitriy Ratushny" userId="08050032e8047aee" providerId="LiveId" clId="{78EB1A6D-D3A9-4525-A4D5-A50D4E20D487}" dt="2026-07-29T12:01:40.979" v="1935" actId="47"/>
        <pc:sldMkLst>
          <pc:docMk/>
          <pc:sldMk cId="0" sldId="274"/>
        </pc:sldMkLst>
      </pc:sldChg>
      <pc:sldChg chg="modSp add del mod">
        <pc:chgData name="Dmitriy Ratushny" userId="08050032e8047aee" providerId="LiveId" clId="{78EB1A6D-D3A9-4525-A4D5-A50D4E20D487}" dt="2026-07-29T11:59:15.942" v="1933" actId="47"/>
        <pc:sldMkLst>
          <pc:docMk/>
          <pc:sldMk cId="0" sldId="275"/>
        </pc:sldMkLst>
        <pc:spChg chg="mod">
          <ac:chgData name="Dmitriy Ratushny" userId="08050032e8047aee" providerId="LiveId" clId="{78EB1A6D-D3A9-4525-A4D5-A50D4E20D487}" dt="2026-07-29T11:52:01.754" v="1927" actId="20577"/>
          <ac:spMkLst>
            <pc:docMk/>
            <pc:sldMk cId="0" sldId="275"/>
            <ac:spMk id="2" creationId="{00000000-0000-0000-0000-000000000000}"/>
          </ac:spMkLst>
        </pc:spChg>
      </pc:sldChg>
      <pc:sldChg chg="delSp modSp add del mod">
        <pc:chgData name="Dmitriy Ratushny" userId="08050032e8047aee" providerId="LiveId" clId="{78EB1A6D-D3A9-4525-A4D5-A50D4E20D487}" dt="2026-07-29T12:10:32.324" v="1976" actId="1076"/>
        <pc:sldMkLst>
          <pc:docMk/>
          <pc:sldMk cId="0" sldId="276"/>
        </pc:sldMkLst>
        <pc:spChg chg="del mod">
          <ac:chgData name="Dmitriy Ratushny" userId="08050032e8047aee" providerId="LiveId" clId="{78EB1A6D-D3A9-4525-A4D5-A50D4E20D487}" dt="2026-07-29T12:09:56.344" v="1959" actId="478"/>
          <ac:spMkLst>
            <pc:docMk/>
            <pc:sldMk cId="0" sldId="276"/>
            <ac:spMk id="5" creationId="{00000000-0000-0000-0000-000000000000}"/>
          </ac:spMkLst>
        </pc:spChg>
        <pc:spChg chg="mod">
          <ac:chgData name="Dmitriy Ratushny" userId="08050032e8047aee" providerId="LiveId" clId="{78EB1A6D-D3A9-4525-A4D5-A50D4E20D487}" dt="2026-07-29T12:10:18.255" v="1972" actId="1076"/>
          <ac:spMkLst>
            <pc:docMk/>
            <pc:sldMk cId="0" sldId="276"/>
            <ac:spMk id="6" creationId="{00000000-0000-0000-0000-000000000000}"/>
          </ac:spMkLst>
        </pc:spChg>
        <pc:picChg chg="mod">
          <ac:chgData name="Dmitriy Ratushny" userId="08050032e8047aee" providerId="LiveId" clId="{78EB1A6D-D3A9-4525-A4D5-A50D4E20D487}" dt="2026-07-29T12:10:32.324" v="1976" actId="1076"/>
          <ac:picMkLst>
            <pc:docMk/>
            <pc:sldMk cId="0" sldId="276"/>
            <ac:picMk id="4" creationId="{00000000-0000-0000-0000-000000000000}"/>
          </ac:picMkLst>
        </pc:picChg>
      </pc:sldChg>
      <pc:sldChg chg="addSp delSp modSp add del mod">
        <pc:chgData name="Dmitriy Ratushny" userId="08050032e8047aee" providerId="LiveId" clId="{78EB1A6D-D3A9-4525-A4D5-A50D4E20D487}" dt="2026-07-29T12:27:23.616" v="2150" actId="47"/>
        <pc:sldMkLst>
          <pc:docMk/>
          <pc:sldMk cId="0" sldId="277"/>
        </pc:sldMkLst>
        <pc:spChg chg="del mod">
          <ac:chgData name="Dmitriy Ratushny" userId="08050032e8047aee" providerId="LiveId" clId="{78EB1A6D-D3A9-4525-A4D5-A50D4E20D487}" dt="2026-07-29T12:11:08.206" v="1977" actId="478"/>
          <ac:spMkLst>
            <pc:docMk/>
            <pc:sldMk cId="0" sldId="277"/>
            <ac:spMk id="5" creationId="{00000000-0000-0000-0000-000000000000}"/>
          </ac:spMkLst>
        </pc:spChg>
        <pc:spChg chg="add mod">
          <ac:chgData name="Dmitriy Ratushny" userId="08050032e8047aee" providerId="LiveId" clId="{78EB1A6D-D3A9-4525-A4D5-A50D4E20D487}" dt="2026-07-29T12:14:43.485" v="2145" actId="20577"/>
          <ac:spMkLst>
            <pc:docMk/>
            <pc:sldMk cId="0" sldId="277"/>
            <ac:spMk id="8" creationId="{03FA6BE2-C20B-E0BF-644E-235352149894}"/>
          </ac:spMkLst>
        </pc:spChg>
      </pc:sldChg>
      <pc:sldChg chg="addSp delSp modSp add mod">
        <pc:chgData name="Dmitriy Ratushny" userId="08050032e8047aee" providerId="LiveId" clId="{78EB1A6D-D3A9-4525-A4D5-A50D4E20D487}" dt="2026-07-29T13:46:55.803" v="3027"/>
        <pc:sldMkLst>
          <pc:docMk/>
          <pc:sldMk cId="0" sldId="278"/>
        </pc:sldMkLst>
        <pc:spChg chg="mod">
          <ac:chgData name="Dmitriy Ratushny" userId="08050032e8047aee" providerId="LiveId" clId="{78EB1A6D-D3A9-4525-A4D5-A50D4E20D487}" dt="2026-07-29T12:58:36.164" v="2687" actId="20577"/>
          <ac:spMkLst>
            <pc:docMk/>
            <pc:sldMk cId="0" sldId="278"/>
            <ac:spMk id="2" creationId="{00000000-0000-0000-0000-000000000000}"/>
          </ac:spMkLst>
        </pc:spChg>
        <pc:spChg chg="mod">
          <ac:chgData name="Dmitriy Ratushny" userId="08050032e8047aee" providerId="LiveId" clId="{78EB1A6D-D3A9-4525-A4D5-A50D4E20D487}" dt="2026-07-29T13:46:55.803" v="3027"/>
          <ac:spMkLst>
            <pc:docMk/>
            <pc:sldMk cId="0" sldId="278"/>
            <ac:spMk id="5" creationId="{00000000-0000-0000-0000-000000000000}"/>
          </ac:spMkLst>
        </pc:spChg>
        <pc:spChg chg="del">
          <ac:chgData name="Dmitriy Ratushny" userId="08050032e8047aee" providerId="LiveId" clId="{78EB1A6D-D3A9-4525-A4D5-A50D4E20D487}" dt="2026-07-29T12:58:11.629" v="2607" actId="478"/>
          <ac:spMkLst>
            <pc:docMk/>
            <pc:sldMk cId="0" sldId="278"/>
            <ac:spMk id="6" creationId="{00000000-0000-0000-0000-000000000000}"/>
          </ac:spMkLst>
        </pc:spChg>
        <pc:graphicFrameChg chg="add del mod modGraphic">
          <ac:chgData name="Dmitriy Ratushny" userId="08050032e8047aee" providerId="LiveId" clId="{78EB1A6D-D3A9-4525-A4D5-A50D4E20D487}" dt="2026-07-29T12:52:27.964" v="2531" actId="478"/>
          <ac:graphicFrameMkLst>
            <pc:docMk/>
            <pc:sldMk cId="0" sldId="278"/>
            <ac:graphicFrameMk id="7" creationId="{8F69452C-4A1F-7480-655D-B13E379593C2}"/>
          </ac:graphicFrameMkLst>
        </pc:graphicFrameChg>
        <pc:picChg chg="mod modCrop">
          <ac:chgData name="Dmitriy Ratushny" userId="08050032e8047aee" providerId="LiveId" clId="{78EB1A6D-D3A9-4525-A4D5-A50D4E20D487}" dt="2026-07-29T13:01:20.506" v="2689" actId="1076"/>
          <ac:picMkLst>
            <pc:docMk/>
            <pc:sldMk cId="0" sldId="278"/>
            <ac:picMk id="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318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Thirty to forty minutes, five parts, following the brief. I say the headline up front because the value of this work is in proving the negatives properly and in what we do anyway.</a:t>
            </a:r>
          </a:p>
          <a:p>
            <a:endParaRPr/>
          </a:p>
          <a:p>
            <a:r>
              <a:t>The second clause is the part to sit on if there is only time for one thing. The strongest result I had — churn accelerating through 2024, p = 2e-16 — is reproduced exactly by a simulation containing nothing but a random number generator. Slide 11 is that test. Finding it is the piece of work I would most want to be judged 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the target problem. Along with slide 11 it is the most valuable thing here, and it shows the instinct to check the label before fitting anything.</a:t>
            </a:r>
          </a:p>
          <a:p>
            <a:endParaRPr/>
          </a:p>
          <a:p>
            <a:r>
              <a:t>If challenged on the 188: the point is not that agreement is low, it is that it is exactly what chance produces. The flag fires for 22% of customers and the event log for 70%, so two unrelated columns agree 38.6% of the time. We observe 37.6%. Cohen's kappa is -0.02, where 0 means unrelated, and chi-square gives p = 0.56.</a:t>
            </a:r>
          </a:p>
          <a:p>
            <a:endParaRPr/>
          </a:p>
          <a:p>
            <a:r>
              <a:t>Pre-empt the obvious follow-up: 'so invert the flag and you get 62%'. No. Inverted it scores 62.4% against 61.4% expected by chance, kappa +0.03. There is no information in it either way round.</a:t>
            </a:r>
          </a:p>
          <a:p>
            <a:endParaRPr/>
          </a:p>
          <a:p>
            <a:r>
              <a:t>The subscription line is the strongest part because it never touches the flag: 386 churn events can be compared to a subscription ending, and only 6 land on the same day. Median gap 62 days. All three recordings of 'this customer left' are mutually unrelated.</a:t>
            </a:r>
          </a:p>
          <a:p>
            <a:endParaRPr/>
          </a:p>
          <a:p>
            <a:r>
              <a:t>Computed in src/audit.py by label_source_agreement and churn_date_coherence, and shown in notebooks 01 and 10.</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slide to open with if anyone asks what the data looks like.</a:t>
            </a:r>
          </a:p>
          <a:p>
            <a:endParaRPr/>
          </a:p>
          <a:p>
            <a:r>
              <a:t>Read the arrows, not the boxes. Referential integrity is perfect: every subscription_id in feature_usage resolves, every account_id in support_tickets and churn_events resolves, and no contract predates its account. A schema check passes cleanly, which is why a cleaning pipeline does not catch this — and the other published analysis of this dataset ran one and reported nothing.</a:t>
            </a:r>
          </a:p>
          <a:p>
            <a:endParaRPr/>
          </a:p>
          <a:p>
            <a:r>
              <a:t>What fails is temporal integrity, and nothing in a data dictionary tests it. 13,198 of 25,000 usage rows and 1,077 of 2,000 tickets are dated before their customer signed up. Correlation between event date and signup date is 0.002 and 0.016. Every behavioural feature in the model is built from those two tables.</a:t>
            </a:r>
          </a:p>
          <a:p>
            <a:endParaRPr/>
          </a:p>
          <a:p>
            <a:r>
              <a:t>The left column of the read-out is every check a reviewer would ask for. The right column is why passing them settles nothing.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conventional univariate pass, in the conventional order: distributions, then categorical frequencies, then missingness. Every panel names the table and column it came from.</a:t>
            </a:r>
          </a:p>
          <a:p>
            <a:endParaRPr/>
          </a:p>
          <a:p>
            <a:r>
              <a:t>What to point at. Spend and seats look like real billing data — right-skewed, long tail, median $931 and 15 seats. Tickets and usage do not: tickets run 1 to 11 with a median of 4, usage 10 to 101 with a median of 50. No power law, no heavy users, no dormant accounts. That shape is a per-customer draw, not behaviour.</a:t>
            </a:r>
          </a:p>
          <a:p>
            <a:endParaRPr/>
          </a:p>
          <a:p>
            <a:r>
              <a:t>The dashed line on each categorical is what an even split would be. Plan, industry and referral source sit near it, which is unremarkable on 500 customers. Ticket priority and churn reason sit on it exactly, and those are the two that should not — urgent tickets are rare in every support organisation, and churn reasons always have a dominant category.</a:t>
            </a:r>
          </a:p>
          <a:p>
            <a:endParaRPr/>
          </a:p>
          <a:p>
            <a:r>
              <a:t>Missingness: only three columns have any. end_date is missing for 90% because contracts never end. satisfaction_score is missing for 41% and takes only 3, 4 and 5 when present, so both the value and its absence are degenerate. Nothing is imputed — a missing satisfaction score means the ticket was not rated, which is information, and filling it would invent a rating.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Replaces both the bar charts and an earlier version built on confidence intervals. Intervals show precision but do not perform the test, and reading significance off whether they cross a line disagreed with the actual test — Cybersecurity's interval excluded the base rate while industry sat at p = 0.08.</a:t>
            </a:r>
          </a:p>
          <a:p>
            <a:endParaRPr/>
          </a:p>
          <a:p>
            <a:r>
              <a:t>This does the test directly, with no formula and no distributional assumption. Shuffle the labels, keep the group sizes, recompute the statistic, repeat.</a:t>
            </a:r>
          </a:p>
          <a:p>
            <a:endParaRPr/>
          </a:p>
          <a:p>
            <a:r>
              <a:t>The last row is the slide. Industry at p = 0.03 is exactly the finding I would have reported if I had stopped there, and it is the same mistake the deck later catches on the calendar-hazard result: testing against the wrong null. Volunteer it rather than waiting to be asked.</a:t>
            </a:r>
          </a:p>
          <a:p>
            <a:endParaRPr/>
          </a:p>
          <a:p>
            <a:r>
              <a:t>The last five variables come from subscriptions, the one table with internal rules, so a null there carries more weight than a null in the tables already known to be scrambled.</a:t>
            </a:r>
          </a:p>
          <a:p>
            <a:endParaRPr/>
          </a:p>
          <a:p>
            <a:r>
              <a:t>Per-variable p: industry 0.033, contract size 0.058, company size 0.098, tenure 0.118, referral 0.136, country 0.501, trial 0.543, billing 0.751, plan 0.863, downgrade 1.000. Family-wise 0.262 from 20,000 shuffles, seed 0, at the 30 June 2024 cutoff. Built by build/fig_segment_shuffle_html.py.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This is the slide I would want to be asked about.</a:t>
            </a:r>
          </a:p>
          <a:p>
            <a:endParaRPr/>
          </a:p>
          <a:p>
            <a:r>
              <a:t>How the artefact works: no churn date can land after 2024-12-31. If each is drawn uniformly between signup and that boundary, the hazard is 1/(END - t), which rises without limit as t approaches the end. Pooled across accounts that signed up over two years, that is indistinguishable by eye from a business problem.</a:t>
            </a:r>
          </a:p>
          <a:p>
            <a:endParaRPr/>
          </a:p>
          <a:p>
            <a:r>
              <a:t>The evidence, in order. Rescale each churn date to its position in the account's own window: uniform, KS p = 0.92 on 600 events, mean position 0.503, and uniform inside every signup quarter. Then the simulation — keep each account's real signup date and real number of churn events, redraw only the dates, run the same survival.calendar_hazard used to produce the original claim, 400 times. Observed rate ratio 1.0893, null 1.0885 with a 95% band of [1.072, 1.106].</a:t>
            </a:r>
          </a:p>
          <a:p>
            <a:endParaRPr/>
          </a:p>
          <a:p>
            <a:r>
              <a:t>The p-value is the part worth dwelling on. p = 2e-16 felt like the most secure number I had. The null rule produces a median p of 2.8e-16 — very slightly more significant than the real data. A p-value tells you nothing about whether the null it tests is the one that matters.</a:t>
            </a:r>
          </a:p>
          <a:p>
            <a:endParaRPr/>
          </a:p>
          <a:p>
            <a:r>
              <a:t>If asked what I would have done differently: run this before writing the recommendation, not after. On any generated or vendor-supplied extract, simulate the file before trusting a time trend in it.</a:t>
            </a:r>
          </a:p>
          <a:p>
            <a:endParaRPr/>
          </a:p>
          <a:p>
            <a:r>
              <a:t>src/generator.py, notebook 16.</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194560"/>
            <a:ext cx="10820095" cy="2133918"/>
          </a:xfrm>
          <a:prstGeom prst="rect">
            <a:avLst/>
          </a:prstGeom>
          <a:noFill/>
        </p:spPr>
        <p:txBody>
          <a:bodyPr wrap="square">
            <a:spAutoFit/>
          </a:bodyPr>
          <a:lstStyle/>
          <a:p>
            <a:r>
              <a:rPr sz="4000" b="1" i="0" dirty="0">
                <a:solidFill>
                  <a:srgbClr val="1A1A1A"/>
                </a:solidFill>
                <a:latin typeface="Calibri"/>
              </a:rPr>
              <a:t>Why customers leave, and what to do about it</a:t>
            </a:r>
          </a:p>
          <a:p>
            <a:pPr>
              <a:spcBef>
                <a:spcPts val="1600"/>
              </a:spcBef>
            </a:pPr>
            <a:r>
              <a:rPr sz="1800" b="0" i="0" dirty="0">
                <a:solidFill>
                  <a:srgbClr val="5A6270"/>
                </a:solidFill>
                <a:latin typeface="Calibri"/>
              </a:rPr>
              <a:t>Senior ML Engineer case study. </a:t>
            </a:r>
            <a:r>
              <a:rPr sz="1800" b="0" i="0" dirty="0" err="1">
                <a:solidFill>
                  <a:srgbClr val="5A6270"/>
                </a:solidFill>
                <a:latin typeface="Calibri"/>
              </a:rPr>
              <a:t>RavenStack</a:t>
            </a:r>
            <a:r>
              <a:rPr sz="1800" b="0" i="0" dirty="0">
                <a:solidFill>
                  <a:srgbClr val="5A6270"/>
                </a:solidFill>
                <a:latin typeface="Calibri"/>
              </a:rPr>
              <a:t> subscription data: 500 customers across 5 tables.</a:t>
            </a:r>
          </a:p>
          <a:p>
            <a:pPr>
              <a:spcBef>
                <a:spcPts val="2800"/>
              </a:spcBef>
            </a:pPr>
            <a:r>
              <a:rPr lang="en-US" sz="1900" b="1" dirty="0">
                <a:solidFill>
                  <a:srgbClr val="2E5F8A"/>
                </a:solidFill>
              </a:rPr>
              <a:t>The short version: this data cannot predict who will leave. The one trend that looked real — churn rising through 2024 was invented by the dataset, not by customers. Three recommendations still follow.</a:t>
            </a:r>
            <a:endParaRPr sz="1900" b="1" i="0" dirty="0">
              <a:solidFill>
                <a:srgbClr val="2E5F8A"/>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1 · PROBLEM FRAMING</a:t>
            </a:r>
          </a:p>
          <a:p>
            <a:pPr>
              <a:spcBef>
                <a:spcPts val="400"/>
              </a:spcBef>
            </a:pPr>
            <a:r>
              <a:rPr sz="2800" b="1" i="0" dirty="0">
                <a:solidFill>
                  <a:srgbClr val="1A1A1A"/>
                </a:solidFill>
                <a:latin typeface="Calibri"/>
              </a:rPr>
              <a:t>The business problem</a:t>
            </a:r>
          </a:p>
        </p:txBody>
      </p:sp>
      <p:sp>
        <p:nvSpPr>
          <p:cNvPr id="3" name="Rectangle 2"/>
          <p:cNvSpPr/>
          <p:nvPr/>
        </p:nvSpPr>
        <p:spPr>
          <a:xfrm>
            <a:off x="685800" y="12105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799" y="1210564"/>
            <a:ext cx="10820095" cy="5555367"/>
          </a:xfrm>
          <a:prstGeom prst="rect">
            <a:avLst/>
          </a:prstGeom>
          <a:noFill/>
        </p:spPr>
        <p:txBody>
          <a:bodyPr wrap="square">
            <a:spAutoFit/>
          </a:bodyPr>
          <a:lstStyle/>
          <a:p>
            <a:pPr algn="just">
              <a:spcAft>
                <a:spcPts val="600"/>
              </a:spcAft>
            </a:pPr>
            <a:r>
              <a:rPr sz="1400" b="1" i="0" dirty="0">
                <a:solidFill>
                  <a:srgbClr val="1A1A1A"/>
                </a:solidFill>
                <a:latin typeface="Calibri"/>
              </a:rPr>
              <a:t>This work supports two decisions. Who should the success team call this quarter? What should the product team fix?</a:t>
            </a:r>
          </a:p>
          <a:p>
            <a:pPr algn="just">
              <a:spcAft>
                <a:spcPts val="600"/>
              </a:spcAft>
            </a:pPr>
            <a:r>
              <a:rPr sz="1400" b="0" i="0" dirty="0">
                <a:solidFill>
                  <a:srgbClr val="1A1A1A"/>
                </a:solidFill>
                <a:latin typeface="Calibri"/>
              </a:rPr>
              <a:t>Seven in ten customers leave in the end. The typical </a:t>
            </a:r>
            <a:r>
              <a:rPr lang="en-US" sz="1400" b="0" i="0" dirty="0">
                <a:solidFill>
                  <a:srgbClr val="1A1A1A"/>
                </a:solidFill>
                <a:latin typeface="Calibri"/>
              </a:rPr>
              <a:t>customer</a:t>
            </a:r>
            <a:r>
              <a:rPr sz="1400" b="0" i="0" dirty="0">
                <a:solidFill>
                  <a:srgbClr val="1A1A1A"/>
                </a:solidFill>
                <a:latin typeface="Calibri"/>
              </a:rPr>
              <a:t> pays $931 a month and is worth about $7,300.</a:t>
            </a:r>
          </a:p>
          <a:p>
            <a:pPr algn="just">
              <a:spcAft>
                <a:spcPts val="600"/>
              </a:spcAft>
            </a:pPr>
            <a:r>
              <a:rPr sz="600" b="0" i="0" dirty="0">
                <a:solidFill>
                  <a:srgbClr val="1A1A1A"/>
                </a:solidFill>
                <a:latin typeface="Calibri"/>
              </a:rPr>
              <a:t> </a:t>
            </a:r>
          </a:p>
          <a:p>
            <a:pPr algn="just">
              <a:spcAft>
                <a:spcPts val="600"/>
              </a:spcAft>
            </a:pPr>
            <a:r>
              <a:rPr sz="1400" b="1" i="0" dirty="0">
                <a:solidFill>
                  <a:srgbClr val="B02E2E"/>
                </a:solidFill>
                <a:latin typeface="Calibri"/>
              </a:rPr>
              <a:t>The churn flag</a:t>
            </a:r>
            <a:r>
              <a:rPr lang="en-US" sz="1400" b="1" dirty="0">
                <a:solidFill>
                  <a:srgbClr val="B02E2E"/>
                </a:solidFill>
              </a:rPr>
              <a:t> </a:t>
            </a:r>
            <a:r>
              <a:rPr lang="en-US" sz="1400" b="1" dirty="0">
                <a:solidFill>
                  <a:schemeClr val="tx2"/>
                </a:solidFill>
              </a:rPr>
              <a:t>accounts.churn_flag</a:t>
            </a:r>
            <a:r>
              <a:rPr sz="1400" b="1" i="0" dirty="0">
                <a:solidFill>
                  <a:srgbClr val="B02E2E"/>
                </a:solidFill>
                <a:latin typeface="Calibri"/>
              </a:rPr>
              <a:t> in the data cannot be used.</a:t>
            </a:r>
          </a:p>
          <a:p>
            <a:pPr marL="685800" lvl="1" indent="-228600" algn="just">
              <a:spcAft>
                <a:spcPts val="600"/>
              </a:spcAft>
              <a:buFont typeface="+mj-lt"/>
              <a:buAutoNum type="arabicPeriod"/>
            </a:pPr>
            <a:r>
              <a:rPr lang="en-US" sz="1200" b="1" dirty="0">
                <a:solidFill>
                  <a:schemeClr val="tx2"/>
                </a:solidFill>
              </a:rPr>
              <a:t>accounts.churn_flag</a:t>
            </a:r>
            <a:r>
              <a:rPr sz="1200" b="0" i="0" dirty="0">
                <a:solidFill>
                  <a:srgbClr val="5A6270"/>
                </a:solidFill>
                <a:latin typeface="Calibri"/>
              </a:rPr>
              <a:t> has no date. </a:t>
            </a:r>
            <a:r>
              <a:rPr lang="en-US" sz="1200" b="0" i="0" dirty="0">
                <a:solidFill>
                  <a:srgbClr val="5A6270"/>
                </a:solidFill>
                <a:latin typeface="Calibri"/>
              </a:rPr>
              <a:t>So,</a:t>
            </a:r>
            <a:r>
              <a:rPr sz="1200" b="0" i="0" dirty="0">
                <a:solidFill>
                  <a:srgbClr val="5A6270"/>
                </a:solidFill>
                <a:latin typeface="Calibri"/>
              </a:rPr>
              <a:t> we cannot ask whether a customer </a:t>
            </a:r>
            <a:r>
              <a:rPr lang="en-US" sz="1200" b="0" i="0" dirty="0">
                <a:solidFill>
                  <a:srgbClr val="5A6270"/>
                </a:solidFill>
                <a:latin typeface="Calibri"/>
              </a:rPr>
              <a:t>has</a:t>
            </a:r>
            <a:r>
              <a:rPr sz="1200" b="0" i="0" dirty="0">
                <a:solidFill>
                  <a:srgbClr val="5A6270"/>
                </a:solidFill>
                <a:latin typeface="Calibri"/>
              </a:rPr>
              <a:t> already left by any given day.</a:t>
            </a:r>
            <a:endParaRPr lang="en-US" sz="1200" b="0" i="0" dirty="0">
              <a:solidFill>
                <a:srgbClr val="5A6270"/>
              </a:solidFill>
              <a:latin typeface="Calibri"/>
            </a:endParaRPr>
          </a:p>
          <a:p>
            <a:pPr marL="685800" lvl="1" indent="-228600" algn="just">
              <a:spcAft>
                <a:spcPts val="600"/>
              </a:spcAft>
              <a:buFont typeface="+mj-lt"/>
              <a:buAutoNum type="arabicPeriod"/>
            </a:pPr>
            <a:r>
              <a:rPr lang="en-US" sz="1200" dirty="0">
                <a:solidFill>
                  <a:srgbClr val="5A6270"/>
                </a:solidFill>
              </a:rPr>
              <a:t>Churn is recorded three times - </a:t>
            </a:r>
            <a:r>
              <a:rPr lang="en-US" sz="1200" b="1" dirty="0">
                <a:solidFill>
                  <a:schemeClr val="tx2"/>
                </a:solidFill>
              </a:rPr>
              <a:t>accounts.churn_flag</a:t>
            </a:r>
            <a:r>
              <a:rPr lang="en-US" sz="1200" dirty="0">
                <a:solidFill>
                  <a:srgbClr val="5A6270"/>
                </a:solidFill>
              </a:rPr>
              <a:t>, </a:t>
            </a:r>
            <a:r>
              <a:rPr lang="en-US" sz="1200" b="1" dirty="0">
                <a:solidFill>
                  <a:schemeClr val="tx2"/>
                </a:solidFill>
              </a:rPr>
              <a:t>churn_events.churn_date</a:t>
            </a:r>
            <a:r>
              <a:rPr lang="en-US" sz="1200" dirty="0">
                <a:solidFill>
                  <a:srgbClr val="5A6270"/>
                </a:solidFill>
              </a:rPr>
              <a:t>, </a:t>
            </a:r>
            <a:r>
              <a:rPr lang="en-US" sz="1200" b="1" dirty="0">
                <a:solidFill>
                  <a:schemeClr val="tx2"/>
                </a:solidFill>
              </a:rPr>
              <a:t>subscriptions.end_date</a:t>
            </a:r>
            <a:r>
              <a:rPr lang="en-US" sz="1200" dirty="0">
                <a:solidFill>
                  <a:srgbClr val="5A6270"/>
                </a:solidFill>
              </a:rPr>
              <a:t> - and all three disagree.</a:t>
            </a:r>
            <a:endParaRPr sz="1200" b="0" i="0" dirty="0">
              <a:solidFill>
                <a:srgbClr val="5A6270"/>
              </a:solidFill>
              <a:latin typeface="Calibri"/>
            </a:endParaRPr>
          </a:p>
          <a:p>
            <a:pPr marL="685800" lvl="1" indent="-228600" algn="just">
              <a:spcAft>
                <a:spcPts val="600"/>
              </a:spcAft>
              <a:buFont typeface="+mj-lt"/>
              <a:buAutoNum type="arabicPeriod"/>
            </a:pPr>
            <a:r>
              <a:rPr lang="en-US" sz="1200" dirty="0"/>
              <a:t>Column</a:t>
            </a:r>
            <a:r>
              <a:rPr lang="en-US" sz="1200" b="1" dirty="0">
                <a:solidFill>
                  <a:schemeClr val="tx2"/>
                </a:solidFill>
              </a:rPr>
              <a:t> accounts.churn_flag</a:t>
            </a:r>
            <a:r>
              <a:rPr lang="en-US" sz="1200" dirty="0">
                <a:solidFill>
                  <a:srgbClr val="5A6270"/>
                </a:solidFill>
              </a:rPr>
              <a:t> asserts churn for 22% of customers; </a:t>
            </a:r>
            <a:r>
              <a:rPr lang="en-US" sz="1200" b="1" dirty="0">
                <a:solidFill>
                  <a:schemeClr val="tx2"/>
                </a:solidFill>
              </a:rPr>
              <a:t>churn_events</a:t>
            </a:r>
            <a:r>
              <a:rPr lang="en-US" sz="1200" dirty="0">
                <a:solidFill>
                  <a:srgbClr val="5A6270"/>
                </a:solidFill>
              </a:rPr>
              <a:t> asserts churn for 70% of customers. They agree on 188 of 500. Shuffle the </a:t>
            </a:r>
            <a:r>
              <a:rPr lang="en-US" sz="1200" b="1" dirty="0">
                <a:solidFill>
                  <a:schemeClr val="tx2"/>
                </a:solidFill>
              </a:rPr>
              <a:t>accounts.churn_flag</a:t>
            </a:r>
            <a:r>
              <a:rPr lang="en-US" sz="1200" dirty="0">
                <a:solidFill>
                  <a:srgbClr val="5A6270"/>
                </a:solidFill>
              </a:rPr>
              <a:t> at random and you would expect 193. The real column does no better than the shuffled one.</a:t>
            </a:r>
          </a:p>
          <a:p>
            <a:pPr marL="685800" lvl="1" indent="-228600" algn="just">
              <a:spcAft>
                <a:spcPts val="600"/>
              </a:spcAft>
              <a:buFont typeface="+mj-lt"/>
              <a:buAutoNum type="arabicPeriod"/>
            </a:pPr>
            <a:r>
              <a:rPr lang="en-US" sz="1200" dirty="0"/>
              <a:t>The</a:t>
            </a:r>
            <a:r>
              <a:rPr lang="en-US" sz="1200" b="1" dirty="0">
                <a:solidFill>
                  <a:schemeClr val="tx2"/>
                </a:solidFill>
              </a:rPr>
              <a:t> churn_events.churn_date</a:t>
            </a:r>
            <a:r>
              <a:rPr lang="en-US" sz="1200" dirty="0">
                <a:solidFill>
                  <a:srgbClr val="5A6270"/>
                </a:solidFill>
              </a:rPr>
              <a:t> and </a:t>
            </a:r>
            <a:r>
              <a:rPr lang="en-US" sz="1200" b="1" dirty="0">
                <a:solidFill>
                  <a:schemeClr val="tx2"/>
                </a:solidFill>
              </a:rPr>
              <a:t>subscriptions.end_date</a:t>
            </a:r>
            <a:r>
              <a:rPr lang="en-US" sz="1200" dirty="0">
                <a:solidFill>
                  <a:srgbClr val="5A6270"/>
                </a:solidFill>
              </a:rPr>
              <a:t> disagree too: of 386 matched pairs, 6 land on the same day. The usual gap is two months.</a:t>
            </a:r>
          </a:p>
          <a:p>
            <a:pPr algn="just">
              <a:spcAft>
                <a:spcPts val="600"/>
              </a:spcAft>
            </a:pPr>
            <a:r>
              <a:rPr lang="en-US" sz="600" b="0" i="0" dirty="0">
                <a:solidFill>
                  <a:srgbClr val="1A1A1A"/>
                </a:solidFill>
                <a:latin typeface="Calibri"/>
              </a:rPr>
              <a:t> </a:t>
            </a:r>
          </a:p>
          <a:p>
            <a:pPr algn="just">
              <a:spcAft>
                <a:spcPts val="600"/>
              </a:spcAft>
            </a:pPr>
            <a:r>
              <a:rPr lang="en-US" sz="1400" b="1" i="0" dirty="0">
                <a:solidFill>
                  <a:srgbClr val="1A1A1A"/>
                </a:solidFill>
                <a:latin typeface="Calibri"/>
              </a:rPr>
              <a:t>So, I rebuilt the target as a question with a date in it:</a:t>
            </a:r>
          </a:p>
          <a:p>
            <a:pPr marL="685800" lvl="1" indent="-228600" algn="just">
              <a:spcAft>
                <a:spcPts val="600"/>
              </a:spcAft>
              <a:buFont typeface="+mj-lt"/>
              <a:buAutoNum type="arabicPeriod"/>
            </a:pPr>
            <a:r>
              <a:rPr sz="1200" b="0" i="0" dirty="0">
                <a:solidFill>
                  <a:srgbClr val="5A6270"/>
                </a:solidFill>
                <a:latin typeface="Calibri"/>
              </a:rPr>
              <a:t>On each of four quarter-end dates, using only what we knew that day, will this customer leave in the next 90 days? </a:t>
            </a:r>
            <a:endParaRPr lang="en-US" sz="1200" b="0" i="0" dirty="0">
              <a:solidFill>
                <a:srgbClr val="5A6270"/>
              </a:solidFill>
              <a:latin typeface="Calibri"/>
            </a:endParaRPr>
          </a:p>
          <a:p>
            <a:pPr marL="685800" lvl="1" indent="-228600" algn="just">
              <a:spcAft>
                <a:spcPts val="600"/>
              </a:spcAft>
              <a:buFont typeface="+mj-lt"/>
              <a:buAutoNum type="arabicPeriod"/>
            </a:pPr>
            <a:endParaRPr lang="en-US" sz="1200" dirty="0">
              <a:solidFill>
                <a:srgbClr val="5A6270"/>
              </a:solidFill>
              <a:latin typeface="Calibri"/>
            </a:endParaRPr>
          </a:p>
          <a:p>
            <a:pPr marL="685800" lvl="1" indent="-228600" algn="just">
              <a:spcAft>
                <a:spcPts val="600"/>
              </a:spcAft>
              <a:buFont typeface="+mj-lt"/>
              <a:buAutoNum type="arabicPeriod"/>
            </a:pPr>
            <a:endParaRPr lang="en-US" sz="1200" b="0" i="0" dirty="0">
              <a:solidFill>
                <a:srgbClr val="5A6270"/>
              </a:solidFill>
              <a:latin typeface="Calibri"/>
            </a:endParaRPr>
          </a:p>
          <a:p>
            <a:pPr marL="685800" lvl="1" indent="-228600" algn="just">
              <a:spcAft>
                <a:spcPts val="600"/>
              </a:spcAft>
              <a:buFont typeface="+mj-lt"/>
              <a:buAutoNum type="arabicPeriod"/>
            </a:pPr>
            <a:endParaRPr lang="en-US" sz="1200" dirty="0">
              <a:solidFill>
                <a:srgbClr val="5A6270"/>
              </a:solidFill>
              <a:latin typeface="Calibri"/>
            </a:endParaRPr>
          </a:p>
          <a:p>
            <a:pPr marL="685800" lvl="1" indent="-228600" algn="just">
              <a:spcAft>
                <a:spcPts val="600"/>
              </a:spcAft>
              <a:buFont typeface="+mj-lt"/>
              <a:buAutoNum type="arabicPeriod"/>
            </a:pPr>
            <a:endParaRPr lang="en-US" sz="1200" b="0" i="0" dirty="0">
              <a:solidFill>
                <a:srgbClr val="5A6270"/>
              </a:solidFill>
              <a:latin typeface="Calibri"/>
            </a:endParaRPr>
          </a:p>
          <a:p>
            <a:pPr marL="685800" lvl="1" indent="-228600" algn="just">
              <a:spcAft>
                <a:spcPts val="600"/>
              </a:spcAft>
              <a:buFont typeface="+mj-lt"/>
              <a:buAutoNum type="arabicPeriod"/>
            </a:pPr>
            <a:endParaRPr lang="en-US" sz="1200" dirty="0">
              <a:solidFill>
                <a:srgbClr val="5A6270"/>
              </a:solidFill>
              <a:latin typeface="Calibri"/>
            </a:endParaRPr>
          </a:p>
          <a:p>
            <a:pPr marL="685800" lvl="1" indent="-228600" algn="just">
              <a:spcAft>
                <a:spcPts val="600"/>
              </a:spcAft>
              <a:buFont typeface="+mj-lt"/>
              <a:buAutoNum type="arabicPeriod"/>
            </a:pPr>
            <a:endParaRPr lang="en-US" sz="1200" b="0" i="0" dirty="0">
              <a:solidFill>
                <a:srgbClr val="5A6270"/>
              </a:solidFill>
              <a:latin typeface="Calibri"/>
            </a:endParaRPr>
          </a:p>
          <a:p>
            <a:pPr marL="685800" lvl="1" indent="-228600" algn="just">
              <a:spcAft>
                <a:spcPts val="600"/>
              </a:spcAft>
              <a:buFont typeface="+mj-lt"/>
              <a:buAutoNum type="arabicPeriod"/>
            </a:pPr>
            <a:endParaRPr lang="en-US" sz="1200" b="0" i="0" dirty="0">
              <a:solidFill>
                <a:srgbClr val="5A6270"/>
              </a:solidFill>
              <a:latin typeface="Calibri"/>
            </a:endParaRPr>
          </a:p>
          <a:p>
            <a:pPr marL="685800" lvl="1" indent="-228600" algn="just">
              <a:spcAft>
                <a:spcPts val="600"/>
              </a:spcAft>
              <a:buFont typeface="+mj-lt"/>
              <a:buAutoNum type="arabicPeriod"/>
            </a:pPr>
            <a:r>
              <a:rPr lang="en-US" sz="1200" dirty="0">
                <a:solidFill>
                  <a:srgbClr val="5A6270"/>
                </a:solidFill>
              </a:rPr>
              <a:t>That gives 648 customer-dates, 281 distinct customers, and 159 customers who churned </a:t>
            </a:r>
            <a:r>
              <a:rPr lang="en-US" sz="1200" dirty="0" err="1">
                <a:solidFill>
                  <a:srgbClr val="5A6270"/>
                </a:solidFill>
              </a:rPr>
              <a:t>i.e</a:t>
            </a:r>
            <a:r>
              <a:rPr lang="en-US" sz="1200">
                <a:solidFill>
                  <a:srgbClr val="5A6270"/>
                </a:solidFill>
              </a:rPr>
              <a:t> </a:t>
            </a:r>
            <a:r>
              <a:rPr lang="en-US" sz="1200" dirty="0">
                <a:solidFill>
                  <a:srgbClr val="5A6270"/>
                </a:solidFill>
              </a:rPr>
              <a:t>24.5%. The rate per cutoff runs 17% to 31%</a:t>
            </a:r>
          </a:p>
          <a:p>
            <a:pPr marL="685800" lvl="1" indent="-228600" algn="just">
              <a:spcAft>
                <a:spcPts val="600"/>
              </a:spcAft>
              <a:buFont typeface="+mj-lt"/>
              <a:buAutoNum type="arabicPeriod"/>
            </a:pPr>
            <a:r>
              <a:rPr lang="en-US" sz="1200" dirty="0">
                <a:solidFill>
                  <a:srgbClr val="5A6270"/>
                </a:solidFill>
              </a:rPr>
              <a:t>The label comes from </a:t>
            </a:r>
            <a:r>
              <a:rPr lang="en-US" sz="1200" b="1" dirty="0" err="1">
                <a:solidFill>
                  <a:schemeClr val="tx2"/>
                </a:solidFill>
              </a:rPr>
              <a:t>churn_events</a:t>
            </a:r>
            <a:r>
              <a:rPr lang="en-US" sz="1200" dirty="0">
                <a:solidFill>
                  <a:srgbClr val="5A6270"/>
                </a:solidFill>
              </a:rPr>
              <a:t>: an eligible account is positive if its earliest </a:t>
            </a:r>
            <a:r>
              <a:rPr lang="en-US" sz="1200" b="1" dirty="0" err="1">
                <a:solidFill>
                  <a:schemeClr val="tx2"/>
                </a:solidFill>
              </a:rPr>
              <a:t>churn_events.churn_date</a:t>
            </a:r>
            <a:r>
              <a:rPr lang="en-US" sz="1200" dirty="0">
                <a:solidFill>
                  <a:srgbClr val="5A6270"/>
                </a:solidFill>
              </a:rPr>
              <a:t> falls within the 90 days from the cutoff. Everything else is negative. </a:t>
            </a:r>
            <a:endParaRPr sz="1200" b="0" i="0" dirty="0">
              <a:solidFill>
                <a:srgbClr val="5A6270"/>
              </a:solidFill>
              <a:latin typeface="Calibri"/>
            </a:endParaRPr>
          </a:p>
        </p:txBody>
      </p:sp>
      <p:pic>
        <p:nvPicPr>
          <p:cNvPr id="5" name="Picture 4" descr="02_rolling_origin.png"/>
          <p:cNvPicPr>
            <a:picLocks noChangeAspect="1"/>
          </p:cNvPicPr>
          <p:nvPr/>
        </p:nvPicPr>
        <p:blipFill>
          <a:blip r:embed="rId3"/>
          <a:srcRect t="12677"/>
          <a:stretch>
            <a:fillRect/>
          </a:stretch>
        </p:blipFill>
        <p:spPr>
          <a:xfrm>
            <a:off x="1357228" y="4214707"/>
            <a:ext cx="7427274" cy="16763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7856" y="293881"/>
            <a:ext cx="10820095" cy="1051560"/>
          </a:xfrm>
          <a:prstGeom prst="rect">
            <a:avLst/>
          </a:prstGeom>
          <a:noFill/>
        </p:spPr>
        <p:txBody>
          <a:bodyPr wrap="square">
            <a:spAutoFit/>
          </a:bodyPr>
          <a:lstStyle/>
          <a:p>
            <a:r>
              <a:rPr sz="1200" b="1" i="0" dirty="0">
                <a:solidFill>
                  <a:srgbClr val="5A6270"/>
                </a:solidFill>
                <a:latin typeface="Calibri"/>
              </a:rPr>
              <a:t>PART 1 · PROBLEM FRAMING</a:t>
            </a:r>
          </a:p>
          <a:p>
            <a:pPr>
              <a:spcBef>
                <a:spcPts val="400"/>
              </a:spcBef>
            </a:pPr>
            <a:r>
              <a:rPr sz="2800" b="1" i="0" dirty="0">
                <a:solidFill>
                  <a:srgbClr val="1A1A1A"/>
                </a:solidFill>
                <a:latin typeface="Calibri"/>
              </a:rPr>
              <a:t>How we would judge success</a:t>
            </a:r>
          </a:p>
        </p:txBody>
      </p:sp>
      <p:sp>
        <p:nvSpPr>
          <p:cNvPr id="3" name="Rectangle 2"/>
          <p:cNvSpPr/>
          <p:nvPr/>
        </p:nvSpPr>
        <p:spPr>
          <a:xfrm>
            <a:off x="685799" y="1187925"/>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9748" y="1586167"/>
            <a:ext cx="11277599" cy="4231928"/>
          </a:xfrm>
          <a:prstGeom prst="rect">
            <a:avLst/>
          </a:prstGeom>
          <a:noFill/>
        </p:spPr>
        <p:txBody>
          <a:bodyPr wrap="square">
            <a:spAutoFit/>
          </a:bodyPr>
          <a:lstStyle/>
          <a:p>
            <a:pPr algn="just">
              <a:spcAft>
                <a:spcPts val="900"/>
              </a:spcAft>
            </a:pPr>
            <a:r>
              <a:rPr sz="2000" b="1" i="0" dirty="0">
                <a:solidFill>
                  <a:srgbClr val="1A1A1A"/>
                </a:solidFill>
                <a:latin typeface="Calibri"/>
              </a:rPr>
              <a:t>For the model</a:t>
            </a:r>
            <a:r>
              <a:rPr lang="en-US" sz="2000" b="1" dirty="0">
                <a:solidFill>
                  <a:srgbClr val="1A1A1A"/>
                </a:solidFill>
              </a:rPr>
              <a:t> - </a:t>
            </a:r>
            <a:r>
              <a:rPr lang="en-US" sz="2000" dirty="0">
                <a:solidFill>
                  <a:srgbClr val="1A1A1A"/>
                </a:solidFill>
              </a:rPr>
              <a:t>measured in this work</a:t>
            </a:r>
            <a:endParaRPr sz="2000" i="0" dirty="0">
              <a:solidFill>
                <a:srgbClr val="1A1A1A"/>
              </a:solidFill>
              <a:latin typeface="Calibri"/>
            </a:endParaRPr>
          </a:p>
          <a:p>
            <a:pPr marL="800100" lvl="1" indent="-342900" algn="just">
              <a:spcAft>
                <a:spcPts val="900"/>
              </a:spcAft>
              <a:buFont typeface="+mj-lt"/>
              <a:buAutoNum type="arabicPeriod"/>
            </a:pPr>
            <a:r>
              <a:rPr sz="1400" b="0" i="0" dirty="0">
                <a:solidFill>
                  <a:srgbClr val="5A6270"/>
                </a:solidFill>
                <a:latin typeface="Calibri"/>
              </a:rPr>
              <a:t>ROC-AUC measures how well the model sorts customers by risk. 0.5 means it is guessing</a:t>
            </a:r>
            <a:r>
              <a:rPr lang="en-US" sz="1400" b="0" i="0" dirty="0">
                <a:solidFill>
                  <a:srgbClr val="5A6270"/>
                </a:solidFill>
                <a:latin typeface="Calibri"/>
              </a:rPr>
              <a:t>.</a:t>
            </a:r>
            <a:endParaRPr sz="1400" b="0" i="0" dirty="0">
              <a:solidFill>
                <a:srgbClr val="5A6270"/>
              </a:solidFill>
              <a:latin typeface="Calibri"/>
            </a:endParaRPr>
          </a:p>
          <a:p>
            <a:pPr marL="800100" lvl="1" indent="-342900" algn="just">
              <a:spcAft>
                <a:spcPts val="900"/>
              </a:spcAft>
              <a:buFont typeface="+mj-lt"/>
              <a:buAutoNum type="arabicPeriod"/>
            </a:pPr>
            <a:r>
              <a:rPr lang="en-US" sz="1400" dirty="0">
                <a:solidFill>
                  <a:srgbClr val="5A6270"/>
                </a:solidFill>
              </a:rPr>
              <a:t>Precision and recall, because they say what the CS team experiences working the list.</a:t>
            </a:r>
            <a:endParaRPr lang="en-US" sz="1600" b="1" i="0" dirty="0">
              <a:solidFill>
                <a:srgbClr val="1A1A1A"/>
              </a:solidFill>
              <a:latin typeface="Calibri"/>
            </a:endParaRPr>
          </a:p>
          <a:p>
            <a:pPr algn="just">
              <a:spcAft>
                <a:spcPts val="900"/>
              </a:spcAft>
            </a:pPr>
            <a:endParaRPr lang="en-US" sz="1600" b="1" dirty="0">
              <a:solidFill>
                <a:srgbClr val="1A1A1A"/>
              </a:solidFill>
              <a:latin typeface="Calibri"/>
            </a:endParaRPr>
          </a:p>
          <a:p>
            <a:pPr algn="just">
              <a:spcAft>
                <a:spcPts val="900"/>
              </a:spcAft>
            </a:pPr>
            <a:r>
              <a:rPr lang="en-US" sz="2000" b="1" dirty="0">
                <a:solidFill>
                  <a:srgbClr val="1A1A1A"/>
                </a:solidFill>
                <a:latin typeface="+mj-lt"/>
              </a:rPr>
              <a:t> For the business — </a:t>
            </a:r>
            <a:r>
              <a:rPr lang="en-US" sz="2000" dirty="0">
                <a:solidFill>
                  <a:srgbClr val="1A1A1A"/>
                </a:solidFill>
                <a:latin typeface="+mj-lt"/>
              </a:rPr>
              <a:t>these metrics are proposed, none are measurable from the data we are provided</a:t>
            </a:r>
          </a:p>
          <a:p>
            <a:pPr marL="800100" lvl="1" indent="-342900" algn="just">
              <a:spcAft>
                <a:spcPts val="900"/>
              </a:spcAft>
              <a:buFont typeface="+mj-lt"/>
              <a:buAutoNum type="arabicPeriod"/>
            </a:pPr>
            <a:r>
              <a:rPr lang="en-US" sz="1400" dirty="0">
                <a:solidFill>
                  <a:srgbClr val="5A6270"/>
                </a:solidFill>
              </a:rPr>
              <a:t>Retention at 180 days, customers we called against a half we deliberately didn’t.</a:t>
            </a:r>
          </a:p>
          <a:p>
            <a:pPr marL="800100" lvl="1" indent="-342900" algn="just">
              <a:spcAft>
                <a:spcPts val="900"/>
              </a:spcAft>
              <a:buFont typeface="+mj-lt"/>
              <a:buAutoNum type="arabicPeriod"/>
            </a:pPr>
            <a:r>
              <a:rPr lang="en-US" sz="1400" dirty="0">
                <a:solidFill>
                  <a:srgbClr val="5A6270"/>
                </a:solidFill>
              </a:rPr>
              <a:t>Net revenue retention, so a customer kept with a big discount counts for what they are still worth.</a:t>
            </a:r>
          </a:p>
          <a:p>
            <a:pPr marL="800100" lvl="1" indent="-342900" algn="just">
              <a:spcAft>
                <a:spcPts val="900"/>
              </a:spcAft>
              <a:buFont typeface="+mj-lt"/>
              <a:buAutoNum type="arabicPeriod"/>
            </a:pPr>
            <a:r>
              <a:rPr lang="en-US" sz="1400" dirty="0">
                <a:solidFill>
                  <a:srgbClr val="5A6270"/>
                </a:solidFill>
              </a:rPr>
              <a:t>Incremental revenue over simply calling everyone.</a:t>
            </a:r>
          </a:p>
          <a:p>
            <a:pPr algn="just">
              <a:spcAft>
                <a:spcPts val="900"/>
              </a:spcAft>
            </a:pPr>
            <a:br>
              <a:rPr lang="en-US" sz="2000" b="1" dirty="0">
                <a:solidFill>
                  <a:srgbClr val="1A1A1A"/>
                </a:solidFill>
              </a:rPr>
            </a:br>
            <a:r>
              <a:rPr lang="en-US" sz="2000" b="1" dirty="0">
                <a:solidFill>
                  <a:srgbClr val="1A1A1A"/>
                </a:solidFill>
              </a:rPr>
              <a:t>Limits I set before starting:</a:t>
            </a:r>
            <a:endParaRPr lang="en-US" sz="2000" dirty="0">
              <a:solidFill>
                <a:srgbClr val="1A1A1A"/>
              </a:solidFill>
            </a:endParaRPr>
          </a:p>
          <a:p>
            <a:pPr marL="800100" lvl="1" indent="-342900" algn="just">
              <a:spcAft>
                <a:spcPts val="900"/>
              </a:spcAft>
              <a:buFont typeface="+mj-lt"/>
              <a:buAutoNum type="arabicPeriod"/>
            </a:pPr>
            <a:r>
              <a:rPr lang="en-US" sz="1400" dirty="0">
                <a:solidFill>
                  <a:srgbClr val="5A6270"/>
                </a:solidFill>
              </a:rPr>
              <a:t>The model must beat guessing at the bottom of its range, not just on average. It also has to beat simply calling every customer. </a:t>
            </a:r>
          </a:p>
          <a:p>
            <a:pPr marL="800100" lvl="1" indent="-342900" algn="just">
              <a:spcAft>
                <a:spcPts val="900"/>
              </a:spcAft>
              <a:buFont typeface="+mj-lt"/>
              <a:buAutoNum type="arabicPeriod"/>
            </a:pPr>
            <a:r>
              <a:rPr lang="en-US" sz="1400" dirty="0">
                <a:solidFill>
                  <a:srgbClr val="5A6270"/>
                </a:solidFill>
              </a:rPr>
              <a:t>Scores would determine what the intervention would look like.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1 · PROBLEM FRAMING</a:t>
            </a:r>
          </a:p>
          <a:p>
            <a:pPr>
              <a:spcBef>
                <a:spcPts val="400"/>
              </a:spcBef>
            </a:pPr>
            <a:r>
              <a:rPr sz="2800" b="1" i="0" dirty="0">
                <a:solidFill>
                  <a:srgbClr val="1A1A1A"/>
                </a:solidFill>
                <a:latin typeface="Calibri"/>
              </a:rPr>
              <a:t>Risks and assumptions</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7645" y="1578846"/>
            <a:ext cx="5390147" cy="2162130"/>
          </a:xfrm>
          <a:prstGeom prst="rect">
            <a:avLst/>
          </a:prstGeom>
          <a:noFill/>
        </p:spPr>
        <p:txBody>
          <a:bodyPr wrap="square">
            <a:spAutoFit/>
          </a:bodyPr>
          <a:lstStyle/>
          <a:p>
            <a:pPr algn="just">
              <a:spcAft>
                <a:spcPts val="500"/>
              </a:spcAft>
            </a:pPr>
            <a:r>
              <a:rPr sz="1400" b="1" i="0" dirty="0">
                <a:solidFill>
                  <a:srgbClr val="B02E2E"/>
                </a:solidFill>
                <a:latin typeface="Calibri"/>
              </a:rPr>
              <a:t>Two of the five tables are not joined to their customers in time.</a:t>
            </a:r>
          </a:p>
          <a:p>
            <a:pPr marL="685800" lvl="1" indent="-228600" algn="just">
              <a:spcAft>
                <a:spcPts val="500"/>
              </a:spcAft>
              <a:buFont typeface="+mj-lt"/>
              <a:buAutoNum type="arabicPeriod"/>
            </a:pPr>
            <a:r>
              <a:rPr lang="en-US" sz="1200" dirty="0">
                <a:solidFill>
                  <a:srgbClr val="5A6270"/>
                </a:solidFill>
              </a:rPr>
              <a:t>Usage and support events are not attached to the customers they belong to. Plotted against signup date they form a square cloud, where real data would be a band above the line. Just over half of all usage rows and support tickets are dated before the customer existed. </a:t>
            </a:r>
          </a:p>
          <a:p>
            <a:pPr marL="685800" lvl="1" indent="-228600" algn="just">
              <a:spcAft>
                <a:spcPts val="500"/>
              </a:spcAft>
              <a:buFont typeface="+mj-lt"/>
              <a:buAutoNum type="arabicPeriod"/>
            </a:pPr>
            <a:r>
              <a:rPr sz="1200" b="0" i="0" dirty="0">
                <a:solidFill>
                  <a:srgbClr val="5A6270"/>
                </a:solidFill>
                <a:latin typeface="Calibri"/>
              </a:rPr>
              <a:t>Nothing links inside those tables either. Ticket priority does not predict how fast we answered. Plan tier does not predict how much people used.</a:t>
            </a:r>
          </a:p>
          <a:p>
            <a:pPr marL="685800" lvl="1" indent="-228600" algn="just">
              <a:spcAft>
                <a:spcPts val="500"/>
              </a:spcAft>
              <a:buFont typeface="+mj-lt"/>
              <a:buAutoNum type="arabicPeriod"/>
            </a:pPr>
            <a:r>
              <a:rPr sz="1200" b="0" i="0" dirty="0">
                <a:solidFill>
                  <a:srgbClr val="5A6270"/>
                </a:solidFill>
                <a:latin typeface="Calibri"/>
              </a:rPr>
              <a:t>There are three ways to say a customer churned. All three agree for only 20% of customers.</a:t>
            </a:r>
          </a:p>
        </p:txBody>
      </p:sp>
      <p:pic>
        <p:nvPicPr>
          <p:cNvPr id="6" name="Picture 5">
            <a:extLst>
              <a:ext uri="{FF2B5EF4-FFF2-40B4-BE49-F238E27FC236}">
                <a16:creationId xmlns:a16="http://schemas.microsoft.com/office/drawing/2014/main" id="{12AD3BC4-A210-DDC1-716F-E8B388A4C0BB}"/>
              </a:ext>
            </a:extLst>
          </p:cNvPr>
          <p:cNvPicPr>
            <a:picLocks noChangeAspect="1"/>
          </p:cNvPicPr>
          <p:nvPr/>
        </p:nvPicPr>
        <p:blipFill>
          <a:blip r:embed="rId2"/>
          <a:stretch>
            <a:fillRect/>
          </a:stretch>
        </p:blipFill>
        <p:spPr>
          <a:xfrm>
            <a:off x="5976017" y="1660202"/>
            <a:ext cx="5888338" cy="2473205"/>
          </a:xfrm>
          <a:prstGeom prst="rect">
            <a:avLst/>
          </a:prstGeom>
        </p:spPr>
      </p:pic>
      <p:graphicFrame>
        <p:nvGraphicFramePr>
          <p:cNvPr id="9" name="Table 8">
            <a:extLst>
              <a:ext uri="{FF2B5EF4-FFF2-40B4-BE49-F238E27FC236}">
                <a16:creationId xmlns:a16="http://schemas.microsoft.com/office/drawing/2014/main" id="{AC539327-68EC-BE64-46D2-74F957FFB0AC}"/>
              </a:ext>
            </a:extLst>
          </p:cNvPr>
          <p:cNvGraphicFramePr>
            <a:graphicFrameLocks noGrp="1"/>
          </p:cNvGraphicFramePr>
          <p:nvPr>
            <p:extLst>
              <p:ext uri="{D42A27DB-BD31-4B8C-83A1-F6EECF244321}">
                <p14:modId xmlns:p14="http://schemas.microsoft.com/office/powerpoint/2010/main" val="3112051045"/>
              </p:ext>
            </p:extLst>
          </p:nvPr>
        </p:nvGraphicFramePr>
        <p:xfrm>
          <a:off x="144379" y="4319016"/>
          <a:ext cx="11833058" cy="2225040"/>
        </p:xfrm>
        <a:graphic>
          <a:graphicData uri="http://schemas.openxmlformats.org/drawingml/2006/table">
            <a:tbl>
              <a:tblPr firstRow="1" bandRow="1">
                <a:tableStyleId>{5940675A-B579-460E-94D1-54222C63F5DA}</a:tableStyleId>
              </a:tblPr>
              <a:tblGrid>
                <a:gridCol w="1534026">
                  <a:extLst>
                    <a:ext uri="{9D8B030D-6E8A-4147-A177-3AD203B41FA5}">
                      <a16:colId xmlns:a16="http://schemas.microsoft.com/office/drawing/2014/main" val="110780927"/>
                    </a:ext>
                  </a:extLst>
                </a:gridCol>
                <a:gridCol w="2424363">
                  <a:extLst>
                    <a:ext uri="{9D8B030D-6E8A-4147-A177-3AD203B41FA5}">
                      <a16:colId xmlns:a16="http://schemas.microsoft.com/office/drawing/2014/main" val="2373065068"/>
                    </a:ext>
                  </a:extLst>
                </a:gridCol>
                <a:gridCol w="7874669">
                  <a:extLst>
                    <a:ext uri="{9D8B030D-6E8A-4147-A177-3AD203B41FA5}">
                      <a16:colId xmlns:a16="http://schemas.microsoft.com/office/drawing/2014/main" val="1041026438"/>
                    </a:ext>
                  </a:extLst>
                </a:gridCol>
              </a:tblGrid>
              <a:tr h="370840">
                <a:tc>
                  <a:txBody>
                    <a:bodyPr/>
                    <a:lstStyle/>
                    <a:p>
                      <a:r>
                        <a:rPr lang="en-US" b="1" dirty="0"/>
                        <a:t>Table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b="1" dirty="0"/>
                        <a:t>Verdict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b="1" dirty="0"/>
                        <a:t>Why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3705390"/>
                  </a:ext>
                </a:extLst>
              </a:tr>
              <a:tr h="370840">
                <a:tc>
                  <a:txBody>
                    <a:bodyPr/>
                    <a:lstStyle/>
                    <a:p>
                      <a:r>
                        <a:rPr lang="en-US" sz="1400" dirty="0"/>
                        <a:t>accounts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dirty="0"/>
                        <a:t>usable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dirty="0"/>
                        <a:t>Signup date is consistent, and the rest is attributes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762405"/>
                  </a:ext>
                </a:extLst>
              </a:tr>
              <a:tr h="370840">
                <a:tc>
                  <a:txBody>
                    <a:bodyPr/>
                    <a:lstStyle/>
                    <a:p>
                      <a:r>
                        <a:rPr lang="en-US" sz="1400" dirty="0"/>
                        <a:t>subscriptions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dirty="0"/>
                        <a:t>usable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dirty="0"/>
                        <a:t>Price follows plan * seats, ARR = 12 * MRR, no subscription predates its customer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4247228"/>
                  </a:ext>
                </a:extLst>
              </a:tr>
              <a:tr h="370840">
                <a:tc>
                  <a:txBody>
                    <a:bodyPr/>
                    <a:lstStyle/>
                    <a:p>
                      <a:r>
                        <a:rPr lang="en-US" sz="1400" dirty="0" err="1"/>
                        <a:t>feature_usage</a:t>
                      </a:r>
                      <a:endParaRPr lang="en-US"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dirty="0"/>
                        <a:t>unusable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dirty="0"/>
                        <a:t>built from anyway, 16 features — dates unrelated to the customer, r = 0.002</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3096637"/>
                  </a:ext>
                </a:extLst>
              </a:tr>
              <a:tr h="370840">
                <a:tc>
                  <a:txBody>
                    <a:bodyPr/>
                    <a:lstStyle/>
                    <a:p>
                      <a:r>
                        <a:rPr lang="en-US" sz="1400" dirty="0" err="1"/>
                        <a:t>support_tickets</a:t>
                      </a:r>
                      <a:endParaRPr lang="en-US"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dirty="0"/>
                        <a:t>unusable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dirty="0"/>
                        <a:t>built from anyway, 15 features — same, r = 0.016; satisfaction documented 1–5, only ever 3, 4, 5</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1415731"/>
                  </a:ext>
                </a:extLst>
              </a:tr>
              <a:tr h="370840">
                <a:tc>
                  <a:txBody>
                    <a:bodyPr/>
                    <a:lstStyle/>
                    <a:p>
                      <a:r>
                        <a:rPr lang="en-US" sz="1400" dirty="0" err="1"/>
                        <a:t>churn_events</a:t>
                      </a:r>
                      <a:endParaRPr lang="en-US"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dirty="0"/>
                        <a:t>usable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dirty="0"/>
                        <a:t>The only churn record with a date, but it disagrees with the other two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464719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2800D6-974F-2F17-A52E-0A306D35DF0C}"/>
              </a:ext>
            </a:extLst>
          </p:cNvPr>
          <p:cNvSpPr txBox="1"/>
          <p:nvPr/>
        </p:nvSpPr>
        <p:spPr>
          <a:xfrm>
            <a:off x="747998" y="1869170"/>
            <a:ext cx="11202905" cy="3159839"/>
          </a:xfrm>
          <a:prstGeom prst="rect">
            <a:avLst/>
          </a:prstGeom>
          <a:noFill/>
        </p:spPr>
        <p:txBody>
          <a:bodyPr wrap="square">
            <a:spAutoFit/>
          </a:bodyPr>
          <a:lstStyle/>
          <a:p>
            <a:pPr>
              <a:spcAft>
                <a:spcPts val="500"/>
              </a:spcAft>
            </a:pPr>
            <a:r>
              <a:rPr lang="en-US" sz="600" b="0" i="0" dirty="0">
                <a:solidFill>
                  <a:srgbClr val="1A1A1A"/>
                </a:solidFill>
                <a:latin typeface="Calibri"/>
              </a:rPr>
              <a:t> </a:t>
            </a:r>
          </a:p>
          <a:p>
            <a:pPr>
              <a:spcAft>
                <a:spcPts val="500"/>
              </a:spcAft>
            </a:pPr>
            <a:r>
              <a:rPr lang="en-US" sz="1400" b="1" i="0" dirty="0">
                <a:solidFill>
                  <a:srgbClr val="1A1A1A"/>
                </a:solidFill>
                <a:latin typeface="Calibri"/>
              </a:rPr>
              <a:t>Assumptions I am making</a:t>
            </a:r>
          </a:p>
          <a:p>
            <a:pPr>
              <a:spcAft>
                <a:spcPts val="500"/>
              </a:spcAft>
            </a:pPr>
            <a:endParaRPr lang="en-US" sz="1400" b="1" i="0" dirty="0">
              <a:solidFill>
                <a:srgbClr val="1A1A1A"/>
              </a:solidFill>
              <a:latin typeface="Calibri"/>
            </a:endParaRPr>
          </a:p>
          <a:p>
            <a:pPr marL="685800" lvl="1" indent="-228600">
              <a:spcAft>
                <a:spcPts val="500"/>
              </a:spcAft>
              <a:buFont typeface="+mj-lt"/>
              <a:buAutoNum type="arabicPeriod"/>
            </a:pPr>
            <a:r>
              <a:rPr lang="en-US" sz="1200" dirty="0">
                <a:solidFill>
                  <a:srgbClr val="5A6270"/>
                </a:solidFill>
              </a:rPr>
              <a:t>I used churn from the churn defined by rows in </a:t>
            </a:r>
            <a:r>
              <a:rPr lang="en-US" sz="1200" b="1" dirty="0" err="1">
                <a:solidFill>
                  <a:schemeClr val="tx2"/>
                </a:solidFill>
              </a:rPr>
              <a:t>churn_events</a:t>
            </a:r>
            <a:r>
              <a:rPr lang="en-US" sz="1200" dirty="0">
                <a:solidFill>
                  <a:srgbClr val="5A6270"/>
                </a:solidFill>
              </a:rPr>
              <a:t>. Three records claim to say who left and they disagree - I picked </a:t>
            </a:r>
            <a:r>
              <a:rPr lang="en-US" sz="1200" b="1" dirty="0" err="1">
                <a:solidFill>
                  <a:schemeClr val="tx2"/>
                </a:solidFill>
              </a:rPr>
              <a:t>churn_events</a:t>
            </a:r>
            <a:r>
              <a:rPr lang="en-US" sz="1200" dirty="0">
                <a:solidFill>
                  <a:srgbClr val="5A6270"/>
                </a:solidFill>
              </a:rPr>
              <a:t> table because it has a usable date. </a:t>
            </a:r>
          </a:p>
          <a:p>
            <a:pPr marL="685800" lvl="1" indent="-228600">
              <a:spcAft>
                <a:spcPts val="500"/>
              </a:spcAft>
              <a:buFont typeface="+mj-lt"/>
              <a:buAutoNum type="arabicPeriod"/>
            </a:pPr>
            <a:r>
              <a:rPr lang="en-US" sz="1200" dirty="0">
                <a:solidFill>
                  <a:srgbClr val="5A6270"/>
                </a:solidFill>
              </a:rPr>
              <a:t>A customer is at risk if they hold an open subscription on the date we ask. Customers whose subscriptions had all ended are excluded they cannot leave again.</a:t>
            </a:r>
          </a:p>
          <a:p>
            <a:pPr marL="685800" lvl="1" indent="-228600">
              <a:spcAft>
                <a:spcPts val="500"/>
              </a:spcAft>
              <a:buFont typeface="+mj-lt"/>
              <a:buAutoNum type="arabicPeriod"/>
            </a:pPr>
            <a:r>
              <a:rPr lang="en-US" sz="1200" dirty="0">
                <a:solidFill>
                  <a:srgbClr val="5A6270"/>
                </a:solidFill>
              </a:rPr>
              <a:t>A 90-day window and quarter-end dates. I chose both before running anything, then swept horizons from 30 to 180 days to see if the choice mattered. It moved the AUC score by 0.026, basically noise.</a:t>
            </a:r>
          </a:p>
          <a:p>
            <a:pPr marL="685800" lvl="1" indent="-228600">
              <a:spcAft>
                <a:spcPts val="500"/>
              </a:spcAft>
              <a:buFont typeface="+mj-lt"/>
              <a:buAutoNum type="arabicPeriod"/>
            </a:pPr>
            <a:r>
              <a:rPr lang="en-US" sz="1200" dirty="0">
                <a:solidFill>
                  <a:srgbClr val="5A6270"/>
                </a:solidFill>
              </a:rPr>
              <a:t>We focus in this analysis on the first churn event. Some customers have reactivations. We take the earliest churn date and dispense with what happens after for simplicity.</a:t>
            </a:r>
          </a:p>
          <a:p>
            <a:pPr marL="685800" lvl="1" indent="-228600">
              <a:spcAft>
                <a:spcPts val="500"/>
              </a:spcAft>
              <a:buFont typeface="+mj-lt"/>
              <a:buAutoNum type="arabicPeriod"/>
            </a:pPr>
            <a:r>
              <a:rPr lang="en-US" sz="1200" dirty="0">
                <a:solidFill>
                  <a:srgbClr val="5A6270"/>
                </a:solidFill>
              </a:rPr>
              <a:t>Events dated before their customer are kept. Over half of all usage rows and tickets predate their customer's signup by a median of seven months — too far to be pre-sales evaluation, but not something I can prove wrong. Dropping them costs 43% of usage and 68% of tickets and takes AUC from 0.596 to 0.517. So I kept every row and accounted for this in feature engineering.</a:t>
            </a:r>
            <a:endParaRPr lang="en-US" sz="1200" b="0" i="0" dirty="0">
              <a:solidFill>
                <a:srgbClr val="5A6270"/>
              </a:solidFill>
              <a:latin typeface="Calibri"/>
            </a:endParaRPr>
          </a:p>
          <a:p>
            <a:pPr marL="685800" lvl="1" indent="-228600">
              <a:spcAft>
                <a:spcPts val="500"/>
              </a:spcAft>
              <a:buFont typeface="+mj-lt"/>
              <a:buAutoNum type="arabicPeriod"/>
            </a:pPr>
            <a:endParaRPr lang="en-US" sz="1200" b="0" i="0" dirty="0">
              <a:solidFill>
                <a:srgbClr val="5A6270"/>
              </a:solidFill>
              <a:latin typeface="Calibri"/>
            </a:endParaRPr>
          </a:p>
        </p:txBody>
      </p:sp>
      <p:sp>
        <p:nvSpPr>
          <p:cNvPr id="5" name="TextBox 4">
            <a:extLst>
              <a:ext uri="{FF2B5EF4-FFF2-40B4-BE49-F238E27FC236}">
                <a16:creationId xmlns:a16="http://schemas.microsoft.com/office/drawing/2014/main" id="{CA970AC4-91F5-08BB-443D-4F894B789C96}"/>
              </a:ext>
            </a:extLst>
          </p:cNvPr>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1 · PROBLEM FRAMING</a:t>
            </a:r>
          </a:p>
          <a:p>
            <a:pPr>
              <a:spcBef>
                <a:spcPts val="400"/>
              </a:spcBef>
            </a:pPr>
            <a:r>
              <a:rPr sz="2800" b="1" i="0" dirty="0">
                <a:solidFill>
                  <a:srgbClr val="1A1A1A"/>
                </a:solidFill>
                <a:latin typeface="Calibri"/>
              </a:rPr>
              <a:t>Risks and assumptions</a:t>
            </a:r>
          </a:p>
        </p:txBody>
      </p:sp>
      <p:sp>
        <p:nvSpPr>
          <p:cNvPr id="7" name="Rectangle 6">
            <a:extLst>
              <a:ext uri="{FF2B5EF4-FFF2-40B4-BE49-F238E27FC236}">
                <a16:creationId xmlns:a16="http://schemas.microsoft.com/office/drawing/2014/main" id="{9F1B9989-6A7C-C50E-2B6A-E012B6E3A475}"/>
              </a:ext>
            </a:extLst>
          </p:cNvPr>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727656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2 · DATA EXPLORATION</a:t>
            </a:r>
          </a:p>
          <a:p>
            <a:pPr>
              <a:spcBef>
                <a:spcPts val="400"/>
              </a:spcBef>
            </a:pPr>
            <a:r>
              <a:rPr lang="en-US" sz="2800" b="1" dirty="0">
                <a:solidFill>
                  <a:srgbClr val="1A1A1A"/>
                </a:solidFill>
              </a:rPr>
              <a:t>Schema, scale and integrity</a:t>
            </a:r>
            <a:endParaRPr sz="2800" b="1" i="0" dirty="0">
              <a:solidFill>
                <a:srgbClr val="1A1A1A"/>
              </a:solidFill>
              <a:latin typeface="Calibri"/>
            </a:endParaRPr>
          </a:p>
        </p:txBody>
      </p:sp>
      <p:sp>
        <p:nvSpPr>
          <p:cNvPr id="3" name="Rectangle 2"/>
          <p:cNvSpPr/>
          <p:nvPr/>
        </p:nvSpPr>
        <p:spPr>
          <a:xfrm>
            <a:off x="685799" y="1270635"/>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9_data_model.png"/>
          <p:cNvPicPr>
            <a:picLocks noChangeAspect="1"/>
          </p:cNvPicPr>
          <p:nvPr/>
        </p:nvPicPr>
        <p:blipFill>
          <a:blip r:embed="rId3"/>
          <a:stretch>
            <a:fillRect/>
          </a:stretch>
        </p:blipFill>
        <p:spPr>
          <a:xfrm>
            <a:off x="1105078" y="1425853"/>
            <a:ext cx="9428085" cy="53949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2 · EXPLORATORY ANALYSIS</a:t>
            </a:r>
          </a:p>
          <a:p>
            <a:pPr>
              <a:spcBef>
                <a:spcPts val="400"/>
              </a:spcBef>
            </a:pPr>
            <a:r>
              <a:rPr sz="2800" b="1" i="0">
                <a:solidFill>
                  <a:srgbClr val="1A1A1A"/>
                </a:solidFill>
                <a:latin typeface="Calibri"/>
              </a:rPr>
              <a:t>Every field, one at a time</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21_eda_profile.png"/>
          <p:cNvPicPr>
            <a:picLocks noChangeAspect="1"/>
          </p:cNvPicPr>
          <p:nvPr/>
        </p:nvPicPr>
        <p:blipFill>
          <a:blip r:embed="rId3"/>
          <a:stretch>
            <a:fillRect/>
          </a:stretch>
        </p:blipFill>
        <p:spPr>
          <a:xfrm>
            <a:off x="848226" y="1499547"/>
            <a:ext cx="9978184" cy="4625521"/>
          </a:xfrm>
          <a:prstGeom prst="rect">
            <a:avLst/>
          </a:prstGeom>
        </p:spPr>
      </p:pic>
      <p:sp>
        <p:nvSpPr>
          <p:cNvPr id="6" name="TextBox 5"/>
          <p:cNvSpPr txBox="1"/>
          <p:nvPr/>
        </p:nvSpPr>
        <p:spPr>
          <a:xfrm>
            <a:off x="848226" y="6207295"/>
            <a:ext cx="10820095" cy="269304"/>
          </a:xfrm>
          <a:prstGeom prst="rect">
            <a:avLst/>
          </a:prstGeom>
          <a:noFill/>
        </p:spPr>
        <p:txBody>
          <a:bodyPr wrap="square">
            <a:spAutoFit/>
          </a:bodyPr>
          <a:lstStyle/>
          <a:p>
            <a:r>
              <a:rPr sz="1150" b="0" i="1" dirty="0">
                <a:solidFill>
                  <a:srgbClr val="5A6270"/>
                </a:solidFill>
                <a:latin typeface="Calibri"/>
              </a:rPr>
              <a:t>Missingness is recorded</a:t>
            </a:r>
            <a:r>
              <a:rPr lang="en-US" sz="1150" i="1" dirty="0">
                <a:solidFill>
                  <a:srgbClr val="5A6270"/>
                </a:solidFill>
                <a:latin typeface="Calibri"/>
              </a:rPr>
              <a:t> and not </a:t>
            </a:r>
            <a:r>
              <a:rPr sz="1150" b="0" i="1" dirty="0">
                <a:solidFill>
                  <a:srgbClr val="5A6270"/>
                </a:solidFill>
                <a:latin typeface="Calibri"/>
              </a:rPr>
              <a:t>imputed. A ticket with no satisfaction score has not been rated, and that is itself a feature.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2 · DATA EXPLORATION</a:t>
            </a:r>
          </a:p>
          <a:p>
            <a:pPr>
              <a:spcBef>
                <a:spcPts val="400"/>
              </a:spcBef>
            </a:pPr>
            <a:r>
              <a:rPr lang="en-US" sz="2800" b="1" i="0" dirty="0">
                <a:solidFill>
                  <a:srgbClr val="1A1A1A"/>
                </a:solidFill>
                <a:latin typeface="Calibri"/>
              </a:rPr>
              <a:t>Early Signal Evaluation</a:t>
            </a:r>
            <a:endParaRPr sz="2800" b="1" i="0" dirty="0">
              <a:solidFill>
                <a:srgbClr val="1A1A1A"/>
              </a:solidFill>
              <a:latin typeface="Calibri"/>
            </a:endParaRP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5_segment_shuffle.png"/>
          <p:cNvPicPr>
            <a:picLocks noChangeAspect="1"/>
          </p:cNvPicPr>
          <p:nvPr/>
        </p:nvPicPr>
        <p:blipFill>
          <a:blip r:embed="rId3"/>
          <a:srcRect b="11876"/>
          <a:stretch>
            <a:fillRect/>
          </a:stretch>
        </p:blipFill>
        <p:spPr>
          <a:xfrm>
            <a:off x="166838" y="1737511"/>
            <a:ext cx="5929162" cy="3861276"/>
          </a:xfrm>
          <a:prstGeom prst="rect">
            <a:avLst/>
          </a:prstGeom>
        </p:spPr>
      </p:pic>
      <p:sp>
        <p:nvSpPr>
          <p:cNvPr id="5" name="TextBox 4"/>
          <p:cNvSpPr txBox="1"/>
          <p:nvPr/>
        </p:nvSpPr>
        <p:spPr>
          <a:xfrm>
            <a:off x="6720840" y="1627632"/>
            <a:ext cx="4846320" cy="4216539"/>
          </a:xfrm>
          <a:prstGeom prst="rect">
            <a:avLst/>
          </a:prstGeom>
          <a:noFill/>
        </p:spPr>
        <p:txBody>
          <a:bodyPr wrap="square">
            <a:spAutoFit/>
          </a:bodyPr>
          <a:lstStyle/>
          <a:p>
            <a:pPr>
              <a:spcAft>
                <a:spcPts val="300"/>
              </a:spcAft>
            </a:pPr>
            <a:r>
              <a:rPr lang="en-US" sz="1250" b="1" i="0" dirty="0">
                <a:solidFill>
                  <a:srgbClr val="1A1A1A"/>
                </a:solidFill>
                <a:latin typeface="Calibri"/>
              </a:rPr>
              <a:t>Preliminary Signal Analysis:</a:t>
            </a:r>
            <a:br>
              <a:rPr lang="en-US" sz="1250" b="1" i="0" dirty="0">
                <a:solidFill>
                  <a:srgbClr val="1A1A1A"/>
                </a:solidFill>
                <a:latin typeface="Calibri"/>
              </a:rPr>
            </a:br>
            <a:endParaRPr sz="600" b="0" i="0" dirty="0">
              <a:solidFill>
                <a:srgbClr val="1A1A1A"/>
              </a:solidFill>
              <a:latin typeface="Calibri"/>
            </a:endParaRPr>
          </a:p>
          <a:p>
            <a:pPr>
              <a:spcAft>
                <a:spcPts val="300"/>
              </a:spcAft>
            </a:pPr>
            <a:r>
              <a:rPr sz="1250" b="1" i="0" dirty="0">
                <a:solidFill>
                  <a:srgbClr val="1A1A1A"/>
                </a:solidFill>
                <a:latin typeface="Calibri"/>
              </a:rPr>
              <a:t>Method</a:t>
            </a:r>
          </a:p>
          <a:p>
            <a:pPr marL="685800" lvl="1" indent="-228600">
              <a:spcAft>
                <a:spcPts val="300"/>
              </a:spcAft>
              <a:buAutoNum type="arabicPeriod"/>
            </a:pPr>
            <a:r>
              <a:rPr lang="en-US" sz="1050" dirty="0">
                <a:solidFill>
                  <a:srgbClr val="5A6270"/>
                </a:solidFill>
              </a:rPr>
              <a:t>Red lines: The gap we observed|. For industry: the highest-churn industry (EdTech, 41%) minus the lowest (Cybersecurity, 9%) = 32 points.</a:t>
            </a:r>
          </a:p>
          <a:p>
            <a:pPr marL="685800" lvl="1" indent="-228600">
              <a:spcAft>
                <a:spcPts val="300"/>
              </a:spcAft>
              <a:buAutoNum type="arabicPeriod"/>
            </a:pPr>
            <a:r>
              <a:rPr lang="en-US" sz="1050" dirty="0">
                <a:solidFill>
                  <a:srgbClr val="5A6270"/>
                </a:solidFill>
              </a:rPr>
              <a:t>The blue bars: To build each fake version: keep every customer in their real industry, then randomly reassign who churned. Take the difference of highest churn and lowest churn and do this 20,000 times</a:t>
            </a:r>
          </a:p>
          <a:p>
            <a:pPr marL="685800" lvl="1" indent="-228600">
              <a:spcAft>
                <a:spcPts val="300"/>
              </a:spcAft>
              <a:buAutoNum type="arabicPeriod"/>
            </a:pPr>
            <a:r>
              <a:rPr lang="en-US" sz="1050" dirty="0">
                <a:solidFill>
                  <a:srgbClr val="5A6270"/>
                </a:solidFill>
              </a:rPr>
              <a:t>P value: The share of blue bars sitting at or to the right of the red line.</a:t>
            </a:r>
          </a:p>
          <a:p>
            <a:pPr marL="685800" lvl="1" indent="-228600">
              <a:spcAft>
                <a:spcPts val="300"/>
              </a:spcAft>
              <a:buAutoNum type="arabicPeriod"/>
            </a:pPr>
            <a:endParaRPr lang="en-US" sz="1050" dirty="0">
              <a:solidFill>
                <a:srgbClr val="5A6270"/>
              </a:solidFill>
            </a:endParaRPr>
          </a:p>
          <a:p>
            <a:pPr>
              <a:spcAft>
                <a:spcPts val="300"/>
              </a:spcAft>
            </a:pPr>
            <a:r>
              <a:rPr lang="en-US" sz="1250" b="1" dirty="0">
                <a:solidFill>
                  <a:srgbClr val="1A1A1A"/>
                </a:solidFill>
              </a:rPr>
              <a:t>Findings</a:t>
            </a:r>
          </a:p>
          <a:p>
            <a:pPr marL="685800" lvl="1" indent="-228600">
              <a:spcAft>
                <a:spcPts val="300"/>
              </a:spcAft>
              <a:buAutoNum type="arabicPeriod"/>
            </a:pPr>
            <a:r>
              <a:rPr lang="en-US" sz="1050" dirty="0">
                <a:solidFill>
                  <a:srgbClr val="5A6270"/>
                </a:solidFill>
              </a:rPr>
              <a:t>What we found: nothing is a strong churn predictor from these 10 variables. Ten different ways of grouping customers, none of them separates customers who churned from stayers</a:t>
            </a:r>
          </a:p>
          <a:p>
            <a:pPr marL="685800" lvl="1" indent="-228600">
              <a:spcAft>
                <a:spcPts val="300"/>
              </a:spcAft>
              <a:buAutoNum type="arabicPeriod"/>
            </a:pPr>
            <a:r>
              <a:rPr lang="en-US" sz="1050" dirty="0">
                <a:solidFill>
                  <a:srgbClr val="5A6270"/>
                </a:solidFill>
              </a:rPr>
              <a:t>Industry came closest; p = 0.03. But one customer changes the answer. The result rests on Cybersecurity, where 2 of 23 customers left. I re-ran it with 3 customers who churned instead of 2 — a single customer:</a:t>
            </a:r>
            <a:br>
              <a:rPr lang="en-US" sz="1050" dirty="0">
                <a:solidFill>
                  <a:srgbClr val="5A6270"/>
                </a:solidFill>
              </a:rPr>
            </a:br>
            <a:br>
              <a:rPr lang="en-US" sz="1050" dirty="0">
                <a:solidFill>
                  <a:srgbClr val="5A6270"/>
                </a:solidFill>
              </a:rPr>
            </a:br>
            <a:r>
              <a:rPr lang="en-US" sz="1050" dirty="0">
                <a:solidFill>
                  <a:srgbClr val="5A6270"/>
                </a:solidFill>
              </a:rPr>
              <a:t>- As the data stands (2 of 23) p = 0.03</a:t>
            </a:r>
            <a:br>
              <a:rPr lang="en-US" sz="1050" dirty="0">
                <a:solidFill>
                  <a:srgbClr val="5A6270"/>
                </a:solidFill>
              </a:rPr>
            </a:br>
            <a:r>
              <a:rPr lang="en-US" sz="1050" dirty="0">
                <a:solidFill>
                  <a:srgbClr val="5A6270"/>
                </a:solidFill>
              </a:rPr>
              <a:t>- One more customer who churns (3 of 23) p = 0.09</a:t>
            </a:r>
            <a:br>
              <a:rPr lang="en-US" sz="1050" dirty="0">
                <a:solidFill>
                  <a:srgbClr val="5A6270"/>
                </a:solidFill>
              </a:rPr>
            </a:br>
            <a:endParaRPr lang="en-US" sz="1050" dirty="0">
              <a:solidFill>
                <a:srgbClr val="5A6270"/>
              </a:solidFill>
            </a:endParaRPr>
          </a:p>
          <a:p>
            <a:pPr marL="1143000" lvl="2" indent="-228600">
              <a:spcAft>
                <a:spcPts val="300"/>
              </a:spcAft>
              <a:buAutoNum type="arabicPeriod"/>
            </a:pPr>
            <a:endParaRPr lang="en-US" sz="1050" dirty="0">
              <a:solidFill>
                <a:srgbClr val="5A6270"/>
              </a:solidFill>
            </a:endParaRPr>
          </a:p>
          <a:p>
            <a:pPr lvl="1">
              <a:spcAft>
                <a:spcPts val="300"/>
              </a:spcAft>
            </a:pPr>
            <a:endParaRPr lang="en-US" sz="1050" dirty="0">
              <a:solidFill>
                <a:srgbClr val="5A627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2 · FEATURE ENGINEERING</a:t>
            </a:r>
          </a:p>
          <a:p>
            <a:pPr>
              <a:spcBef>
                <a:spcPts val="400"/>
              </a:spcBef>
            </a:pPr>
            <a:r>
              <a:rPr sz="2800" b="1" i="0" dirty="0">
                <a:solidFill>
                  <a:srgbClr val="1A1A1A"/>
                </a:solidFill>
                <a:latin typeface="Calibri"/>
              </a:rPr>
              <a:t>73 features</a:t>
            </a:r>
            <a:r>
              <a:rPr lang="en-US" sz="2800" b="1" i="0" dirty="0">
                <a:solidFill>
                  <a:srgbClr val="1A1A1A"/>
                </a:solidFill>
                <a:latin typeface="Calibri"/>
              </a:rPr>
              <a:t> and rational</a:t>
            </a:r>
            <a:endParaRPr sz="2800" b="1" i="0" dirty="0">
              <a:solidFill>
                <a:srgbClr val="1A1A1A"/>
              </a:solidFill>
              <a:latin typeface="Calibri"/>
            </a:endParaRP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3_point_in_time.png"/>
          <p:cNvPicPr>
            <a:picLocks noChangeAspect="1"/>
          </p:cNvPicPr>
          <p:nvPr/>
        </p:nvPicPr>
        <p:blipFill>
          <a:blip r:embed="rId2"/>
          <a:srcRect r="67813"/>
          <a:stretch>
            <a:fillRect/>
          </a:stretch>
        </p:blipFill>
        <p:spPr>
          <a:xfrm>
            <a:off x="361593" y="1607822"/>
            <a:ext cx="2387413" cy="2143406"/>
          </a:xfrm>
          <a:prstGeom prst="rect">
            <a:avLst/>
          </a:prstGeom>
        </p:spPr>
      </p:pic>
      <p:pic>
        <p:nvPicPr>
          <p:cNvPr id="11" name="Picture 10" descr="03_point_in_time.png">
            <a:extLst>
              <a:ext uri="{FF2B5EF4-FFF2-40B4-BE49-F238E27FC236}">
                <a16:creationId xmlns:a16="http://schemas.microsoft.com/office/drawing/2014/main" id="{D9478685-84BF-2555-1422-7F7ACAB891D9}"/>
              </a:ext>
            </a:extLst>
          </p:cNvPr>
          <p:cNvPicPr>
            <a:picLocks noChangeAspect="1"/>
          </p:cNvPicPr>
          <p:nvPr/>
        </p:nvPicPr>
        <p:blipFill>
          <a:blip r:embed="rId2"/>
          <a:srcRect l="30083"/>
          <a:stretch>
            <a:fillRect/>
          </a:stretch>
        </p:blipFill>
        <p:spPr>
          <a:xfrm>
            <a:off x="0" y="3853496"/>
            <a:ext cx="5011486" cy="2071262"/>
          </a:xfrm>
          <a:prstGeom prst="rect">
            <a:avLst/>
          </a:prstGeom>
        </p:spPr>
      </p:pic>
      <p:pic>
        <p:nvPicPr>
          <p:cNvPr id="15" name="Picture 14">
            <a:extLst>
              <a:ext uri="{FF2B5EF4-FFF2-40B4-BE49-F238E27FC236}">
                <a16:creationId xmlns:a16="http://schemas.microsoft.com/office/drawing/2014/main" id="{3A739226-CB47-DDA5-CE8E-5B5A1839E840}"/>
              </a:ext>
            </a:extLst>
          </p:cNvPr>
          <p:cNvPicPr>
            <a:picLocks noChangeAspect="1"/>
          </p:cNvPicPr>
          <p:nvPr/>
        </p:nvPicPr>
        <p:blipFill>
          <a:blip r:embed="rId3"/>
          <a:stretch>
            <a:fillRect/>
          </a:stretch>
        </p:blipFill>
        <p:spPr>
          <a:xfrm>
            <a:off x="5083343" y="1601362"/>
            <a:ext cx="7053024" cy="4221128"/>
          </a:xfrm>
          <a:prstGeom prst="rect">
            <a:avLst/>
          </a:prstGeom>
          <a:ln w="6350">
            <a:solidFill>
              <a:schemeClr val="bg1">
                <a:lumMod val="85000"/>
              </a:schemeClr>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3 · MODELLING</a:t>
            </a:r>
          </a:p>
          <a:p>
            <a:pPr>
              <a:spcBef>
                <a:spcPts val="400"/>
              </a:spcBef>
            </a:pPr>
            <a:r>
              <a:rPr sz="2800" b="1" i="0" dirty="0">
                <a:solidFill>
                  <a:srgbClr val="1A1A1A"/>
                </a:solidFill>
                <a:latin typeface="Calibri"/>
              </a:rPr>
              <a:t>Choosing an algorithm</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18158" y="4035339"/>
            <a:ext cx="4521563" cy="1777410"/>
          </a:xfrm>
          <a:prstGeom prst="rect">
            <a:avLst/>
          </a:prstGeom>
          <a:noFill/>
        </p:spPr>
        <p:txBody>
          <a:bodyPr wrap="square">
            <a:spAutoFit/>
          </a:bodyPr>
          <a:lstStyle/>
          <a:p>
            <a:pPr>
              <a:spcAft>
                <a:spcPts val="900"/>
              </a:spcAft>
            </a:pPr>
            <a:r>
              <a:rPr sz="1350" b="1" i="0" dirty="0">
                <a:solidFill>
                  <a:srgbClr val="1A1A1A"/>
                </a:solidFill>
                <a:latin typeface="Calibri"/>
              </a:rPr>
              <a:t>I start with a model that uses no features at all. It has to score </a:t>
            </a:r>
            <a:r>
              <a:rPr lang="en-US" sz="1350" b="1" i="0" dirty="0">
                <a:solidFill>
                  <a:srgbClr val="1A1A1A"/>
                </a:solidFill>
                <a:latin typeface="Calibri"/>
              </a:rPr>
              <a:t>ROC-AUC </a:t>
            </a:r>
            <a:r>
              <a:rPr sz="1350" b="1" i="0" dirty="0">
                <a:solidFill>
                  <a:srgbClr val="1A1A1A"/>
                </a:solidFill>
                <a:latin typeface="Calibri"/>
              </a:rPr>
              <a:t>0.5. </a:t>
            </a:r>
            <a:r>
              <a:rPr lang="en-US" sz="1350" b="1" i="0" dirty="0">
                <a:solidFill>
                  <a:srgbClr val="1A1A1A"/>
                </a:solidFill>
                <a:latin typeface="Calibri"/>
              </a:rPr>
              <a:t>Use this </a:t>
            </a:r>
            <a:r>
              <a:rPr sz="1350" b="1" i="0" dirty="0">
                <a:solidFill>
                  <a:srgbClr val="1A1A1A"/>
                </a:solidFill>
                <a:latin typeface="Calibri"/>
              </a:rPr>
              <a:t>floor </a:t>
            </a:r>
            <a:r>
              <a:rPr lang="en-US" sz="1350" b="1" i="0" dirty="0">
                <a:solidFill>
                  <a:srgbClr val="1A1A1A"/>
                </a:solidFill>
                <a:latin typeface="Calibri"/>
              </a:rPr>
              <a:t>to contrast better models</a:t>
            </a:r>
            <a:r>
              <a:rPr sz="1350" b="1" i="0" dirty="0">
                <a:solidFill>
                  <a:srgbClr val="1A1A1A"/>
                </a:solidFill>
                <a:latin typeface="Calibri"/>
              </a:rPr>
              <a:t>. </a:t>
            </a:r>
            <a:endParaRPr lang="en-US" sz="1350" b="1" i="0" dirty="0">
              <a:solidFill>
                <a:srgbClr val="1A1A1A"/>
              </a:solidFill>
              <a:latin typeface="Calibri"/>
            </a:endParaRPr>
          </a:p>
          <a:p>
            <a:pPr>
              <a:spcAft>
                <a:spcPts val="900"/>
              </a:spcAft>
            </a:pPr>
            <a:r>
              <a:rPr sz="1350" b="1" i="0" dirty="0">
                <a:solidFill>
                  <a:srgbClr val="1A1A1A"/>
                </a:solidFill>
                <a:latin typeface="Calibri"/>
              </a:rPr>
              <a:t>Then I add complexity one step at a time: a single</a:t>
            </a:r>
            <a:r>
              <a:rPr lang="en-US" sz="1350" b="1" i="0" dirty="0">
                <a:solidFill>
                  <a:srgbClr val="1A1A1A"/>
                </a:solidFill>
                <a:latin typeface="Calibri"/>
              </a:rPr>
              <a:t> decision stump</a:t>
            </a:r>
            <a:r>
              <a:rPr sz="1350" b="1" i="0" dirty="0">
                <a:solidFill>
                  <a:srgbClr val="1A1A1A"/>
                </a:solidFill>
                <a:latin typeface="Calibri"/>
              </a:rPr>
              <a:t> rule, then logistic regression, then a random forest, then three gradient boosting models.</a:t>
            </a:r>
          </a:p>
          <a:p>
            <a:pPr>
              <a:spcAft>
                <a:spcPts val="900"/>
              </a:spcAft>
            </a:pPr>
            <a:r>
              <a:rPr sz="1350" b="0" i="0" dirty="0">
                <a:solidFill>
                  <a:srgbClr val="5A6270"/>
                </a:solidFill>
                <a:latin typeface="Calibri"/>
              </a:rPr>
              <a:t>Every model is tested on exactly the same splits, so the comparison is fair. </a:t>
            </a:r>
          </a:p>
        </p:txBody>
      </p:sp>
      <p:pic>
        <p:nvPicPr>
          <p:cNvPr id="9" name="Picture 8" descr="03_how_the_range_is_made_html.png">
            <a:extLst>
              <a:ext uri="{FF2B5EF4-FFF2-40B4-BE49-F238E27FC236}">
                <a16:creationId xmlns:a16="http://schemas.microsoft.com/office/drawing/2014/main" id="{EE34B78E-69C8-C210-CBE4-DCFCFA91AFED}"/>
              </a:ext>
            </a:extLst>
          </p:cNvPr>
          <p:cNvPicPr>
            <a:picLocks noChangeAspect="1"/>
          </p:cNvPicPr>
          <p:nvPr/>
        </p:nvPicPr>
        <p:blipFill>
          <a:blip r:embed="rId2"/>
          <a:stretch>
            <a:fillRect/>
          </a:stretch>
        </p:blipFill>
        <p:spPr>
          <a:xfrm>
            <a:off x="1654342" y="1225411"/>
            <a:ext cx="9326880" cy="2331720"/>
          </a:xfrm>
          <a:prstGeom prst="rect">
            <a:avLst/>
          </a:prstGeom>
        </p:spPr>
      </p:pic>
      <p:pic>
        <p:nvPicPr>
          <p:cNvPr id="11" name="Picture 10">
            <a:extLst>
              <a:ext uri="{FF2B5EF4-FFF2-40B4-BE49-F238E27FC236}">
                <a16:creationId xmlns:a16="http://schemas.microsoft.com/office/drawing/2014/main" id="{AD950E2A-4BCA-F823-06CD-8AE5F2C59ADE}"/>
              </a:ext>
            </a:extLst>
          </p:cNvPr>
          <p:cNvPicPr>
            <a:picLocks noChangeAspect="1"/>
          </p:cNvPicPr>
          <p:nvPr/>
        </p:nvPicPr>
        <p:blipFill>
          <a:blip r:embed="rId3"/>
          <a:stretch>
            <a:fillRect/>
          </a:stretch>
        </p:blipFill>
        <p:spPr>
          <a:xfrm>
            <a:off x="239930" y="3758184"/>
            <a:ext cx="6321289" cy="233172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3 · MODELLING</a:t>
            </a:r>
          </a:p>
          <a:p>
            <a:pPr>
              <a:spcBef>
                <a:spcPts val="400"/>
              </a:spcBef>
            </a:pPr>
            <a:r>
              <a:rPr lang="en-US" sz="2800" b="1" dirty="0"/>
              <a:t>Evaluate Performance</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9_selection_null.png"/>
          <p:cNvPicPr>
            <a:picLocks noChangeAspect="1"/>
          </p:cNvPicPr>
          <p:nvPr/>
        </p:nvPicPr>
        <p:blipFill>
          <a:blip r:embed="rId2"/>
          <a:stretch>
            <a:fillRect/>
          </a:stretch>
        </p:blipFill>
        <p:spPr>
          <a:xfrm>
            <a:off x="6812280" y="1783080"/>
            <a:ext cx="4212139" cy="2331720"/>
          </a:xfrm>
          <a:prstGeom prst="rect">
            <a:avLst/>
          </a:prstGeom>
        </p:spPr>
      </p:pic>
      <p:sp>
        <p:nvSpPr>
          <p:cNvPr id="5" name="TextBox 4"/>
          <p:cNvSpPr txBox="1"/>
          <p:nvPr/>
        </p:nvSpPr>
        <p:spPr>
          <a:xfrm>
            <a:off x="685800" y="1783080"/>
            <a:ext cx="5760720" cy="1284967"/>
          </a:xfrm>
          <a:prstGeom prst="rect">
            <a:avLst/>
          </a:prstGeom>
          <a:noFill/>
        </p:spPr>
        <p:txBody>
          <a:bodyPr wrap="square">
            <a:spAutoFit/>
          </a:bodyPr>
          <a:lstStyle/>
          <a:p>
            <a:pPr>
              <a:spcAft>
                <a:spcPts val="500"/>
              </a:spcAft>
            </a:pPr>
            <a:r>
              <a:rPr lang="en-US" sz="1300" dirty="0">
                <a:solidFill>
                  <a:srgbClr val="5A6270"/>
                </a:solidFill>
              </a:rPr>
              <a:t>AUC measures how well the model sorts customers by risk. A coin flip scores 0.50. A perfect model scores 1.00</a:t>
            </a:r>
            <a:endParaRPr lang="en-US" sz="1300" dirty="0">
              <a:solidFill>
                <a:srgbClr val="5A6270"/>
              </a:solidFill>
              <a:latin typeface="Calibri"/>
            </a:endParaRPr>
          </a:p>
          <a:p>
            <a:pPr>
              <a:spcAft>
                <a:spcPts val="500"/>
              </a:spcAft>
            </a:pPr>
            <a:r>
              <a:rPr lang="en-US" sz="1300" dirty="0">
                <a:solidFill>
                  <a:srgbClr val="5A6270"/>
                </a:solidFill>
              </a:rPr>
              <a:t>Coin flip · 0.500</a:t>
            </a:r>
          </a:p>
          <a:p>
            <a:pPr>
              <a:spcAft>
                <a:spcPts val="500"/>
              </a:spcAft>
            </a:pPr>
            <a:r>
              <a:rPr lang="en-US" sz="1300" dirty="0">
                <a:solidFill>
                  <a:srgbClr val="5A6270"/>
                </a:solidFill>
              </a:rPr>
              <a:t>Our best model · 0.583</a:t>
            </a:r>
          </a:p>
          <a:p>
            <a:pPr>
              <a:spcAft>
                <a:spcPts val="500"/>
              </a:spcAft>
            </a:pPr>
            <a:r>
              <a:rPr lang="en-US" sz="1300" dirty="0">
                <a:solidFill>
                  <a:srgbClr val="5A6270"/>
                </a:solidFill>
              </a:rPr>
              <a:t>Our best model, corrected · 0.534</a:t>
            </a:r>
            <a:r>
              <a:rPr sz="600" b="0" i="0" dirty="0">
                <a:solidFill>
                  <a:srgbClr val="1A1A1A"/>
                </a:solidFill>
                <a:latin typeface="Calibri"/>
              </a:rPr>
              <a:t> </a:t>
            </a:r>
          </a:p>
        </p:txBody>
      </p:sp>
      <p:sp>
        <p:nvSpPr>
          <p:cNvPr id="6" name="TextBox 5"/>
          <p:cNvSpPr txBox="1"/>
          <p:nvPr/>
        </p:nvSpPr>
        <p:spPr>
          <a:xfrm>
            <a:off x="685800" y="3363920"/>
            <a:ext cx="5197643" cy="1469633"/>
          </a:xfrm>
          <a:prstGeom prst="rect">
            <a:avLst/>
          </a:prstGeom>
          <a:noFill/>
        </p:spPr>
        <p:txBody>
          <a:bodyPr wrap="square">
            <a:spAutoFit/>
          </a:bodyPr>
          <a:lstStyle/>
          <a:p>
            <a:pPr>
              <a:spcAft>
                <a:spcPts val="500"/>
              </a:spcAft>
            </a:pPr>
            <a:r>
              <a:rPr lang="en-US" sz="1100" b="1" dirty="0">
                <a:solidFill>
                  <a:srgbClr val="5A6270"/>
                </a:solidFill>
              </a:rPr>
              <a:t>Why the 0.583 is not a realistic measure</a:t>
            </a:r>
          </a:p>
          <a:p>
            <a:pPr marL="228600" indent="-228600">
              <a:spcAft>
                <a:spcPts val="500"/>
              </a:spcAft>
              <a:buFont typeface="+mj-lt"/>
              <a:buAutoNum type="arabicPeriod"/>
            </a:pPr>
            <a:r>
              <a:rPr lang="en-US" sz="1100" dirty="0">
                <a:solidFill>
                  <a:srgbClr val="5A6270"/>
                </a:solidFill>
              </a:rPr>
              <a:t>I tried ten models and reported the best one. </a:t>
            </a:r>
          </a:p>
          <a:p>
            <a:pPr marL="228600" indent="-228600">
              <a:spcAft>
                <a:spcPts val="500"/>
              </a:spcAft>
              <a:buFont typeface="+mj-lt"/>
              <a:buAutoNum type="arabicPeriod"/>
            </a:pPr>
            <a:r>
              <a:rPr lang="en-US" sz="1100" dirty="0">
                <a:solidFill>
                  <a:srgbClr val="5A6270"/>
                </a:solidFill>
              </a:rPr>
              <a:t>To measure how much, I shuffled the labels so there was genuinely nothing to learn, then ran the same ten-model search. Its winner scored 0.594 — higher than ours. Our number is what noise produces when you pick a winner from ten.</a:t>
            </a:r>
          </a:p>
          <a:p>
            <a:pPr marL="228600" indent="-228600">
              <a:spcAft>
                <a:spcPts val="500"/>
              </a:spcAft>
              <a:buFont typeface="+mj-lt"/>
              <a:buAutoNum type="arabicPeriod"/>
            </a:pPr>
            <a:r>
              <a:rPr lang="en-US" sz="1100" dirty="0">
                <a:solidFill>
                  <a:srgbClr val="5A6270"/>
                </a:solidFill>
              </a:rPr>
              <a:t>A second check says the same thing: across 25 repeats, eight of the ten models won at least once. A genuinely better model wins nearly every time.</a:t>
            </a:r>
            <a:endParaRPr sz="1100" b="0" i="0" dirty="0">
              <a:solidFill>
                <a:srgbClr val="5A6270"/>
              </a:solidFill>
              <a:latin typeface="Calibri"/>
            </a:endParaRPr>
          </a:p>
        </p:txBody>
      </p:sp>
      <p:sp>
        <p:nvSpPr>
          <p:cNvPr id="8" name="TextBox 7">
            <a:extLst>
              <a:ext uri="{FF2B5EF4-FFF2-40B4-BE49-F238E27FC236}">
                <a16:creationId xmlns:a16="http://schemas.microsoft.com/office/drawing/2014/main" id="{12C611BC-1707-F619-DD30-259262FFA0D2}"/>
              </a:ext>
            </a:extLst>
          </p:cNvPr>
          <p:cNvSpPr txBox="1"/>
          <p:nvPr/>
        </p:nvSpPr>
        <p:spPr>
          <a:xfrm>
            <a:off x="7044488" y="4142012"/>
            <a:ext cx="3979931" cy="1569660"/>
          </a:xfrm>
          <a:prstGeom prst="rect">
            <a:avLst/>
          </a:prstGeom>
          <a:noFill/>
        </p:spPr>
        <p:txBody>
          <a:bodyPr wrap="square" rtlCol="0">
            <a:spAutoFit/>
          </a:bodyPr>
          <a:lstStyle/>
          <a:p>
            <a:r>
              <a:rPr lang="en-US" sz="1200" b="1" dirty="0">
                <a:solidFill>
                  <a:srgbClr val="9FD2CC"/>
                </a:solidFill>
              </a:rPr>
              <a:t>Green</a:t>
            </a:r>
            <a:r>
              <a:rPr lang="en-US" sz="1200" dirty="0"/>
              <a:t> = every model, scored on shuffled labels. 20 shuffles × 15 models = 300 scores, all plotted. Mean 0.498 — pure chance, which is correct, since the labels were effectively removed</a:t>
            </a:r>
          </a:p>
          <a:p>
            <a:endParaRPr lang="en-US" sz="1200" dirty="0"/>
          </a:p>
          <a:p>
            <a:r>
              <a:rPr lang="en-US" sz="1200" b="1" dirty="0">
                <a:solidFill>
                  <a:srgbClr val="D6C782"/>
                </a:solidFill>
              </a:rPr>
              <a:t>Orange</a:t>
            </a:r>
            <a:r>
              <a:rPr lang="en-US" sz="1200" dirty="0"/>
              <a:t> = the winner from each shuffle. For each of the 20 shuffles, take only the best of the 15 models. 20 values. Mean 0.566, reaching 0.624.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3 · MODELLING</a:t>
            </a:r>
          </a:p>
          <a:p>
            <a:pPr>
              <a:spcBef>
                <a:spcPts val="400"/>
              </a:spcBef>
            </a:pPr>
            <a:r>
              <a:rPr sz="2800" b="1" i="0" dirty="0">
                <a:solidFill>
                  <a:srgbClr val="1A1A1A"/>
                </a:solidFill>
                <a:latin typeface="Calibri"/>
              </a:rPr>
              <a:t>Class imbalance</a:t>
            </a:r>
            <a:r>
              <a:rPr lang="en-US" sz="2800" b="1" i="0" dirty="0">
                <a:solidFill>
                  <a:srgbClr val="1A1A1A"/>
                </a:solidFill>
                <a:latin typeface="Calibri"/>
              </a:rPr>
              <a:t> and </a:t>
            </a:r>
            <a:r>
              <a:rPr sz="2800" b="1" i="0" dirty="0">
                <a:solidFill>
                  <a:srgbClr val="1A1A1A"/>
                </a:solidFill>
                <a:latin typeface="Calibri"/>
              </a:rPr>
              <a:t>leakage</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6_leakage_effect.png"/>
          <p:cNvPicPr>
            <a:picLocks noChangeAspect="1"/>
          </p:cNvPicPr>
          <p:nvPr/>
        </p:nvPicPr>
        <p:blipFill>
          <a:blip r:embed="rId2"/>
          <a:stretch>
            <a:fillRect/>
          </a:stretch>
        </p:blipFill>
        <p:spPr>
          <a:xfrm>
            <a:off x="6446520" y="1737360"/>
            <a:ext cx="5533595" cy="3063240"/>
          </a:xfrm>
          <a:prstGeom prst="rect">
            <a:avLst/>
          </a:prstGeom>
        </p:spPr>
      </p:pic>
      <p:sp>
        <p:nvSpPr>
          <p:cNvPr id="5" name="TextBox 4"/>
          <p:cNvSpPr txBox="1"/>
          <p:nvPr/>
        </p:nvSpPr>
        <p:spPr>
          <a:xfrm>
            <a:off x="685800" y="1737360"/>
            <a:ext cx="5486400" cy="3185487"/>
          </a:xfrm>
          <a:prstGeom prst="rect">
            <a:avLst/>
          </a:prstGeom>
          <a:noFill/>
        </p:spPr>
        <p:txBody>
          <a:bodyPr wrap="square">
            <a:spAutoFit/>
          </a:bodyPr>
          <a:lstStyle/>
          <a:p>
            <a:pPr>
              <a:spcAft>
                <a:spcPts val="600"/>
              </a:spcAft>
            </a:pPr>
            <a:r>
              <a:rPr sz="1350" b="1" i="0" dirty="0">
                <a:solidFill>
                  <a:srgbClr val="1A1A1A"/>
                </a:solidFill>
                <a:latin typeface="Calibri"/>
              </a:rPr>
              <a:t>Class imbalance</a:t>
            </a:r>
          </a:p>
          <a:p>
            <a:pPr lvl="1">
              <a:spcAft>
                <a:spcPts val="600"/>
              </a:spcAft>
            </a:pPr>
            <a:r>
              <a:rPr sz="1150" b="0" i="0" dirty="0">
                <a:solidFill>
                  <a:srgbClr val="5A6270"/>
                </a:solidFill>
                <a:latin typeface="Calibri"/>
              </a:rPr>
              <a:t>31% of customers left, so the classes are uneven but not badly so. I weight the rare class rather than inventing synthetic customers: with 54 real examples, synthetic ones are copies of copies and they flatter the score.</a:t>
            </a:r>
          </a:p>
          <a:p>
            <a:pPr lvl="1">
              <a:spcAft>
                <a:spcPts val="600"/>
              </a:spcAft>
            </a:pPr>
            <a:r>
              <a:rPr sz="1150" b="0" i="0" dirty="0">
                <a:solidFill>
                  <a:srgbClr val="5A6270"/>
                </a:solidFill>
                <a:latin typeface="Calibri"/>
              </a:rPr>
              <a:t>I set the cut-off to </a:t>
            </a:r>
            <a:r>
              <a:rPr sz="1150" b="0" i="0" dirty="0" err="1">
                <a:solidFill>
                  <a:srgbClr val="5A6270"/>
                </a:solidFill>
                <a:latin typeface="Calibri"/>
              </a:rPr>
              <a:t>favour</a:t>
            </a:r>
            <a:r>
              <a:rPr sz="1150" b="0" i="0" dirty="0">
                <a:solidFill>
                  <a:srgbClr val="5A6270"/>
                </a:solidFill>
                <a:latin typeface="Calibri"/>
              </a:rPr>
              <a:t> catching </a:t>
            </a:r>
            <a:r>
              <a:rPr lang="en-US" sz="1150" b="0" i="0" dirty="0">
                <a:solidFill>
                  <a:srgbClr val="5A6270"/>
                </a:solidFill>
                <a:latin typeface="Calibri"/>
              </a:rPr>
              <a:t>customers who churned</a:t>
            </a:r>
            <a:r>
              <a:rPr sz="1150" b="0" i="0" dirty="0">
                <a:solidFill>
                  <a:srgbClr val="5A6270"/>
                </a:solidFill>
                <a:latin typeface="Calibri"/>
              </a:rPr>
              <a:t>, because missing one costs far more than a wasted phone call. That gives 75% of </a:t>
            </a:r>
            <a:r>
              <a:rPr lang="en-US" sz="1150" b="0" i="0" dirty="0">
                <a:solidFill>
                  <a:srgbClr val="5A6270"/>
                </a:solidFill>
                <a:latin typeface="Calibri"/>
              </a:rPr>
              <a:t>customers who churned</a:t>
            </a:r>
            <a:r>
              <a:rPr sz="1150" b="0" i="0" dirty="0">
                <a:solidFill>
                  <a:srgbClr val="5A6270"/>
                </a:solidFill>
                <a:latin typeface="Calibri"/>
              </a:rPr>
              <a:t> caught, and 1 in 3 of the flagged customers actually leaving.</a:t>
            </a:r>
          </a:p>
          <a:p>
            <a:pPr lvl="1">
              <a:spcAft>
                <a:spcPts val="600"/>
              </a:spcAft>
            </a:pPr>
            <a:r>
              <a:rPr sz="1150" b="0" i="0" dirty="0">
                <a:solidFill>
                  <a:srgbClr val="5A6270"/>
                </a:solidFill>
                <a:latin typeface="Calibri"/>
              </a:rPr>
              <a:t>I report ROC-AUC because its baseline stays 0.50 at any class balance, which keeps the twelve horizon cells comparable when their churn rates run 11% to 45%. Precision-recall and F1 agree.</a:t>
            </a:r>
          </a:p>
          <a:p>
            <a:pPr>
              <a:spcAft>
                <a:spcPts val="600"/>
              </a:spcAft>
            </a:pPr>
            <a:r>
              <a:rPr sz="600" b="0" i="0" dirty="0">
                <a:solidFill>
                  <a:srgbClr val="1A1A1A"/>
                </a:solidFill>
                <a:latin typeface="Calibri"/>
              </a:rPr>
              <a:t> </a:t>
            </a:r>
          </a:p>
          <a:p>
            <a:pPr>
              <a:spcAft>
                <a:spcPts val="600"/>
              </a:spcAft>
            </a:pPr>
            <a:r>
              <a:rPr sz="1350" b="1" i="0" dirty="0">
                <a:solidFill>
                  <a:srgbClr val="B02E2E"/>
                </a:solidFill>
                <a:latin typeface="Calibri"/>
              </a:rPr>
              <a:t>I do not rely on reading the code to catch leakage.</a:t>
            </a:r>
          </a:p>
          <a:p>
            <a:pPr lvl="1">
              <a:spcAft>
                <a:spcPts val="600"/>
              </a:spcAft>
            </a:pPr>
            <a:r>
              <a:rPr sz="1150" b="0" i="0" dirty="0">
                <a:solidFill>
                  <a:srgbClr val="5A6270"/>
                </a:solidFill>
                <a:latin typeface="Calibri"/>
              </a:rPr>
              <a:t>Automatic checks run before any result is reported and block it if anything fails. They look for dates after the cutoff, banned columns by name, and any single feature that predicts too well.</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1A1A1A"/>
                </a:solidFill>
                <a:latin typeface="Calibri"/>
              </a:rPr>
              <a:t>The chart is why those checks earn their place. Columns that only exist after a customer leaves are worth 0.37 of extra AUC — they push the model to 0.79, which looks like a good model rather than a broken one. A pipeline that lets the future in scores 0.42, below guessing. Both failures are invisible in the score alone.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3 · MODELLING</a:t>
            </a:r>
          </a:p>
          <a:p>
            <a:pPr>
              <a:spcBef>
                <a:spcPts val="400"/>
              </a:spcBef>
            </a:pPr>
            <a:r>
              <a:rPr sz="2800" b="1" dirty="0">
                <a:solidFill>
                  <a:srgbClr val="1A1A1A"/>
                </a:solidFill>
                <a:latin typeface="Calibri"/>
              </a:rPr>
              <a:t>Interpretability</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3_shap_real_vs_shuffled.png"/>
          <p:cNvPicPr>
            <a:picLocks noChangeAspect="1"/>
          </p:cNvPicPr>
          <p:nvPr/>
        </p:nvPicPr>
        <p:blipFill>
          <a:blip r:embed="rId2"/>
          <a:stretch>
            <a:fillRect/>
          </a:stretch>
        </p:blipFill>
        <p:spPr>
          <a:xfrm>
            <a:off x="2260186" y="1572768"/>
            <a:ext cx="7671323" cy="2514600"/>
          </a:xfrm>
          <a:prstGeom prst="rect">
            <a:avLst/>
          </a:prstGeom>
        </p:spPr>
      </p:pic>
      <p:sp>
        <p:nvSpPr>
          <p:cNvPr id="5" name="TextBox 4"/>
          <p:cNvSpPr txBox="1"/>
          <p:nvPr/>
        </p:nvSpPr>
        <p:spPr>
          <a:xfrm>
            <a:off x="685800" y="4315968"/>
            <a:ext cx="10820095" cy="4572000"/>
          </a:xfrm>
          <a:prstGeom prst="rect">
            <a:avLst/>
          </a:prstGeom>
          <a:noFill/>
        </p:spPr>
        <p:txBody>
          <a:bodyPr wrap="square">
            <a:spAutoFit/>
          </a:bodyPr>
          <a:lstStyle/>
          <a:p>
            <a:pPr>
              <a:spcAft>
                <a:spcPts val="400"/>
              </a:spcAft>
            </a:pPr>
            <a:r>
              <a:rPr sz="1250" b="1" i="0">
                <a:solidFill>
                  <a:srgbClr val="B02E2E"/>
                </a:solidFill>
                <a:latin typeface="Calibri"/>
              </a:rPr>
              <a:t>These are the same chart. The right-hand one is built from labels I shuffled at random — and it is more confident about its winner than the real one is.</a:t>
            </a:r>
          </a:p>
          <a:p>
            <a:pPr>
              <a:spcAft>
                <a:spcPts val="400"/>
              </a:spcAft>
            </a:pPr>
            <a:r>
              <a:rPr sz="1250" b="1" i="0">
                <a:solidFill>
                  <a:srgbClr val="1A1A1A"/>
                </a:solidFill>
                <a:latin typeface="Calibri"/>
              </a:rPr>
              <a:t>SHAP will always return a clean, ordered, plausible ranking. It has no way to tell you it has nothing to say, which is why every attribution method here is paired with a random baseline before it is believed.</a:t>
            </a:r>
          </a:p>
          <a:p>
            <a:pPr>
              <a:spcAft>
                <a:spcPts val="400"/>
              </a:spcAft>
            </a:pPr>
            <a:r>
              <a:rPr sz="1250" b="0" i="0">
                <a:solidFill>
                  <a:srgbClr val="1A1A1A"/>
                </a:solidFill>
                <a:latin typeface="Calibri"/>
              </a:rPr>
              <a:t>The numbers underneath: the top feature beats random labels only 3 times in 4 (p = 0.24). Twelve different features take first place across 25 reruns. Permutation importance on held-out data is beaten by noise outright.</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Read without the right-hand panel, the left one says support load per seat drives churn, then contract size, then tenure. All three are plausible. That is exactly what makes it dangerous.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4 · RECOMMENDATION 1</a:t>
            </a:r>
          </a:p>
          <a:p>
            <a:pPr>
              <a:spcBef>
                <a:spcPts val="400"/>
              </a:spcBef>
            </a:pPr>
            <a:r>
              <a:rPr lang="en-US" sz="2800" b="1" i="0" dirty="0">
                <a:latin typeface="Calibri"/>
              </a:rPr>
              <a:t>Insight 1: </a:t>
            </a:r>
            <a:r>
              <a:rPr sz="2800" b="1" i="0" dirty="0">
                <a:latin typeface="Calibri"/>
              </a:rPr>
              <a:t>Do not go looking for what changed in 2024</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6_generator_artefact.png"/>
          <p:cNvPicPr>
            <a:picLocks noChangeAspect="1"/>
          </p:cNvPicPr>
          <p:nvPr/>
        </p:nvPicPr>
        <p:blipFill>
          <a:blip r:embed="rId3"/>
          <a:stretch>
            <a:fillRect/>
          </a:stretch>
        </p:blipFill>
        <p:spPr>
          <a:xfrm>
            <a:off x="1906186" y="1554480"/>
            <a:ext cx="8379323" cy="2788920"/>
          </a:xfrm>
          <a:prstGeom prst="rect">
            <a:avLst/>
          </a:prstGeom>
        </p:spPr>
      </p:pic>
      <p:sp>
        <p:nvSpPr>
          <p:cNvPr id="5" name="TextBox 4"/>
          <p:cNvSpPr txBox="1"/>
          <p:nvPr/>
        </p:nvSpPr>
        <p:spPr>
          <a:xfrm>
            <a:off x="685800" y="4572000"/>
            <a:ext cx="10820095" cy="4572000"/>
          </a:xfrm>
          <a:prstGeom prst="rect">
            <a:avLst/>
          </a:prstGeom>
          <a:noFill/>
        </p:spPr>
        <p:txBody>
          <a:bodyPr wrap="square">
            <a:spAutoFit/>
          </a:bodyPr>
          <a:lstStyle/>
          <a:p>
            <a:pPr>
              <a:spcAft>
                <a:spcPts val="400"/>
              </a:spcAft>
            </a:pPr>
            <a:r>
              <a:rPr sz="1250" b="1" i="0">
                <a:solidFill>
                  <a:srgbClr val="1A1A1A"/>
                </a:solidFill>
                <a:latin typeface="Calibri"/>
              </a:rPr>
              <a:t>Churn looks like it is accelerating. About 5 in every 100 customers left each month in 2023, rising to 22 in 100 by December 2024 — a 2.8x rise per year, p = 2e-16. It was by far the strongest number in this study.</a:t>
            </a:r>
          </a:p>
          <a:p>
            <a:pPr>
              <a:spcAft>
                <a:spcPts val="400"/>
              </a:spcAft>
            </a:pPr>
            <a:r>
              <a:rPr sz="1250" b="1" i="0">
                <a:solidFill>
                  <a:srgbClr val="B02E2E"/>
                </a:solidFill>
                <a:latin typeface="Calibri"/>
              </a:rPr>
              <a:t>It is not a fact about customers. Every churn date in this file is a random date between the day the customer joined and the last day of the extract. A random date has nowhere to go but the end of the file, so the rate climbs on its own, with nothing happening in the business.</a:t>
            </a:r>
          </a:p>
          <a:p>
            <a:pPr>
              <a:spcAft>
                <a:spcPts val="400"/>
              </a:spcAft>
            </a:pPr>
            <a:r>
              <a:rPr sz="1250" b="1" i="0">
                <a:solidFill>
                  <a:srgbClr val="1A1A1A"/>
                </a:solidFill>
                <a:latin typeface="Calibri"/>
              </a:rPr>
              <a:t>Rebuilding the data from that one rule gives the same answer: a 2.78x rise per year, all 24 months inside the range chance produces, and our result sitting at the 52nd percentile of pure noise. So there is nothing here to investigate, and that is the recommendation.</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1A1A1A"/>
                </a:solidFill>
                <a:latin typeface="Calibri"/>
              </a:rPr>
              <a:t>The test that mattered was not "is this bigger than noise" — it was, comfortably. It was "would the file produce this on its own". On generated data that is the only null worth testing, and it is the one I had not run.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4 · RECOMMENDATION 2</a:t>
            </a:r>
          </a:p>
          <a:p>
            <a:pPr>
              <a:spcBef>
                <a:spcPts val="400"/>
              </a:spcBef>
            </a:pPr>
            <a:r>
              <a:rPr lang="en-US" sz="2800" b="1" i="0" dirty="0">
                <a:latin typeface="Calibri"/>
              </a:rPr>
              <a:t>Insight 2: </a:t>
            </a:r>
            <a:r>
              <a:rPr sz="2800" b="1" i="0" dirty="0">
                <a:latin typeface="Calibri"/>
              </a:rPr>
              <a:t>Do not build the onboarding </a:t>
            </a:r>
            <a:r>
              <a:rPr sz="2800" b="1" i="0" dirty="0" err="1">
                <a:latin typeface="Calibri"/>
              </a:rPr>
              <a:t>programme</a:t>
            </a:r>
            <a:endParaRPr sz="2800" b="1" i="0" dirty="0">
              <a:latin typeface="Calibri"/>
            </a:endParaRP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2_cohort_gradient.png"/>
          <p:cNvPicPr>
            <a:picLocks noChangeAspect="1"/>
          </p:cNvPicPr>
          <p:nvPr/>
        </p:nvPicPr>
        <p:blipFill>
          <a:blip r:embed="rId2"/>
          <a:stretch>
            <a:fillRect/>
          </a:stretch>
        </p:blipFill>
        <p:spPr>
          <a:xfrm>
            <a:off x="3590694" y="1627632"/>
            <a:ext cx="5010307" cy="2743200"/>
          </a:xfrm>
          <a:prstGeom prst="rect">
            <a:avLst/>
          </a:prstGeom>
        </p:spPr>
      </p:pic>
      <p:sp>
        <p:nvSpPr>
          <p:cNvPr id="5" name="TextBox 4"/>
          <p:cNvSpPr txBox="1"/>
          <p:nvPr/>
        </p:nvSpPr>
        <p:spPr>
          <a:xfrm>
            <a:off x="685800" y="4526280"/>
            <a:ext cx="10820095" cy="4572000"/>
          </a:xfrm>
          <a:prstGeom prst="rect">
            <a:avLst/>
          </a:prstGeom>
          <a:noFill/>
        </p:spPr>
        <p:txBody>
          <a:bodyPr wrap="square">
            <a:spAutoFit/>
          </a:bodyPr>
          <a:lstStyle/>
          <a:p>
            <a:pPr>
              <a:spcAft>
                <a:spcPts val="400"/>
              </a:spcAft>
            </a:pPr>
            <a:r>
              <a:rPr sz="1250" b="1" i="0">
                <a:solidFill>
                  <a:srgbClr val="1A1A1A"/>
                </a:solidFill>
                <a:latin typeface="Calibri"/>
              </a:rPr>
              <a:t>New customers look fragile, and risk looks like it falls with age. That is the usual reason to fund onboarding, and the evidence for it looks strong: 30-day survival drops from 0.98 for the 2023 intake to 0.59 for the 2024 one, measured at the same age.</a:t>
            </a:r>
          </a:p>
          <a:p>
            <a:pPr>
              <a:spcAft>
                <a:spcPts val="400"/>
              </a:spcAft>
            </a:pPr>
            <a:r>
              <a:rPr sz="1250" b="1" i="0">
                <a:solidFill>
                  <a:srgbClr val="B02E2E"/>
                </a:solidFill>
                <a:latin typeface="Calibri"/>
              </a:rPr>
              <a:t>It is the same random date. A customer who joined recently has a shorter window for that date to land in, so a larger share of their draws fall inside any 90-day question we ask. They look worse at every age without anything about them being worse.</a:t>
            </a:r>
          </a:p>
          <a:p>
            <a:pPr>
              <a:spcAft>
                <a:spcPts val="400"/>
              </a:spcAft>
            </a:pPr>
            <a:r>
              <a:rPr sz="1250" b="1" i="0">
                <a:solidFill>
                  <a:srgbClr val="1A1A1A"/>
                </a:solidFill>
                <a:latin typeface="Calibri"/>
              </a:rPr>
              <a:t>Simulated data with no tenure effect in it at all clears the significance bar in 93% of runs, and does so more strongly than the real data does (p = 0.002 against 0.006). Within one joining month there is nothing left: a day-300 customer leaves as often as a day-10 one.</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The recommendation does not change; the reason for it gets one layer deeper. This is the same finding as slide 11, applied to a spending decision instead of an investigation.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759182"/>
          </a:xfrm>
          <a:prstGeom prst="rect">
            <a:avLst/>
          </a:prstGeom>
          <a:noFill/>
        </p:spPr>
        <p:txBody>
          <a:bodyPr wrap="square">
            <a:spAutoFit/>
          </a:bodyPr>
          <a:lstStyle/>
          <a:p>
            <a:r>
              <a:rPr sz="1200" b="1" i="0" dirty="0">
                <a:solidFill>
                  <a:srgbClr val="5A6270"/>
                </a:solidFill>
                <a:latin typeface="Calibri"/>
              </a:rPr>
              <a:t>PART 4 · RECOMMENDATION 3</a:t>
            </a:r>
          </a:p>
          <a:p>
            <a:pPr>
              <a:spcBef>
                <a:spcPts val="400"/>
              </a:spcBef>
            </a:pPr>
            <a:r>
              <a:rPr lang="en-US" sz="2800" b="1" i="0" dirty="0">
                <a:latin typeface="Calibri"/>
              </a:rPr>
              <a:t>Insight 3: </a:t>
            </a:r>
            <a:r>
              <a:rPr sz="2800" b="1" i="0" dirty="0">
                <a:latin typeface="Calibri"/>
              </a:rPr>
              <a:t>Call every at-risk customer, do not rank them</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5_breakeven_grid.png"/>
          <p:cNvPicPr>
            <a:picLocks noChangeAspect="1"/>
          </p:cNvPicPr>
          <p:nvPr/>
        </p:nvPicPr>
        <p:blipFill>
          <a:blip r:embed="rId2"/>
          <a:stretch>
            <a:fillRect/>
          </a:stretch>
        </p:blipFill>
        <p:spPr>
          <a:xfrm>
            <a:off x="3492925" y="1645920"/>
            <a:ext cx="5205845" cy="3017520"/>
          </a:xfrm>
          <a:prstGeom prst="rect">
            <a:avLst/>
          </a:prstGeom>
        </p:spPr>
      </p:pic>
      <p:sp>
        <p:nvSpPr>
          <p:cNvPr id="5" name="TextBox 4"/>
          <p:cNvSpPr txBox="1"/>
          <p:nvPr/>
        </p:nvSpPr>
        <p:spPr>
          <a:xfrm>
            <a:off x="685800" y="4846320"/>
            <a:ext cx="10820095" cy="4572000"/>
          </a:xfrm>
          <a:prstGeom prst="rect">
            <a:avLst/>
          </a:prstGeom>
          <a:noFill/>
        </p:spPr>
        <p:txBody>
          <a:bodyPr wrap="square">
            <a:spAutoFit/>
          </a:bodyPr>
          <a:lstStyle/>
          <a:p>
            <a:pPr>
              <a:spcAft>
                <a:spcPts val="900"/>
              </a:spcAft>
            </a:pPr>
            <a:r>
              <a:rPr sz="1300" b="1" i="0">
                <a:solidFill>
                  <a:srgbClr val="1A1A1A"/>
                </a:solidFill>
                <a:latin typeface="Calibri"/>
              </a:rPr>
              <a:t>A call costs about $150. A customer is worth about $7,300. If the call works one time in five, it pays for itself on any customer with more than a 10% chance of leaving. In this group, 31% leave.</a:t>
            </a:r>
          </a:p>
          <a:p>
            <a:pPr>
              <a:spcAft>
                <a:spcPts val="900"/>
              </a:spcAft>
            </a:pPr>
            <a:r>
              <a:rPr sz="1300" b="1" i="0">
                <a:solidFill>
                  <a:srgbClr val="1E7A4B"/>
                </a:solidFill>
                <a:latin typeface="Calibri"/>
              </a:rPr>
              <a:t>So calling everyone already makes money, and no ranking can improve on a decision that is right for every customer. Using the model adds $600 on top of $52,400. That is a 1% gain, and even that is generous.</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This is one division. Had I run it first, it would have shown that a working model was never the thing standing between us and the decision.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4 · TESTING APPROACH</a:t>
            </a:r>
          </a:p>
          <a:p>
            <a:pPr>
              <a:spcBef>
                <a:spcPts val="400"/>
              </a:spcBef>
            </a:pPr>
            <a:r>
              <a:rPr sz="2800" b="1" i="0">
                <a:solidFill>
                  <a:srgbClr val="1A1A1A"/>
                </a:solidFill>
                <a:latin typeface="Calibri"/>
              </a:rPr>
              <a:t>How I would test this, and what is worth testing</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5_experiment_power.png"/>
          <p:cNvPicPr>
            <a:picLocks noChangeAspect="1"/>
          </p:cNvPicPr>
          <p:nvPr/>
        </p:nvPicPr>
        <p:blipFill>
          <a:blip r:embed="rId2"/>
          <a:stretch>
            <a:fillRect/>
          </a:stretch>
        </p:blipFill>
        <p:spPr>
          <a:xfrm>
            <a:off x="6492240" y="1737360"/>
            <a:ext cx="5344328" cy="2926080"/>
          </a:xfrm>
          <a:prstGeom prst="rect">
            <a:avLst/>
          </a:prstGeom>
        </p:spPr>
      </p:pic>
      <p:sp>
        <p:nvSpPr>
          <p:cNvPr id="5" name="TextBox 4"/>
          <p:cNvSpPr txBox="1"/>
          <p:nvPr/>
        </p:nvSpPr>
        <p:spPr>
          <a:xfrm>
            <a:off x="685800" y="1719072"/>
            <a:ext cx="5486400" cy="4572000"/>
          </a:xfrm>
          <a:prstGeom prst="rect">
            <a:avLst/>
          </a:prstGeom>
          <a:noFill/>
        </p:spPr>
        <p:txBody>
          <a:bodyPr wrap="square">
            <a:spAutoFit/>
          </a:bodyPr>
          <a:lstStyle/>
          <a:p>
            <a:pPr>
              <a:spcAft>
                <a:spcPts val="900"/>
              </a:spcAft>
            </a:pPr>
            <a:r>
              <a:rPr sz="1400" b="1" i="0">
                <a:solidFill>
                  <a:srgbClr val="1A1A1A"/>
                </a:solidFill>
                <a:latin typeface="Calibri"/>
              </a:rPr>
              <a:t>Recommendation 1 is not an experiment. It is a data request.</a:t>
            </a:r>
          </a:p>
          <a:p>
            <a:pPr lvl="1">
              <a:spcAft>
                <a:spcPts val="900"/>
              </a:spcAft>
            </a:pPr>
            <a:r>
              <a:rPr sz="1200" b="0" i="0">
                <a:solidFill>
                  <a:srgbClr val="5A6270"/>
                </a:solidFill>
                <a:latin typeface="Calibri"/>
              </a:rPr>
              <a:t>Nothing in this extract can say why customers leave, because the timestamps were never recorded against the customers they belong to. Ask for an export where they are, then rerun this pipeline and compare against the score written down today.</a:t>
            </a:r>
          </a:p>
          <a:p>
            <a:pPr>
              <a:spcAft>
                <a:spcPts val="900"/>
              </a:spcAft>
            </a:pPr>
            <a:r>
              <a:rPr sz="600" b="0" i="0">
                <a:solidFill>
                  <a:srgbClr val="1A1A1A"/>
                </a:solidFill>
                <a:latin typeface="Calibri"/>
              </a:rPr>
              <a:t> </a:t>
            </a:r>
          </a:p>
          <a:p>
            <a:pPr>
              <a:spcAft>
                <a:spcPts val="900"/>
              </a:spcAft>
            </a:pPr>
            <a:r>
              <a:rPr sz="1400" b="1" i="0">
                <a:solidFill>
                  <a:srgbClr val="1A1A1A"/>
                </a:solidFill>
                <a:latin typeface="Calibri"/>
              </a:rPr>
              <a:t>Recommendation 3 is a proper experiment.</a:t>
            </a:r>
          </a:p>
          <a:p>
            <a:pPr lvl="1">
              <a:spcAft>
                <a:spcPts val="900"/>
              </a:spcAft>
            </a:pPr>
            <a:r>
              <a:rPr sz="1200" b="0" i="0">
                <a:solidFill>
                  <a:srgbClr val="5A6270"/>
                </a:solidFill>
                <a:latin typeface="Calibri"/>
              </a:rPr>
              <a:t>Split the at-risk customers in half at random. One half gets a call, one half does not. Measure retention after 180 days, and measure money kept as well, so a costly save is not mistaken for a win.</a:t>
            </a:r>
          </a:p>
          <a:p>
            <a:pPr>
              <a:spcAft>
                <a:spcPts val="900"/>
              </a:spcAft>
            </a:pPr>
            <a:r>
              <a:rPr sz="600" b="0" i="0">
                <a:solidFill>
                  <a:srgbClr val="1A1A1A"/>
                </a:solidFill>
                <a:latin typeface="Calibri"/>
              </a:rPr>
              <a:t> </a:t>
            </a:r>
          </a:p>
          <a:p>
            <a:pPr>
              <a:spcAft>
                <a:spcPts val="900"/>
              </a:spcAft>
            </a:pPr>
            <a:r>
              <a:rPr sz="1400" b="1" i="0">
                <a:solidFill>
                  <a:srgbClr val="B02E2E"/>
                </a:solidFill>
                <a:latin typeface="Calibri"/>
              </a:rPr>
              <a:t>But be realistic about what we can detect.</a:t>
            </a:r>
          </a:p>
          <a:p>
            <a:pPr lvl="1">
              <a:spcAft>
                <a:spcPts val="900"/>
              </a:spcAft>
            </a:pPr>
            <a:r>
              <a:rPr sz="1200" b="0" i="0">
                <a:solidFill>
                  <a:srgbClr val="5A6270"/>
                </a:solidFill>
                <a:latin typeface="Calibri"/>
              </a:rPr>
              <a:t>At about 21 new customers a month, only a very large effect can be proved:</a:t>
            </a:r>
          </a:p>
          <a:p>
            <a:pPr lvl="1">
              <a:spcAft>
                <a:spcPts val="900"/>
              </a:spcAft>
            </a:pPr>
            <a:r>
              <a:rPr sz="1200" b="0" i="0">
                <a:solidFill>
                  <a:srgbClr val="5A6270"/>
                </a:solidFill>
                <a:latin typeface="Calibri"/>
              </a:rPr>
              <a:t>Halving churn takes about 15 months to show.</a:t>
            </a:r>
          </a:p>
          <a:p>
            <a:pPr lvl="1">
              <a:spcAft>
                <a:spcPts val="900"/>
              </a:spcAft>
            </a:pPr>
            <a:r>
              <a:rPr sz="1200" b="0" i="0">
                <a:solidFill>
                  <a:srgbClr val="5A6270"/>
                </a:solidFill>
                <a:latin typeface="Calibri"/>
              </a:rPr>
              <a:t>A 5 point improvement would take over 10 years.</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Two separate methods agree on this. A standard power calculation and a simulation both say we cannot detect anything smaller than about a 15 point change.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5 · MENTORSHIP</a:t>
            </a:r>
          </a:p>
          <a:p>
            <a:pPr>
              <a:spcBef>
                <a:spcPts val="400"/>
              </a:spcBef>
            </a:pPr>
            <a:r>
              <a:rPr sz="2800" b="1" i="0">
                <a:solidFill>
                  <a:srgbClr val="1A1A1A"/>
                </a:solidFill>
                <a:latin typeface="Calibri"/>
              </a:rPr>
              <a:t>What I would teach a junior engineer</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719072"/>
            <a:ext cx="10820095" cy="4572000"/>
          </a:xfrm>
          <a:prstGeom prst="rect">
            <a:avLst/>
          </a:prstGeom>
          <a:noFill/>
        </p:spPr>
        <p:txBody>
          <a:bodyPr wrap="square">
            <a:spAutoFit/>
          </a:bodyPr>
          <a:lstStyle/>
          <a:p>
            <a:pPr>
              <a:spcAft>
                <a:spcPts val="400"/>
              </a:spcAft>
            </a:pPr>
            <a:r>
              <a:rPr sz="1300" b="1" i="0" dirty="0">
                <a:solidFill>
                  <a:srgbClr val="1A1A1A"/>
                </a:solidFill>
                <a:latin typeface="Calibri"/>
              </a:rPr>
              <a:t>I would hand them my own worst mistake on this project, because that is where the judgement that transfers to other work lives.</a:t>
            </a:r>
          </a:p>
          <a:p>
            <a:pPr>
              <a:spcAft>
                <a:spcPts val="400"/>
              </a:spcAft>
            </a:pPr>
            <a:r>
              <a:rPr sz="600" b="0" i="0" dirty="0">
                <a:solidFill>
                  <a:srgbClr val="1A1A1A"/>
                </a:solidFill>
                <a:latin typeface="Calibri"/>
              </a:rPr>
              <a:t> </a:t>
            </a:r>
          </a:p>
          <a:p>
            <a:pPr>
              <a:spcAft>
                <a:spcPts val="400"/>
              </a:spcAft>
            </a:pPr>
            <a:r>
              <a:rPr sz="1300" b="1" i="0" dirty="0">
                <a:solidFill>
                  <a:srgbClr val="B02E2E"/>
                </a:solidFill>
                <a:latin typeface="Calibri"/>
              </a:rPr>
              <a:t>1. Be hardest on the finding you like.</a:t>
            </a:r>
          </a:p>
          <a:p>
            <a:pPr lvl="1">
              <a:spcAft>
                <a:spcPts val="400"/>
              </a:spcAft>
            </a:pPr>
            <a:r>
              <a:rPr sz="1100" b="0" i="0" dirty="0">
                <a:solidFill>
                  <a:srgbClr val="5A6270"/>
                </a:solidFill>
                <a:latin typeface="Calibri"/>
              </a:rPr>
              <a:t>I had one positive result and a page of nulls, and I checked the nulls. The positive one was manufactured by the file. Ask of any finding: what else could have produced this, and can I generate it from nothing?</a:t>
            </a:r>
          </a:p>
          <a:p>
            <a:pPr>
              <a:spcAft>
                <a:spcPts val="400"/>
              </a:spcAft>
            </a:pPr>
            <a:r>
              <a:rPr sz="1300" b="1" i="0" dirty="0">
                <a:solidFill>
                  <a:srgbClr val="B02E2E"/>
                </a:solidFill>
                <a:latin typeface="Calibri"/>
              </a:rPr>
              <a:t>2. A small p-value is not evidence. It is evidence against one null.</a:t>
            </a:r>
          </a:p>
          <a:p>
            <a:pPr lvl="1">
              <a:spcAft>
                <a:spcPts val="400"/>
              </a:spcAft>
            </a:pPr>
            <a:r>
              <a:rPr sz="1100" b="0" i="0" dirty="0">
                <a:solidFill>
                  <a:srgbClr val="5A6270"/>
                </a:solidFill>
                <a:latin typeface="Calibri"/>
              </a:rPr>
              <a:t>p = 2e-16 felt unarguable. Random dates gave p = 3e-16. If the null is the wrong one, no amount of significance rescues it.</a:t>
            </a:r>
          </a:p>
          <a:p>
            <a:pPr>
              <a:spcAft>
                <a:spcPts val="400"/>
              </a:spcAft>
            </a:pPr>
            <a:r>
              <a:rPr sz="1300" b="1" i="0" dirty="0">
                <a:solidFill>
                  <a:srgbClr val="1A1A1A"/>
                </a:solidFill>
                <a:latin typeface="Calibri"/>
              </a:rPr>
              <a:t>3. Start with the target, not the model.</a:t>
            </a:r>
          </a:p>
          <a:p>
            <a:pPr lvl="1">
              <a:spcAft>
                <a:spcPts val="400"/>
              </a:spcAft>
            </a:pPr>
            <a:r>
              <a:rPr sz="1100" b="0" i="0" dirty="0">
                <a:solidFill>
                  <a:srgbClr val="5A6270"/>
                </a:solidFill>
                <a:latin typeface="Calibri"/>
              </a:rPr>
              <a:t>My first version modelled a flag unrelated to the event log. Counting rows found it. Then check your own check: I first called 38% agreement ‘worse than a coin flip’, and it is not — for two columns this different in size, chance agreement is 39%, not 50%.</a:t>
            </a:r>
          </a:p>
          <a:p>
            <a:pPr>
              <a:spcAft>
                <a:spcPts val="400"/>
              </a:spcAft>
            </a:pPr>
            <a:r>
              <a:rPr sz="1300" b="1" i="0" dirty="0">
                <a:solidFill>
                  <a:srgbClr val="1A1A1A"/>
                </a:solidFill>
                <a:latin typeface="Calibri"/>
              </a:rPr>
              <a:t>4. Ask of every column: would I really have this on the day I predict?</a:t>
            </a:r>
          </a:p>
          <a:p>
            <a:pPr lvl="1">
              <a:spcAft>
                <a:spcPts val="400"/>
              </a:spcAft>
            </a:pPr>
            <a:r>
              <a:rPr sz="1100" b="0" i="0" dirty="0">
                <a:solidFill>
                  <a:srgbClr val="5A6270"/>
                </a:solidFill>
                <a:latin typeface="Calibri"/>
              </a:rPr>
              <a:t>Then write the check down so a machine runs it. Reading caught the obvious problem; the automatic check caught the one I missed.</a:t>
            </a:r>
          </a:p>
          <a:p>
            <a:pPr>
              <a:spcAft>
                <a:spcPts val="400"/>
              </a:spcAft>
            </a:pPr>
            <a:r>
              <a:rPr sz="1300" b="1" i="0" dirty="0">
                <a:solidFill>
                  <a:srgbClr val="1A1A1A"/>
                </a:solidFill>
                <a:latin typeface="Calibri"/>
              </a:rPr>
              <a:t>5. Find the floor, and report the range.</a:t>
            </a:r>
          </a:p>
          <a:p>
            <a:pPr lvl="1">
              <a:spcAft>
                <a:spcPts val="400"/>
              </a:spcAft>
            </a:pPr>
            <a:r>
              <a:rPr sz="1100" b="0" i="0" dirty="0">
                <a:solidFill>
                  <a:srgbClr val="5A6270"/>
                </a:solidFill>
                <a:latin typeface="Calibri"/>
              </a:rPr>
              <a:t>Always run the model with no features first. A range that includes guessing says something the average hides.</a:t>
            </a:r>
          </a:p>
          <a:p>
            <a:pPr>
              <a:spcAft>
                <a:spcPts val="400"/>
              </a:spcAft>
            </a:pPr>
            <a:r>
              <a:rPr sz="1300" b="1" i="0" dirty="0">
                <a:solidFill>
                  <a:srgbClr val="2E5F8A"/>
                </a:solidFill>
                <a:latin typeface="Calibri"/>
              </a:rPr>
              <a:t>6. Choosing a model is part of fitting it.</a:t>
            </a:r>
          </a:p>
          <a:p>
            <a:pPr lvl="1">
              <a:spcAft>
                <a:spcPts val="400"/>
              </a:spcAft>
            </a:pPr>
            <a:r>
              <a:rPr sz="1100" b="0" i="0" dirty="0">
                <a:solidFill>
                  <a:srgbClr val="5A6270"/>
                </a:solidFill>
                <a:latin typeface="Calibri"/>
              </a:rPr>
              <a:t>Here the gap between the best model and the honest score was the entire apparent signal.</a:t>
            </a:r>
          </a:p>
        </p:txBody>
      </p:sp>
      <p:sp>
        <p:nvSpPr>
          <p:cNvPr id="5" name="TextBox 4"/>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I would teach all of it as experiments rather than lectures. Switch off the banned column list and watch AUC jump from 0.58 to 0.79. Then simulate a dataset with nothing in it and watch it produce a publishable-looking trend.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5 · SCALABILITY</a:t>
            </a:r>
          </a:p>
          <a:p>
            <a:pPr>
              <a:spcBef>
                <a:spcPts val="400"/>
              </a:spcBef>
            </a:pPr>
            <a:r>
              <a:rPr sz="2800" b="1" i="0">
                <a:solidFill>
                  <a:srgbClr val="1A1A1A"/>
                </a:solidFill>
                <a:latin typeface="Calibri"/>
              </a:rPr>
              <a:t>How I would run this in production</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719072"/>
            <a:ext cx="5577840" cy="4206240"/>
          </a:xfrm>
          <a:prstGeom prst="rect">
            <a:avLst/>
          </a:prstGeom>
          <a:noFill/>
        </p:spPr>
        <p:txBody>
          <a:bodyPr wrap="square">
            <a:spAutoFit/>
          </a:bodyPr>
          <a:lstStyle/>
          <a:p>
            <a:pPr>
              <a:spcAft>
                <a:spcPts val="300"/>
              </a:spcAft>
            </a:pPr>
            <a:r>
              <a:rPr sz="1250" b="1" i="0">
                <a:solidFill>
                  <a:srgbClr val="1A1A1A"/>
                </a:solidFill>
                <a:latin typeface="Calibri"/>
              </a:rPr>
              <a:t>Sources:  billing and CRM, product usage, support desk</a:t>
            </a:r>
          </a:p>
          <a:p>
            <a:pPr>
              <a:spcAft>
                <a:spcPts val="300"/>
              </a:spcAft>
            </a:pPr>
            <a:r>
              <a:rPr sz="1250" b="0" i="0">
                <a:solidFill>
                  <a:srgbClr val="5A6270"/>
                </a:solidFill>
                <a:latin typeface="Calibri"/>
              </a:rPr>
              <a:t>        |  runs once a night</a:t>
            </a:r>
          </a:p>
          <a:p>
            <a:pPr>
              <a:spcAft>
                <a:spcPts val="300"/>
              </a:spcAft>
            </a:pPr>
            <a:r>
              <a:rPr sz="1250" b="1" i="0">
                <a:solidFill>
                  <a:srgbClr val="1A1A1A"/>
                </a:solidFill>
                <a:latin typeface="Calibri"/>
              </a:rPr>
              <a:t>Feature build  (THE SAME CODE USED IN TRAINING)</a:t>
            </a:r>
          </a:p>
          <a:p>
            <a:pPr>
              <a:spcAft>
                <a:spcPts val="300"/>
              </a:spcAft>
            </a:pPr>
            <a:r>
              <a:rPr sz="1250" b="0" i="0">
                <a:solidFill>
                  <a:srgbClr val="5A6270"/>
                </a:solidFill>
                <a:latin typeface="Calibri"/>
              </a:rPr>
              <a:t>   · every calculation takes a date and looks only before it</a:t>
            </a:r>
          </a:p>
          <a:p>
            <a:pPr>
              <a:spcAft>
                <a:spcPts val="300"/>
              </a:spcAft>
            </a:pPr>
            <a:r>
              <a:rPr sz="1250" b="0" i="0">
                <a:solidFill>
                  <a:srgbClr val="5A6270"/>
                </a:solidFill>
                <a:latin typeface="Calibri"/>
              </a:rPr>
              <a:t>   · blanks out anything not yet known on that date</a:t>
            </a:r>
          </a:p>
          <a:p>
            <a:pPr>
              <a:spcAft>
                <a:spcPts val="300"/>
              </a:spcAft>
            </a:pPr>
            <a:r>
              <a:rPr sz="1250" b="0" i="0">
                <a:solidFill>
                  <a:srgbClr val="5A6270"/>
                </a:solidFill>
                <a:latin typeface="Calibri"/>
              </a:rPr>
              <a:t>   · the leakage checks run here and stop the job if they fail</a:t>
            </a:r>
          </a:p>
          <a:p>
            <a:pPr>
              <a:spcAft>
                <a:spcPts val="300"/>
              </a:spcAft>
            </a:pPr>
            <a:r>
              <a:rPr sz="1250" b="0" i="0">
                <a:solidFill>
                  <a:srgbClr val="5A6270"/>
                </a:solidFill>
                <a:latin typeface="Calibri"/>
              </a:rPr>
              <a:t>        |</a:t>
            </a:r>
          </a:p>
          <a:p>
            <a:pPr>
              <a:spcAft>
                <a:spcPts val="300"/>
              </a:spcAft>
            </a:pPr>
            <a:r>
              <a:rPr sz="1250" b="1" i="0">
                <a:solidFill>
                  <a:srgbClr val="1A1A1A"/>
                </a:solidFill>
                <a:latin typeface="Calibri"/>
              </a:rPr>
              <a:t>Scoring  (once a day is plenty for a 90 day question)</a:t>
            </a:r>
          </a:p>
          <a:p>
            <a:pPr>
              <a:spcAft>
                <a:spcPts val="300"/>
              </a:spcAft>
            </a:pPr>
            <a:r>
              <a:rPr sz="1250" b="0" i="0">
                <a:solidFill>
                  <a:srgbClr val="5A6270"/>
                </a:solidFill>
                <a:latin typeface="Calibri"/>
              </a:rPr>
              <a:t>   · writes the customer, the score, and the main reasons</a:t>
            </a:r>
          </a:p>
          <a:p>
            <a:pPr>
              <a:spcAft>
                <a:spcPts val="300"/>
              </a:spcAft>
            </a:pPr>
            <a:r>
              <a:rPr sz="1250" b="0" i="0">
                <a:solidFill>
                  <a:srgbClr val="5A6270"/>
                </a:solidFill>
                <a:latin typeface="Calibri"/>
              </a:rPr>
              <a:t>        |</a:t>
            </a:r>
          </a:p>
          <a:p>
            <a:pPr>
              <a:spcAft>
                <a:spcPts val="300"/>
              </a:spcAft>
            </a:pPr>
            <a:r>
              <a:rPr sz="1250" b="1" i="0">
                <a:solidFill>
                  <a:srgbClr val="1A1A1A"/>
                </a:solidFill>
                <a:latin typeface="Calibri"/>
              </a:rPr>
              <a:t>Use  (a call list for the success team)</a:t>
            </a:r>
          </a:p>
          <a:p>
            <a:pPr>
              <a:spcAft>
                <a:spcPts val="300"/>
              </a:spcAft>
            </a:pPr>
            <a:r>
              <a:rPr sz="1250" b="0" i="0">
                <a:solidFill>
                  <a:srgbClr val="5A6270"/>
                </a:solidFill>
                <a:latin typeface="Calibri"/>
              </a:rPr>
              <a:t>   · scores also written back to the CRM for context</a:t>
            </a:r>
          </a:p>
          <a:p>
            <a:pPr>
              <a:spcAft>
                <a:spcPts val="300"/>
              </a:spcAft>
            </a:pPr>
            <a:r>
              <a:rPr sz="1250" b="0" i="0">
                <a:solidFill>
                  <a:srgbClr val="5A6270"/>
                </a:solidFill>
                <a:latin typeface="Calibri"/>
              </a:rPr>
              <a:t>   · nothing is ever triggered automatically</a:t>
            </a:r>
          </a:p>
        </p:txBody>
      </p:sp>
      <p:sp>
        <p:nvSpPr>
          <p:cNvPr id="5" name="TextBox 4"/>
          <p:cNvSpPr txBox="1"/>
          <p:nvPr/>
        </p:nvSpPr>
        <p:spPr>
          <a:xfrm>
            <a:off x="6492240" y="1719072"/>
            <a:ext cx="5029200" cy="4572000"/>
          </a:xfrm>
          <a:prstGeom prst="rect">
            <a:avLst/>
          </a:prstGeom>
          <a:noFill/>
        </p:spPr>
        <p:txBody>
          <a:bodyPr wrap="square">
            <a:spAutoFit/>
          </a:bodyPr>
          <a:lstStyle/>
          <a:p>
            <a:pPr>
              <a:spcAft>
                <a:spcPts val="900"/>
              </a:spcAft>
            </a:pPr>
            <a:r>
              <a:rPr sz="1300" b="1" i="0">
                <a:solidFill>
                  <a:srgbClr val="1A1A1A"/>
                </a:solidFill>
                <a:latin typeface="Calibri"/>
              </a:rPr>
              <a:t>What I would watch</a:t>
            </a:r>
          </a:p>
          <a:p>
            <a:pPr lvl="1">
              <a:spcAft>
                <a:spcPts val="900"/>
              </a:spcAft>
            </a:pPr>
            <a:r>
              <a:rPr sz="1100" b="0" i="0">
                <a:solidFill>
                  <a:srgbClr val="5A6270"/>
                </a:solidFill>
                <a:latin typeface="Calibri"/>
              </a:rPr>
              <a:t>Whether the incoming data still looks like the data we trained on. Checked weekly.</a:t>
            </a:r>
          </a:p>
          <a:p>
            <a:pPr lvl="1">
              <a:spcAft>
                <a:spcPts val="900"/>
              </a:spcAft>
            </a:pPr>
            <a:r>
              <a:rPr sz="1100" b="0" i="0">
                <a:solidFill>
                  <a:srgbClr val="5A6270"/>
                </a:solidFill>
                <a:latin typeface="Calibri"/>
              </a:rPr>
              <a:t>Whether columns have gone missing or empty. Checked daily, and the job fails if the shape changes.</a:t>
            </a:r>
          </a:p>
          <a:p>
            <a:pPr lvl="1">
              <a:spcAft>
                <a:spcPts val="900"/>
              </a:spcAft>
            </a:pPr>
            <a:r>
              <a:rPr sz="1100" b="0" i="0">
                <a:solidFill>
                  <a:srgbClr val="5A6270"/>
                </a:solidFill>
                <a:latin typeface="Calibri"/>
              </a:rPr>
              <a:t>The leakage checks. Run every single time, and they stop the job.</a:t>
            </a:r>
          </a:p>
          <a:p>
            <a:pPr lvl="1">
              <a:spcAft>
                <a:spcPts val="900"/>
              </a:spcAft>
            </a:pPr>
            <a:r>
              <a:rPr sz="1100" b="0" i="0">
                <a:solidFill>
                  <a:srgbClr val="5A6270"/>
                </a:solidFill>
                <a:latin typeface="Calibri"/>
              </a:rPr>
              <a:t>Whether the scores themselves have drifted. Checked weekly.</a:t>
            </a:r>
          </a:p>
          <a:p>
            <a:pPr lvl="1">
              <a:spcAft>
                <a:spcPts val="900"/>
              </a:spcAft>
            </a:pPr>
            <a:r>
              <a:rPr sz="1100" b="0" i="0">
                <a:solidFill>
                  <a:srgbClr val="5A6270"/>
                </a:solidFill>
                <a:latin typeface="Calibri"/>
              </a:rPr>
              <a:t>Whether the model is still accurate. Checked every quarter, once we know who actually left.</a:t>
            </a:r>
          </a:p>
          <a:p>
            <a:pPr>
              <a:spcAft>
                <a:spcPts val="900"/>
              </a:spcAft>
            </a:pPr>
            <a:r>
              <a:rPr sz="600" b="0" i="0">
                <a:solidFill>
                  <a:srgbClr val="1A1A1A"/>
                </a:solidFill>
                <a:latin typeface="Calibri"/>
              </a:rPr>
              <a:t> </a:t>
            </a:r>
          </a:p>
          <a:p>
            <a:pPr>
              <a:spcAft>
                <a:spcPts val="900"/>
              </a:spcAft>
            </a:pPr>
            <a:r>
              <a:rPr sz="1300" b="0" i="0">
                <a:solidFill>
                  <a:srgbClr val="5A6270"/>
                </a:solidFill>
                <a:latin typeface="Calibri"/>
              </a:rPr>
              <a:t>We only learn if we were right 90 days later. So accuracy checks are always late. Watching the incoming data is the early warning, and accuracy confirms it afterwards.</a:t>
            </a:r>
          </a:p>
          <a:p>
            <a:pPr>
              <a:spcAft>
                <a:spcPts val="900"/>
              </a:spcAft>
            </a:pPr>
            <a:r>
              <a:rPr sz="600" b="0" i="0">
                <a:solidFill>
                  <a:srgbClr val="1A1A1A"/>
                </a:solidFill>
                <a:latin typeface="Calibri"/>
              </a:rPr>
              <a:t> </a:t>
            </a:r>
          </a:p>
          <a:p>
            <a:pPr>
              <a:spcAft>
                <a:spcPts val="900"/>
              </a:spcAft>
            </a:pPr>
            <a:r>
              <a:rPr sz="1300" b="1" i="0">
                <a:solidFill>
                  <a:srgbClr val="2E5F8A"/>
                </a:solidFill>
                <a:latin typeface="Calibri"/>
              </a:rPr>
              <a:t>The part I would argue for hardest is running the leakage checks in production. The bug in this project was in the pipeline, and pipeline bugs come back every time someone adds a feature.</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1A1A1A"/>
                </a:solidFill>
                <a:latin typeface="Calibri"/>
              </a:rPr>
              <a:t>This is what I would build if the model were worth shipping. On these results it is not, and this extract cannot be repaired into one — the timestamps have to be collected against the right customers, not corrected. Once they are, the pipeline takes a date, so re-measuring is one command.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405</TotalTime>
  <Words>4707</Words>
  <Application>Microsoft Office PowerPoint</Application>
  <PresentationFormat>Widescreen</PresentationFormat>
  <Paragraphs>243</Paragraphs>
  <Slides>19</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Dmitriy Ratushny</cp:lastModifiedBy>
  <cp:revision>1</cp:revision>
  <dcterms:created xsi:type="dcterms:W3CDTF">2013-01-27T09:14:16Z</dcterms:created>
  <dcterms:modified xsi:type="dcterms:W3CDTF">2026-07-29T13:47:20Z</dcterms:modified>
  <cp:category/>
</cp:coreProperties>
</file>