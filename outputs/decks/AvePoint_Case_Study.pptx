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2" r:id="rId6"/>
    <p:sldId id="273"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91" dt="2026-07-29T04:34:16.2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382" autoAdjust="0"/>
  </p:normalViewPr>
  <p:slideViewPr>
    <p:cSldViewPr snapToGrid="0" snapToObjects="1">
      <p:cViewPr varScale="1">
        <p:scale>
          <a:sx n="159" d="100"/>
          <a:sy n="159" d="100"/>
        </p:scale>
        <p:origin x="330" y="1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addSld modSld">
      <pc:chgData name="Dmitriy Ratushny" userId="08050032e8047aee" providerId="LiveId" clId="{78EB1A6D-D3A9-4525-A4D5-A50D4E20D487}" dt="2026-07-29T04:34:24.604" v="1631" actId="1076"/>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9T04:10:32.206" v="1621" actId="1076"/>
        <pc:sldMkLst>
          <pc:docMk/>
          <pc:sldMk cId="0" sldId="257"/>
        </pc:sldMkLst>
        <pc:spChg chg="mod">
          <ac:chgData name="Dmitriy Ratushny" userId="08050032e8047aee" providerId="LiveId" clId="{78EB1A6D-D3A9-4525-A4D5-A50D4E20D487}" dt="2026-07-29T03:10:07.367" v="1058" actId="21"/>
          <ac:spMkLst>
            <pc:docMk/>
            <pc:sldMk cId="0" sldId="257"/>
            <ac:spMk id="2" creationId="{00000000-0000-0000-0000-000000000000}"/>
          </ac:spMkLst>
        </pc:spChg>
        <pc:spChg chg="mod">
          <ac:chgData name="Dmitriy Ratushny" userId="08050032e8047aee" providerId="LiveId" clId="{78EB1A6D-D3A9-4525-A4D5-A50D4E20D487}" dt="2026-07-29T02:47:45.155" v="617" actId="1076"/>
          <ac:spMkLst>
            <pc:docMk/>
            <pc:sldMk cId="0" sldId="257"/>
            <ac:spMk id="3" creationId="{00000000-0000-0000-0000-000000000000}"/>
          </ac:spMkLst>
        </pc:spChg>
        <pc:spChg chg="mod">
          <ac:chgData name="Dmitriy Ratushny" userId="08050032e8047aee" providerId="LiveId" clId="{78EB1A6D-D3A9-4525-A4D5-A50D4E20D487}" dt="2026-07-29T04:10:28.776" v="1619" actId="1076"/>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9T04:10:32.206" v="1621" actId="1076"/>
          <ac:picMkLst>
            <pc:docMk/>
            <pc:sldMk cId="0" sldId="257"/>
            <ac:picMk id="5" creationId="{00000000-0000-0000-0000-000000000000}"/>
          </ac:picMkLst>
        </pc:picChg>
      </pc:sldChg>
      <pc:sldChg chg="addSp delSp modSp mod">
        <pc:chgData name="Dmitriy Ratushny" userId="08050032e8047aee" providerId="LiveId" clId="{78EB1A6D-D3A9-4525-A4D5-A50D4E20D487}" dt="2026-07-29T03:10:20.569" v="1059" actId="1076"/>
        <pc:sldMkLst>
          <pc:docMk/>
          <pc:sldMk cId="0" sldId="258"/>
        </pc:sldMkLst>
        <pc:spChg chg="mod">
          <ac:chgData name="Dmitriy Ratushny" userId="08050032e8047aee" providerId="LiveId" clId="{78EB1A6D-D3A9-4525-A4D5-A50D4E20D487}" dt="2026-07-29T03:03:49.359" v="801"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3:10:20.569" v="1059" actId="1076"/>
          <ac:spMkLst>
            <pc:docMk/>
            <pc:sldMk cId="0" sldId="258"/>
            <ac:spMk id="4" creationId="{00000000-0000-0000-0000-000000000000}"/>
          </ac:spMkLst>
        </pc:spChg>
        <pc:picChg chg="add del mod">
          <ac:chgData name="Dmitriy Ratushny" userId="08050032e8047aee" providerId="LiveId" clId="{78EB1A6D-D3A9-4525-A4D5-A50D4E20D487}" dt="2026-07-29T02:08:27.146" v="361" actId="478"/>
          <ac:picMkLst>
            <pc:docMk/>
            <pc:sldMk cId="0" sldId="258"/>
            <ac:picMk id="6" creationId="{E355C817-C75E-F7EE-C8D2-DD4E3A010816}"/>
          </ac:picMkLst>
        </pc:picChg>
        <pc:picChg chg="add del mod">
          <ac:chgData name="Dmitriy Ratushny" userId="08050032e8047aee" providerId="LiveId" clId="{78EB1A6D-D3A9-4525-A4D5-A50D4E20D487}" dt="2026-07-29T03:02:03.496" v="710" actId="478"/>
          <ac:picMkLst>
            <pc:docMk/>
            <pc:sldMk cId="0" sldId="258"/>
            <ac:picMk id="7" creationId="{D4F31BD9-B3BF-043E-1566-F360B51678E4}"/>
          </ac:picMkLst>
        </pc:picChg>
      </pc:sldChg>
      <pc:sldChg chg="addSp delSp modSp mod">
        <pc:chgData name="Dmitriy Ratushny" userId="08050032e8047aee" providerId="LiveId" clId="{78EB1A6D-D3A9-4525-A4D5-A50D4E20D487}" dt="2026-07-29T03:49:06.748" v="1504" actId="572"/>
        <pc:sldMkLst>
          <pc:docMk/>
          <pc:sldMk cId="0" sldId="259"/>
        </pc:sldMkLst>
        <pc:spChg chg="mod">
          <ac:chgData name="Dmitriy Ratushny" userId="08050032e8047aee" providerId="LiveId" clId="{78EB1A6D-D3A9-4525-A4D5-A50D4E20D487}" dt="2026-07-29T03:09:55.301" v="1057" actId="21"/>
          <ac:spMkLst>
            <pc:docMk/>
            <pc:sldMk cId="0" sldId="259"/>
            <ac:spMk id="2" creationId="{00000000-0000-0000-0000-000000000000}"/>
          </ac:spMkLst>
        </pc:spChg>
        <pc:spChg chg="mod">
          <ac:chgData name="Dmitriy Ratushny" userId="08050032e8047aee" providerId="LiveId" clId="{78EB1A6D-D3A9-4525-A4D5-A50D4E20D487}" dt="2026-07-29T03:46:14.271" v="1481" actId="20577"/>
          <ac:spMkLst>
            <pc:docMk/>
            <pc:sldMk cId="0" sldId="259"/>
            <ac:spMk id="4" creationId="{00000000-0000-0000-0000-000000000000}"/>
          </ac:spMkLst>
        </pc:spChg>
        <pc:spChg chg="add del mod">
          <ac:chgData name="Dmitriy Ratushny" userId="08050032e8047aee" providerId="LiveId" clId="{78EB1A6D-D3A9-4525-A4D5-A50D4E20D487}" dt="2026-07-29T03:37:29.843" v="1111" actId="21"/>
          <ac:spMkLst>
            <pc:docMk/>
            <pc:sldMk cId="0" sldId="259"/>
            <ac:spMk id="8" creationId="{2FF164C1-78B3-A0BA-94F3-0349A08F30F4}"/>
          </ac:spMkLst>
        </pc:spChg>
        <pc:graphicFrameChg chg="add mod modGraphic">
          <ac:chgData name="Dmitriy Ratushny" userId="08050032e8047aee" providerId="LiveId" clId="{78EB1A6D-D3A9-4525-A4D5-A50D4E20D487}" dt="2026-07-29T03:49:06.748" v="1504" actId="572"/>
          <ac:graphicFrameMkLst>
            <pc:docMk/>
            <pc:sldMk cId="0" sldId="259"/>
            <ac:graphicFrameMk id="9" creationId="{AC539327-68EC-BE64-46D2-74F957FFB0AC}"/>
          </ac:graphicFrameMkLst>
        </pc:graphicFrameChg>
        <pc:picChg chg="add mod">
          <ac:chgData name="Dmitriy Ratushny" userId="08050032e8047aee" providerId="LiveId" clId="{78EB1A6D-D3A9-4525-A4D5-A50D4E20D487}" dt="2026-07-29T03:36:22.485" v="1109" actId="1076"/>
          <ac:picMkLst>
            <pc:docMk/>
            <pc:sldMk cId="0" sldId="259"/>
            <ac:picMk id="6" creationId="{12AD3BC4-A210-DDC1-716F-E8B388A4C0BB}"/>
          </ac:picMkLst>
        </pc:picChg>
      </pc:sldChg>
      <pc:sldChg chg="modSp mod">
        <pc:chgData name="Dmitriy Ratushny" userId="08050032e8047aee" providerId="LiveId" clId="{78EB1A6D-D3A9-4525-A4D5-A50D4E20D487}" dt="2026-07-29T03:42:52.582" v="1479" actId="1076"/>
        <pc:sldMkLst>
          <pc:docMk/>
          <pc:sldMk cId="0" sldId="260"/>
        </pc:sldMkLst>
        <pc:picChg chg="mod">
          <ac:chgData name="Dmitriy Ratushny" userId="08050032e8047aee" providerId="LiveId" clId="{78EB1A6D-D3A9-4525-A4D5-A50D4E20D487}" dt="2026-07-29T03:42:52.582" v="1479" actId="1076"/>
          <ac:picMkLst>
            <pc:docMk/>
            <pc:sldMk cId="0" sldId="260"/>
            <ac:picMk id="4" creationId="{00000000-0000-0000-0000-000000000000}"/>
          </ac:picMkLst>
        </pc:picChg>
      </pc:sldChg>
      <pc:sldChg chg="addSp delSp modSp new mod">
        <pc:chgData name="Dmitriy Ratushny" userId="08050032e8047aee" providerId="LiveId" clId="{78EB1A6D-D3A9-4525-A4D5-A50D4E20D487}" dt="2026-07-29T04:32:12.401" v="1623" actId="22"/>
        <pc:sldMkLst>
          <pc:docMk/>
          <pc:sldMk cId="727656364" sldId="272"/>
        </pc:sldMkLst>
        <pc:spChg chg="add mod">
          <ac:chgData name="Dmitriy Ratushny" userId="08050032e8047aee" providerId="LiveId" clId="{78EB1A6D-D3A9-4525-A4D5-A50D4E20D487}" dt="2026-07-29T04:06:18.688" v="1618" actId="20577"/>
          <ac:spMkLst>
            <pc:docMk/>
            <pc:sldMk cId="727656364" sldId="272"/>
            <ac:spMk id="3" creationId="{502800D6-974F-2F17-A52E-0A306D35DF0C}"/>
          </ac:spMkLst>
        </pc:spChg>
        <pc:spChg chg="add del">
          <ac:chgData name="Dmitriy Ratushny" userId="08050032e8047aee" providerId="LiveId" clId="{78EB1A6D-D3A9-4525-A4D5-A50D4E20D487}" dt="2026-07-29T04:32:12.401" v="1623" actId="22"/>
          <ac:spMkLst>
            <pc:docMk/>
            <pc:sldMk cId="727656364" sldId="272"/>
            <ac:spMk id="4" creationId="{ADD1133A-118A-E00D-C649-50786DE58214}"/>
          </ac:spMkLst>
        </pc:spChg>
        <pc:spChg chg="add">
          <ac:chgData name="Dmitriy Ratushny" userId="08050032e8047aee" providerId="LiveId" clId="{78EB1A6D-D3A9-4525-A4D5-A50D4E20D487}" dt="2026-07-29T03:53:25.069" v="1505" actId="22"/>
          <ac:spMkLst>
            <pc:docMk/>
            <pc:sldMk cId="727656364" sldId="272"/>
            <ac:spMk id="5" creationId="{CA970AC4-91F5-08BB-443D-4F894B789C96}"/>
          </ac:spMkLst>
        </pc:spChg>
        <pc:spChg chg="add">
          <ac:chgData name="Dmitriy Ratushny" userId="08050032e8047aee" providerId="LiveId" clId="{78EB1A6D-D3A9-4525-A4D5-A50D4E20D487}" dt="2026-07-29T03:53:25.069" v="1505" actId="22"/>
          <ac:spMkLst>
            <pc:docMk/>
            <pc:sldMk cId="727656364" sldId="272"/>
            <ac:spMk id="7" creationId="{9F1B9989-6A7C-C50E-2B6A-E012B6E3A475}"/>
          </ac:spMkLst>
        </pc:spChg>
      </pc:sldChg>
      <pc:sldChg chg="modSp add mod">
        <pc:chgData name="Dmitriy Ratushny" userId="08050032e8047aee" providerId="LiveId" clId="{78EB1A6D-D3A9-4525-A4D5-A50D4E20D487}" dt="2026-07-29T04:34:24.604" v="1631" actId="1076"/>
        <pc:sldMkLst>
          <pc:docMk/>
          <pc:sldMk cId="0" sldId="273"/>
        </pc:sldMkLst>
        <pc:spChg chg="mod">
          <ac:chgData name="Dmitriy Ratushny" userId="08050032e8047aee" providerId="LiveId" clId="{78EB1A6D-D3A9-4525-A4D5-A50D4E20D487}" dt="2026-07-29T04:34:16.235" v="1629"/>
          <ac:spMkLst>
            <pc:docMk/>
            <pc:sldMk cId="0" sldId="273"/>
            <ac:spMk id="2" creationId="{00000000-0000-0000-0000-000000000000}"/>
          </ac:spMkLst>
        </pc:spChg>
        <pc:spChg chg="mod">
          <ac:chgData name="Dmitriy Ratushny" userId="08050032e8047aee" providerId="LiveId" clId="{78EB1A6D-D3A9-4525-A4D5-A50D4E20D487}" dt="2026-07-29T04:34:21.479" v="1630" actId="1076"/>
          <ac:spMkLst>
            <pc:docMk/>
            <pc:sldMk cId="0" sldId="273"/>
            <ac:spMk id="3" creationId="{00000000-0000-0000-0000-000000000000}"/>
          </ac:spMkLst>
        </pc:spChg>
        <pc:picChg chg="mod">
          <ac:chgData name="Dmitriy Ratushny" userId="08050032e8047aee" providerId="LiveId" clId="{78EB1A6D-D3A9-4525-A4D5-A50D4E20D487}" dt="2026-07-29T04:34:24.604" v="1631" actId="1076"/>
          <ac:picMkLst>
            <pc:docMk/>
            <pc:sldMk cId="0" sldId="273"/>
            <ac:picMk id="4"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slide to open with if anyone asks what the data looks like.</a:t>
            </a:r>
          </a:p>
          <a:p>
            <a:endParaRPr/>
          </a:p>
          <a:p>
            <a:r>
              <a:t>Read the arrows, not the boxes. Referential integrity is perfect: every subscription_id in feature_usage resolves, every account_id in support_tickets and churn_events resolves, and no contract predates its account. A schema check passes cleanly, which is why a cleaning pipeline does not catch this — and the other published analysis of this dataset ran one and reported nothing.</a:t>
            </a:r>
          </a:p>
          <a:p>
            <a:endParaRPr/>
          </a:p>
          <a:p>
            <a:r>
              <a:t>What fails is temporal integrity, and nothing in a data dictionary tests it. 13,198 of 25,000 usage rows and 1,077 of 2,000 tickets are dated before their customer signed up. Correlation between event date and signup date is 0.002 and 0.016. Every behavioural feature in the model is built from those two tables.</a:t>
            </a:r>
          </a:p>
          <a:p>
            <a:endParaRPr/>
          </a:p>
          <a:p>
            <a:r>
              <a:t>The left column of the read-out is every check a reviewer would ask for. The right column is why passing them settles nothing.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The business problem</a:t>
            </a:r>
          </a:p>
        </p:txBody>
      </p:sp>
      <p:sp>
        <p:nvSpPr>
          <p:cNvPr id="3" name="Rectangle 2"/>
          <p:cNvSpPr/>
          <p:nvPr/>
        </p:nvSpPr>
        <p:spPr>
          <a:xfrm>
            <a:off x="685800" y="12105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210564"/>
            <a:ext cx="10820095" cy="5555367"/>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That gives 648 customer-dates, 281 distinct customers, and 159 leavers - 24.5%. The rate per cutoff runs 17% to 31%</a:t>
            </a:r>
          </a:p>
          <a:p>
            <a:pPr marL="685800" lvl="1" indent="-228600" algn="just">
              <a:spcAft>
                <a:spcPts val="600"/>
              </a:spcAft>
              <a:buFont typeface="+mj-lt"/>
              <a:buAutoNum type="arabicPeriod"/>
            </a:pPr>
            <a:r>
              <a:rPr lang="en-US" sz="1200" dirty="0">
                <a:solidFill>
                  <a:srgbClr val="5A6270"/>
                </a:solidFill>
              </a:rPr>
              <a:t>The label comes from </a:t>
            </a:r>
            <a:r>
              <a:rPr lang="en-US" sz="1200" b="1" dirty="0" err="1">
                <a:solidFill>
                  <a:schemeClr val="tx2"/>
                </a:solidFill>
              </a:rPr>
              <a:t>churn_events</a:t>
            </a:r>
            <a:r>
              <a:rPr lang="en-US" sz="1200" dirty="0">
                <a:solidFill>
                  <a:srgbClr val="5A6270"/>
                </a:solidFill>
              </a:rPr>
              <a:t>: an eligible account is positive if its earliest </a:t>
            </a:r>
            <a:r>
              <a:rPr lang="en-US" sz="1200" b="1" dirty="0" err="1">
                <a:solidFill>
                  <a:schemeClr val="tx2"/>
                </a:solidFill>
              </a:rPr>
              <a:t>churn_events.churn_date</a:t>
            </a:r>
            <a:r>
              <a:rPr lang="en-US" sz="1200" dirty="0">
                <a:solidFill>
                  <a:srgbClr val="5A6270"/>
                </a:solidFill>
              </a:rPr>
              <a:t> falls within the 90 days from the cutoff. Everything else is negative. </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1357228" y="4214707"/>
            <a:ext cx="7427274" cy="16763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7856" y="293881"/>
            <a:ext cx="10820095" cy="1051560"/>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9748" y="1586167"/>
            <a:ext cx="11277599" cy="4231928"/>
          </a:xfrm>
          <a:prstGeom prst="rect">
            <a:avLst/>
          </a:prstGeom>
          <a:noFill/>
        </p:spPr>
        <p:txBody>
          <a:bodyPr wrap="square">
            <a:spAutoFit/>
          </a:bodyPr>
          <a:lstStyle/>
          <a:p>
            <a:pPr algn="just">
              <a:spcAft>
                <a:spcPts val="900"/>
              </a:spcAft>
            </a:pPr>
            <a:r>
              <a:rPr sz="2000" b="1" i="0" dirty="0">
                <a:solidFill>
                  <a:srgbClr val="1A1A1A"/>
                </a:solidFill>
                <a:latin typeface="Calibri"/>
              </a:rPr>
              <a:t>For the model</a:t>
            </a:r>
            <a:r>
              <a:rPr lang="en-US" sz="2000" b="1" dirty="0">
                <a:solidFill>
                  <a:srgbClr val="1A1A1A"/>
                </a:solidFill>
              </a:rPr>
              <a:t> - </a:t>
            </a:r>
            <a:r>
              <a:rPr lang="en-US" sz="2000" dirty="0">
                <a:solidFill>
                  <a:srgbClr val="1A1A1A"/>
                </a:solidFill>
              </a:rPr>
              <a:t>measured in this work</a:t>
            </a:r>
            <a:endParaRPr sz="2000" i="0" dirty="0">
              <a:solidFill>
                <a:srgbClr val="1A1A1A"/>
              </a:solidFill>
              <a:latin typeface="Calibri"/>
            </a:endParaRP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a:t>
            </a:r>
            <a:r>
              <a:rPr lang="en-US" sz="1400" b="0" i="0" dirty="0">
                <a:solidFill>
                  <a:srgbClr val="5A6270"/>
                </a:solidFill>
                <a:latin typeface="Calibri"/>
              </a:rPr>
              <a:t>.</a:t>
            </a:r>
            <a:endParaRPr sz="1400" b="0" i="0" dirty="0">
              <a:solidFill>
                <a:srgbClr val="5A6270"/>
              </a:solidFill>
              <a:latin typeface="Calibri"/>
            </a:endParaRPr>
          </a:p>
          <a:p>
            <a:pPr marL="800100" lvl="1" indent="-342900" algn="just">
              <a:spcAft>
                <a:spcPts val="900"/>
              </a:spcAft>
              <a:buFont typeface="+mj-lt"/>
              <a:buAutoNum type="arabicPeriod"/>
            </a:pPr>
            <a:r>
              <a:rPr lang="en-US" sz="1400" dirty="0">
                <a:solidFill>
                  <a:srgbClr val="5A6270"/>
                </a:solidFill>
              </a:rPr>
              <a:t>Precision and recall, because they say what the CS team experiences working the list.</a:t>
            </a: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lang="en-US" sz="2000" b="1" dirty="0">
                <a:solidFill>
                  <a:srgbClr val="1A1A1A"/>
                </a:solidFill>
                <a:latin typeface="+mj-lt"/>
              </a:rPr>
              <a:t> For the business — </a:t>
            </a:r>
            <a:r>
              <a:rPr lang="en-US" sz="2000" dirty="0">
                <a:solidFill>
                  <a:srgbClr val="1A1A1A"/>
                </a:solidFill>
                <a:latin typeface="+mj-lt"/>
              </a:rPr>
              <a:t>these metrics are proposed, none are measurable from the data we are provided</a:t>
            </a:r>
          </a:p>
          <a:p>
            <a:pPr marL="800100" lvl="1" indent="-342900" algn="just">
              <a:spcAft>
                <a:spcPts val="900"/>
              </a:spcAft>
              <a:buFont typeface="+mj-lt"/>
              <a:buAutoNum type="arabicPeriod"/>
            </a:pPr>
            <a:r>
              <a:rPr lang="en-US" sz="1400" dirty="0">
                <a:solidFill>
                  <a:srgbClr val="5A6270"/>
                </a:solidFill>
              </a:rPr>
              <a:t>Retention at 180 days, customers we called against a half we deliberately didn’t.</a:t>
            </a:r>
          </a:p>
          <a:p>
            <a:pPr marL="800100" lvl="1" indent="-342900" algn="just">
              <a:spcAft>
                <a:spcPts val="900"/>
              </a:spcAft>
              <a:buFont typeface="+mj-lt"/>
              <a:buAutoNum type="arabicPeriod"/>
            </a:pPr>
            <a:r>
              <a:rPr lang="en-US" sz="1400" dirty="0">
                <a:solidFill>
                  <a:srgbClr val="5A6270"/>
                </a:solidFill>
              </a:rPr>
              <a:t>Net revenue retention, so a customer kept with a big discount counts for what they are still worth.</a:t>
            </a:r>
          </a:p>
          <a:p>
            <a:pPr marL="800100" lvl="1" indent="-342900" algn="just">
              <a:spcAft>
                <a:spcPts val="900"/>
              </a:spcAft>
              <a:buFont typeface="+mj-lt"/>
              <a:buAutoNum type="arabicPeriod"/>
            </a:pPr>
            <a:r>
              <a:rPr lang="en-US" sz="1400" dirty="0">
                <a:solidFill>
                  <a:srgbClr val="5A6270"/>
                </a:solidFill>
              </a:rPr>
              <a:t>Incremental revenue over simply calling everyone.</a:t>
            </a:r>
          </a:p>
          <a:p>
            <a:pPr algn="just">
              <a:spcAft>
                <a:spcPts val="900"/>
              </a:spcAft>
            </a:pPr>
            <a:br>
              <a:rPr lang="en-US" sz="2000" b="1" dirty="0">
                <a:solidFill>
                  <a:srgbClr val="1A1A1A"/>
                </a:solidFill>
              </a:rPr>
            </a:br>
            <a:r>
              <a:rPr lang="en-US" sz="2000" b="1" dirty="0">
                <a:solidFill>
                  <a:srgbClr val="1A1A1A"/>
                </a:solidFill>
              </a:rPr>
              <a:t>Limits I set before starting:</a:t>
            </a:r>
            <a:endParaRPr lang="en-US" sz="2000" dirty="0">
              <a:solidFill>
                <a:srgbClr val="1A1A1A"/>
              </a:solidFill>
            </a:endParaRPr>
          </a:p>
          <a:p>
            <a:pPr marL="800100" lvl="1" indent="-342900" algn="just">
              <a:spcAft>
                <a:spcPts val="900"/>
              </a:spcAft>
              <a:buFont typeface="+mj-lt"/>
              <a:buAutoNum type="arabicPeriod"/>
            </a:pPr>
            <a:r>
              <a:rPr lang="en-US" sz="1400" dirty="0">
                <a:solidFill>
                  <a:srgbClr val="5A6270"/>
                </a:solidFill>
              </a:rPr>
              <a:t>The model must beat guessing at the bottom of its range, not just on average. It also has to beat simply calling every customer. </a:t>
            </a:r>
          </a:p>
          <a:p>
            <a:pPr marL="800100" lvl="1" indent="-342900" algn="just">
              <a:spcAft>
                <a:spcPts val="900"/>
              </a:spcAft>
              <a:buFont typeface="+mj-lt"/>
              <a:buAutoNum type="arabicPeriod"/>
            </a:pPr>
            <a:r>
              <a:rPr lang="en-US" sz="1400" dirty="0">
                <a:solidFill>
                  <a:srgbClr val="5A6270"/>
                </a:solidFill>
              </a:rPr>
              <a:t>Scores would determine what the intervention would look like.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7645" y="1578846"/>
            <a:ext cx="5390147" cy="2162130"/>
          </a:xfrm>
          <a:prstGeom prst="rect">
            <a:avLst/>
          </a:prstGeom>
          <a:noFill/>
        </p:spPr>
        <p:txBody>
          <a:bodyPr wrap="square">
            <a:spAutoFit/>
          </a:bodyPr>
          <a:lstStyle/>
          <a:p>
            <a:pPr algn="just">
              <a:spcAft>
                <a:spcPts val="500"/>
              </a:spcAft>
            </a:pPr>
            <a:r>
              <a:rPr sz="1400" b="1" i="0" dirty="0">
                <a:solidFill>
                  <a:srgbClr val="B02E2E"/>
                </a:solidFill>
                <a:latin typeface="Calibri"/>
              </a:rPr>
              <a:t>Two of the five tables are not joined to their customers in time.</a:t>
            </a:r>
          </a:p>
          <a:p>
            <a:pPr marL="685800" lvl="1" indent="-228600" algn="just">
              <a:spcAft>
                <a:spcPts val="500"/>
              </a:spcAft>
              <a:buFont typeface="+mj-lt"/>
              <a:buAutoNum type="arabicPeriod"/>
            </a:pPr>
            <a:r>
              <a:rPr lang="en-US" sz="1200" dirty="0">
                <a:solidFill>
                  <a:srgbClr val="5A6270"/>
                </a:solidFill>
              </a:rPr>
              <a:t>Usage and support events are not attached to the customers they belong to. Plotted against signup date they form a square cloud, where real data would be a band above the line. Just over half of all usage rows and support tickets are dated before the customer existed. </a:t>
            </a:r>
          </a:p>
          <a:p>
            <a:pPr marL="685800" lvl="1" indent="-228600" algn="just">
              <a:spcAft>
                <a:spcPts val="500"/>
              </a:spcAft>
              <a:buFont typeface="+mj-lt"/>
              <a:buAutoNum type="arabicPeriod"/>
            </a:pPr>
            <a:r>
              <a:rPr sz="1200" b="0" i="0" dirty="0">
                <a:solidFill>
                  <a:srgbClr val="5A6270"/>
                </a:solidFill>
                <a:latin typeface="Calibri"/>
              </a:rPr>
              <a:t>Nothing links inside those tables either. Ticket priority does not predict how fast we answered. Plan tier does not predict how much people used.</a:t>
            </a:r>
          </a:p>
          <a:p>
            <a:pPr marL="685800" lvl="1" indent="-228600" algn="just">
              <a:spcAft>
                <a:spcPts val="500"/>
              </a:spcAft>
              <a:buFont typeface="+mj-lt"/>
              <a:buAutoNum type="arabicPeriod"/>
            </a:pPr>
            <a:r>
              <a:rPr sz="1200" b="0" i="0" dirty="0">
                <a:solidFill>
                  <a:srgbClr val="5A6270"/>
                </a:solidFill>
                <a:latin typeface="Calibri"/>
              </a:rPr>
              <a:t>There are three ways to say a customer churned. All three agree for only 20% of customers.</a:t>
            </a:r>
          </a:p>
        </p:txBody>
      </p:sp>
      <p:pic>
        <p:nvPicPr>
          <p:cNvPr id="6" name="Picture 5">
            <a:extLst>
              <a:ext uri="{FF2B5EF4-FFF2-40B4-BE49-F238E27FC236}">
                <a16:creationId xmlns:a16="http://schemas.microsoft.com/office/drawing/2014/main" id="{12AD3BC4-A210-DDC1-716F-E8B388A4C0BB}"/>
              </a:ext>
            </a:extLst>
          </p:cNvPr>
          <p:cNvPicPr>
            <a:picLocks noChangeAspect="1"/>
          </p:cNvPicPr>
          <p:nvPr/>
        </p:nvPicPr>
        <p:blipFill>
          <a:blip r:embed="rId2"/>
          <a:stretch>
            <a:fillRect/>
          </a:stretch>
        </p:blipFill>
        <p:spPr>
          <a:xfrm>
            <a:off x="5976017" y="1660202"/>
            <a:ext cx="5888338" cy="2473205"/>
          </a:xfrm>
          <a:prstGeom prst="rect">
            <a:avLst/>
          </a:prstGeom>
        </p:spPr>
      </p:pic>
      <p:graphicFrame>
        <p:nvGraphicFramePr>
          <p:cNvPr id="9" name="Table 8">
            <a:extLst>
              <a:ext uri="{FF2B5EF4-FFF2-40B4-BE49-F238E27FC236}">
                <a16:creationId xmlns:a16="http://schemas.microsoft.com/office/drawing/2014/main" id="{AC539327-68EC-BE64-46D2-74F957FFB0AC}"/>
              </a:ext>
            </a:extLst>
          </p:cNvPr>
          <p:cNvGraphicFramePr>
            <a:graphicFrameLocks noGrp="1"/>
          </p:cNvGraphicFramePr>
          <p:nvPr>
            <p:extLst>
              <p:ext uri="{D42A27DB-BD31-4B8C-83A1-F6EECF244321}">
                <p14:modId xmlns:p14="http://schemas.microsoft.com/office/powerpoint/2010/main" val="1355601465"/>
              </p:ext>
            </p:extLst>
          </p:nvPr>
        </p:nvGraphicFramePr>
        <p:xfrm>
          <a:off x="144379" y="4319016"/>
          <a:ext cx="11833058" cy="2225040"/>
        </p:xfrm>
        <a:graphic>
          <a:graphicData uri="http://schemas.openxmlformats.org/drawingml/2006/table">
            <a:tbl>
              <a:tblPr firstRow="1" bandRow="1">
                <a:tableStyleId>{5940675A-B579-460E-94D1-54222C63F5DA}</a:tableStyleId>
              </a:tblPr>
              <a:tblGrid>
                <a:gridCol w="1534026">
                  <a:extLst>
                    <a:ext uri="{9D8B030D-6E8A-4147-A177-3AD203B41FA5}">
                      <a16:colId xmlns:a16="http://schemas.microsoft.com/office/drawing/2014/main" val="110780927"/>
                    </a:ext>
                  </a:extLst>
                </a:gridCol>
                <a:gridCol w="2424363">
                  <a:extLst>
                    <a:ext uri="{9D8B030D-6E8A-4147-A177-3AD203B41FA5}">
                      <a16:colId xmlns:a16="http://schemas.microsoft.com/office/drawing/2014/main" val="2373065068"/>
                    </a:ext>
                  </a:extLst>
                </a:gridCol>
                <a:gridCol w="7874669">
                  <a:extLst>
                    <a:ext uri="{9D8B030D-6E8A-4147-A177-3AD203B41FA5}">
                      <a16:colId xmlns:a16="http://schemas.microsoft.com/office/drawing/2014/main" val="1041026438"/>
                    </a:ext>
                  </a:extLst>
                </a:gridCol>
              </a:tblGrid>
              <a:tr h="370840">
                <a:tc>
                  <a:txBody>
                    <a:bodyPr/>
                    <a:lstStyle/>
                    <a:p>
                      <a:r>
                        <a:rPr lang="en-US" b="1" dirty="0"/>
                        <a:t>Table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Verdict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Why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3705390"/>
                  </a:ext>
                </a:extLst>
              </a:tr>
              <a:tr h="370840">
                <a:tc>
                  <a:txBody>
                    <a:bodyPr/>
                    <a:lstStyle/>
                    <a:p>
                      <a:r>
                        <a:rPr lang="en-US" sz="1400" dirty="0"/>
                        <a:t>accounts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Signup date is consistent, and the rest is attributes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762405"/>
                  </a:ext>
                </a:extLst>
              </a:tr>
              <a:tr h="370840">
                <a:tc>
                  <a:txBody>
                    <a:bodyPr/>
                    <a:lstStyle/>
                    <a:p>
                      <a:r>
                        <a:rPr lang="en-US" sz="1400" dirty="0"/>
                        <a:t>subscriptions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Price follows plan * seats, ARR = 12 * MRR, no subscription predates its customer</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4247228"/>
                  </a:ext>
                </a:extLst>
              </a:tr>
              <a:tr h="370840">
                <a:tc>
                  <a:txBody>
                    <a:bodyPr/>
                    <a:lstStyle/>
                    <a:p>
                      <a:r>
                        <a:rPr lang="en-US" sz="1400" dirty="0" err="1"/>
                        <a:t>feature_usage</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16 features — dates unrelated to the customer, r = 0.002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3096637"/>
                  </a:ext>
                </a:extLst>
              </a:tr>
              <a:tr h="370840">
                <a:tc>
                  <a:txBody>
                    <a:bodyPr/>
                    <a:lstStyle/>
                    <a:p>
                      <a:r>
                        <a:rPr lang="en-US" sz="1400" dirty="0" err="1"/>
                        <a:t>support_tickets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15 features — same, r = 0.016; satisfaction documented 1–5, only ever 3, 4, 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1415731"/>
                  </a:ext>
                </a:extLst>
              </a:tr>
              <a:tr h="370840">
                <a:tc>
                  <a:txBody>
                    <a:bodyPr/>
                    <a:lstStyle/>
                    <a:p>
                      <a:r>
                        <a:rPr lang="en-US" sz="1400" dirty="0" err="1"/>
                        <a:t>churn_events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Label only, never a feature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The only churn record with a date, but it disagrees with the other two</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464719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2800D6-974F-2F17-A52E-0A306D35DF0C}"/>
              </a:ext>
            </a:extLst>
          </p:cNvPr>
          <p:cNvSpPr txBox="1"/>
          <p:nvPr/>
        </p:nvSpPr>
        <p:spPr>
          <a:xfrm>
            <a:off x="747998" y="1869170"/>
            <a:ext cx="11202905" cy="2759730"/>
          </a:xfrm>
          <a:prstGeom prst="rect">
            <a:avLst/>
          </a:prstGeom>
          <a:noFill/>
        </p:spPr>
        <p:txBody>
          <a:bodyPr wrap="square">
            <a:spAutoFit/>
          </a:bodyPr>
          <a:lstStyle/>
          <a:p>
            <a:pPr>
              <a:spcAft>
                <a:spcPts val="500"/>
              </a:spcAft>
            </a:pPr>
            <a:r>
              <a:rPr lang="en-US" sz="600" b="0" i="0" dirty="0">
                <a:solidFill>
                  <a:srgbClr val="1A1A1A"/>
                </a:solidFill>
                <a:latin typeface="Calibri"/>
              </a:rPr>
              <a:t> </a:t>
            </a:r>
          </a:p>
          <a:p>
            <a:pPr>
              <a:spcAft>
                <a:spcPts val="500"/>
              </a:spcAft>
            </a:pPr>
            <a:r>
              <a:rPr lang="en-US" sz="1400" b="1" i="0" dirty="0">
                <a:solidFill>
                  <a:srgbClr val="1A1A1A"/>
                </a:solidFill>
                <a:latin typeface="Calibri"/>
              </a:rPr>
              <a:t>Assumptions I am making</a:t>
            </a:r>
          </a:p>
          <a:p>
            <a:pPr marL="685800" lvl="1" indent="-228600">
              <a:spcAft>
                <a:spcPts val="500"/>
              </a:spcAft>
              <a:buFont typeface="+mj-lt"/>
              <a:buAutoNum type="arabicPeriod"/>
            </a:pPr>
            <a:r>
              <a:rPr lang="en-US" sz="1200" dirty="0">
                <a:solidFill>
                  <a:srgbClr val="5A6270"/>
                </a:solidFill>
              </a:rPr>
              <a:t>Churn means a row in </a:t>
            </a:r>
            <a:r>
              <a:rPr lang="en-US" sz="1200" b="1" dirty="0" err="1">
                <a:solidFill>
                  <a:schemeClr val="tx2"/>
                </a:solidFill>
              </a:rPr>
              <a:t>churn_events</a:t>
            </a:r>
            <a:r>
              <a:rPr lang="en-US" sz="1200" dirty="0">
                <a:solidFill>
                  <a:srgbClr val="5A6270"/>
                </a:solidFill>
              </a:rPr>
              <a:t>. Three records claim to say who left and they disagree. I picked the one with a usable date. If that is the wrong one, everything downstream is wrong.</a:t>
            </a:r>
          </a:p>
          <a:p>
            <a:pPr marL="685800" lvl="1" indent="-228600">
              <a:spcAft>
                <a:spcPts val="500"/>
              </a:spcAft>
              <a:buFont typeface="+mj-lt"/>
              <a:buAutoNum type="arabicPeriod"/>
            </a:pPr>
            <a:r>
              <a:rPr lang="en-US" sz="1200" dirty="0">
                <a:solidFill>
                  <a:srgbClr val="5A6270"/>
                </a:solidFill>
              </a:rPr>
              <a:t>A customer is at risk if they hold an open subscription on the date we ask. Customers whose subscriptions had all ended are excluded they cannot leave again.</a:t>
            </a:r>
          </a:p>
          <a:p>
            <a:pPr marL="685800" lvl="1" indent="-228600">
              <a:spcAft>
                <a:spcPts val="500"/>
              </a:spcAft>
              <a:buFont typeface="+mj-lt"/>
              <a:buAutoNum type="arabicPeriod"/>
            </a:pPr>
            <a:r>
              <a:rPr lang="en-US" sz="1200" dirty="0">
                <a:solidFill>
                  <a:srgbClr val="5A6270"/>
                </a:solidFill>
              </a:rPr>
              <a:t>A 90-day window and quarter-end dates. I chose both before running anything, then swept horizons from 30 to 180 days to see if the choice mattered. It moved the score by 0.026, basically noise.</a:t>
            </a:r>
          </a:p>
          <a:p>
            <a:pPr marL="685800" lvl="1" indent="-228600">
              <a:spcAft>
                <a:spcPts val="500"/>
              </a:spcAft>
              <a:buFont typeface="+mj-lt"/>
              <a:buAutoNum type="arabicPeriod"/>
            </a:pPr>
            <a:r>
              <a:rPr lang="en-US" sz="1200" dirty="0">
                <a:solidFill>
                  <a:srgbClr val="5A6270"/>
                </a:solidFill>
              </a:rPr>
              <a:t>We focus in this analysis on the first churn event. Some customers have reactivations. We take the earliest churn date and dispense with what happens after for simplicity.</a:t>
            </a:r>
          </a:p>
          <a:p>
            <a:pPr marL="685800" lvl="1" indent="-228600">
              <a:spcAft>
                <a:spcPts val="500"/>
              </a:spcAft>
              <a:buFont typeface="+mj-lt"/>
              <a:buAutoNum type="arabicPeriod"/>
            </a:pPr>
            <a:endParaRPr lang="en-US" sz="1200" dirty="0">
              <a:solidFill>
                <a:srgbClr val="5A6270"/>
              </a:solidFill>
            </a:endParaRPr>
          </a:p>
          <a:p>
            <a:pPr marL="685800" lvl="1" indent="-228600">
              <a:spcAft>
                <a:spcPts val="500"/>
              </a:spcAft>
              <a:buFont typeface="+mj-lt"/>
              <a:buAutoNum type="arabicPeriod"/>
            </a:pPr>
            <a:endParaRPr lang="en-US" sz="1200" b="0" i="0" dirty="0">
              <a:solidFill>
                <a:srgbClr val="5A6270"/>
              </a:solidFill>
              <a:latin typeface="Calibri"/>
            </a:endParaRPr>
          </a:p>
          <a:p>
            <a:pPr marL="685800" lvl="1" indent="-228600">
              <a:spcAft>
                <a:spcPts val="500"/>
              </a:spcAft>
              <a:buFont typeface="+mj-lt"/>
              <a:buAutoNum type="arabicPeriod"/>
            </a:pPr>
            <a:endParaRPr lang="en-US" sz="1200" b="0" i="0" dirty="0">
              <a:solidFill>
                <a:srgbClr val="5A6270"/>
              </a:solidFill>
              <a:latin typeface="Calibri"/>
            </a:endParaRPr>
          </a:p>
        </p:txBody>
      </p:sp>
      <p:sp>
        <p:nvSpPr>
          <p:cNvPr id="5" name="TextBox 4">
            <a:extLst>
              <a:ext uri="{FF2B5EF4-FFF2-40B4-BE49-F238E27FC236}">
                <a16:creationId xmlns:a16="http://schemas.microsoft.com/office/drawing/2014/main" id="{CA970AC4-91F5-08BB-443D-4F894B789C96}"/>
              </a:ext>
            </a:extLst>
          </p:cNvPr>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7" name="Rectangle 6">
            <a:extLst>
              <a:ext uri="{FF2B5EF4-FFF2-40B4-BE49-F238E27FC236}">
                <a16:creationId xmlns:a16="http://schemas.microsoft.com/office/drawing/2014/main" id="{9F1B9989-6A7C-C50E-2B6A-E012B6E3A475}"/>
              </a:ext>
            </a:extLst>
          </p:cNvPr>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27656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dirty="0">
                <a:solidFill>
                  <a:srgbClr val="1A1A1A"/>
                </a:solidFill>
              </a:rPr>
              <a:t>Schema, scale and integrity</a:t>
            </a:r>
            <a:endParaRPr sz="2800" b="1" i="0" dirty="0">
              <a:solidFill>
                <a:srgbClr val="1A1A1A"/>
              </a:solidFill>
              <a:latin typeface="Calibri"/>
            </a:endParaRPr>
          </a:p>
        </p:txBody>
      </p:sp>
      <p:sp>
        <p:nvSpPr>
          <p:cNvPr id="3" name="Rectangle 2"/>
          <p:cNvSpPr/>
          <p:nvPr/>
        </p:nvSpPr>
        <p:spPr>
          <a:xfrm>
            <a:off x="685799" y="127063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9_data_model.png"/>
          <p:cNvPicPr>
            <a:picLocks noChangeAspect="1"/>
          </p:cNvPicPr>
          <p:nvPr/>
        </p:nvPicPr>
        <p:blipFill>
          <a:blip r:embed="rId3"/>
          <a:stretch>
            <a:fillRect/>
          </a:stretch>
        </p:blipFill>
        <p:spPr>
          <a:xfrm>
            <a:off x="1105078" y="1425853"/>
            <a:ext cx="9428085" cy="5394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churn_by_segment.png"/>
          <p:cNvPicPr>
            <a:picLocks noChangeAspect="1"/>
          </p:cNvPicPr>
          <p:nvPr/>
        </p:nvPicPr>
        <p:blipFill>
          <a:blip r:embed="rId2"/>
          <a:stretch>
            <a:fillRect/>
          </a:stretch>
        </p:blipFill>
        <p:spPr>
          <a:xfrm>
            <a:off x="564594" y="1817753"/>
            <a:ext cx="9744799" cy="2356224"/>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248</TotalTime>
  <Words>4361</Words>
  <Application>Microsoft Office PowerPoint</Application>
  <PresentationFormat>Widescreen</PresentationFormat>
  <Paragraphs>223</Paragraphs>
  <Slides>18</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2026-07-29T04:34:25Z</dcterms:modified>
  <cp:category/>
</cp:coreProperties>
</file>