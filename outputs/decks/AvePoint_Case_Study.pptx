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72" r:id="rId6"/>
    <p:sldId id="260" r:id="rId7"/>
    <p:sldId id="261" r:id="rId8"/>
    <p:sldId id="262" r:id="rId9"/>
    <p:sldId id="263" r:id="rId10"/>
    <p:sldId id="264" r:id="rId11"/>
    <p:sldId id="265" r:id="rId12"/>
    <p:sldId id="266" r:id="rId13"/>
    <p:sldId id="267" r:id="rId14"/>
    <p:sldId id="268" r:id="rId15"/>
    <p:sldId id="269" r:id="rId16"/>
    <p:sldId id="270" r:id="rId17"/>
    <p:sldId id="271"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C7B8B-EC09-4841-A573-8FF6489E0CC5}" v="87" dt="2026-07-29T04:05:41.3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7382" autoAdjust="0"/>
  </p:normalViewPr>
  <p:slideViewPr>
    <p:cSldViewPr snapToGrid="0" snapToObjects="1">
      <p:cViewPr varScale="1">
        <p:scale>
          <a:sx n="159" d="100"/>
          <a:sy n="159" d="100"/>
        </p:scale>
        <p:origin x="330" y="1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undo custSel addSld modSld">
      <pc:chgData name="Dmitriy Ratushny" userId="08050032e8047aee" providerId="LiveId" clId="{78EB1A6D-D3A9-4525-A4D5-A50D4E20D487}" dt="2026-07-29T04:10:32.206" v="1621" actId="1076"/>
      <pc:docMkLst>
        <pc:docMk/>
      </pc:docMkLst>
      <pc:sldChg chg="modSp mod">
        <pc:chgData name="Dmitriy Ratushny" userId="08050032e8047aee" providerId="LiveId" clId="{78EB1A6D-D3A9-4525-A4D5-A50D4E20D487}" dt="2026-07-28T23:00:06.670" v="13" actId="20577"/>
        <pc:sldMkLst>
          <pc:docMk/>
          <pc:sldMk cId="0" sldId="256"/>
        </pc:sldMkLst>
        <pc:spChg chg="mod">
          <ac:chgData name="Dmitriy Ratushny" userId="08050032e8047aee" providerId="LiveId" clId="{78EB1A6D-D3A9-4525-A4D5-A50D4E20D487}" dt="2026-07-28T23:00:06.670" v="13" actId="20577"/>
          <ac:spMkLst>
            <pc:docMk/>
            <pc:sldMk cId="0" sldId="256"/>
            <ac:spMk id="2" creationId="{00000000-0000-0000-0000-000000000000}"/>
          </ac:spMkLst>
        </pc:spChg>
      </pc:sldChg>
      <pc:sldChg chg="delSp modSp mod">
        <pc:chgData name="Dmitriy Ratushny" userId="08050032e8047aee" providerId="LiveId" clId="{78EB1A6D-D3A9-4525-A4D5-A50D4E20D487}" dt="2026-07-29T04:10:32.206" v="1621" actId="1076"/>
        <pc:sldMkLst>
          <pc:docMk/>
          <pc:sldMk cId="0" sldId="257"/>
        </pc:sldMkLst>
        <pc:spChg chg="mod">
          <ac:chgData name="Dmitriy Ratushny" userId="08050032e8047aee" providerId="LiveId" clId="{78EB1A6D-D3A9-4525-A4D5-A50D4E20D487}" dt="2026-07-29T03:10:07.367" v="1058" actId="21"/>
          <ac:spMkLst>
            <pc:docMk/>
            <pc:sldMk cId="0" sldId="257"/>
            <ac:spMk id="2" creationId="{00000000-0000-0000-0000-000000000000}"/>
          </ac:spMkLst>
        </pc:spChg>
        <pc:spChg chg="mod">
          <ac:chgData name="Dmitriy Ratushny" userId="08050032e8047aee" providerId="LiveId" clId="{78EB1A6D-D3A9-4525-A4D5-A50D4E20D487}" dt="2026-07-29T02:47:45.155" v="617" actId="1076"/>
          <ac:spMkLst>
            <pc:docMk/>
            <pc:sldMk cId="0" sldId="257"/>
            <ac:spMk id="3" creationId="{00000000-0000-0000-0000-000000000000}"/>
          </ac:spMkLst>
        </pc:spChg>
        <pc:spChg chg="mod">
          <ac:chgData name="Dmitriy Ratushny" userId="08050032e8047aee" providerId="LiveId" clId="{78EB1A6D-D3A9-4525-A4D5-A50D4E20D487}" dt="2026-07-29T04:10:28.776" v="1619" actId="1076"/>
          <ac:spMkLst>
            <pc:docMk/>
            <pc:sldMk cId="0" sldId="257"/>
            <ac:spMk id="4" creationId="{00000000-0000-0000-0000-000000000000}"/>
          </ac:spMkLst>
        </pc:spChg>
        <pc:spChg chg="del">
          <ac:chgData name="Dmitriy Ratushny" userId="08050032e8047aee" providerId="LiveId" clId="{78EB1A6D-D3A9-4525-A4D5-A50D4E20D487}" dt="2026-07-28T22:56:21.088" v="4" actId="478"/>
          <ac:spMkLst>
            <pc:docMk/>
            <pc:sldMk cId="0" sldId="257"/>
            <ac:spMk id="6" creationId="{00000000-0000-0000-0000-000000000000}"/>
          </ac:spMkLst>
        </pc:spChg>
        <pc:picChg chg="mod modCrop">
          <ac:chgData name="Dmitriy Ratushny" userId="08050032e8047aee" providerId="LiveId" clId="{78EB1A6D-D3A9-4525-A4D5-A50D4E20D487}" dt="2026-07-29T04:10:32.206" v="1621" actId="1076"/>
          <ac:picMkLst>
            <pc:docMk/>
            <pc:sldMk cId="0" sldId="257"/>
            <ac:picMk id="5" creationId="{00000000-0000-0000-0000-000000000000}"/>
          </ac:picMkLst>
        </pc:picChg>
      </pc:sldChg>
      <pc:sldChg chg="addSp delSp modSp mod">
        <pc:chgData name="Dmitriy Ratushny" userId="08050032e8047aee" providerId="LiveId" clId="{78EB1A6D-D3A9-4525-A4D5-A50D4E20D487}" dt="2026-07-29T03:10:20.569" v="1059" actId="1076"/>
        <pc:sldMkLst>
          <pc:docMk/>
          <pc:sldMk cId="0" sldId="258"/>
        </pc:sldMkLst>
        <pc:spChg chg="mod">
          <ac:chgData name="Dmitriy Ratushny" userId="08050032e8047aee" providerId="LiveId" clId="{78EB1A6D-D3A9-4525-A4D5-A50D4E20D487}" dt="2026-07-29T03:03:49.359" v="801" actId="1076"/>
          <ac:spMkLst>
            <pc:docMk/>
            <pc:sldMk cId="0" sldId="258"/>
            <ac:spMk id="2" creationId="{00000000-0000-0000-0000-000000000000}"/>
          </ac:spMkLst>
        </pc:spChg>
        <pc:spChg chg="mod">
          <ac:chgData name="Dmitriy Ratushny" userId="08050032e8047aee" providerId="LiveId" clId="{78EB1A6D-D3A9-4525-A4D5-A50D4E20D487}" dt="2026-07-28T23:39:37.779" v="337" actId="1076"/>
          <ac:spMkLst>
            <pc:docMk/>
            <pc:sldMk cId="0" sldId="258"/>
            <ac:spMk id="3" creationId="{00000000-0000-0000-0000-000000000000}"/>
          </ac:spMkLst>
        </pc:spChg>
        <pc:spChg chg="mod">
          <ac:chgData name="Dmitriy Ratushny" userId="08050032e8047aee" providerId="LiveId" clId="{78EB1A6D-D3A9-4525-A4D5-A50D4E20D487}" dt="2026-07-29T03:10:20.569" v="1059" actId="1076"/>
          <ac:spMkLst>
            <pc:docMk/>
            <pc:sldMk cId="0" sldId="258"/>
            <ac:spMk id="4" creationId="{00000000-0000-0000-0000-000000000000}"/>
          </ac:spMkLst>
        </pc:spChg>
        <pc:picChg chg="add del mod">
          <ac:chgData name="Dmitriy Ratushny" userId="08050032e8047aee" providerId="LiveId" clId="{78EB1A6D-D3A9-4525-A4D5-A50D4E20D487}" dt="2026-07-29T02:08:27.146" v="361" actId="478"/>
          <ac:picMkLst>
            <pc:docMk/>
            <pc:sldMk cId="0" sldId="258"/>
            <ac:picMk id="6" creationId="{E355C817-C75E-F7EE-C8D2-DD4E3A010816}"/>
          </ac:picMkLst>
        </pc:picChg>
        <pc:picChg chg="add del mod">
          <ac:chgData name="Dmitriy Ratushny" userId="08050032e8047aee" providerId="LiveId" clId="{78EB1A6D-D3A9-4525-A4D5-A50D4E20D487}" dt="2026-07-29T03:02:03.496" v="710" actId="478"/>
          <ac:picMkLst>
            <pc:docMk/>
            <pc:sldMk cId="0" sldId="258"/>
            <ac:picMk id="7" creationId="{D4F31BD9-B3BF-043E-1566-F360B51678E4}"/>
          </ac:picMkLst>
        </pc:picChg>
      </pc:sldChg>
      <pc:sldChg chg="addSp delSp modSp mod">
        <pc:chgData name="Dmitriy Ratushny" userId="08050032e8047aee" providerId="LiveId" clId="{78EB1A6D-D3A9-4525-A4D5-A50D4E20D487}" dt="2026-07-29T03:49:06.748" v="1504" actId="572"/>
        <pc:sldMkLst>
          <pc:docMk/>
          <pc:sldMk cId="0" sldId="259"/>
        </pc:sldMkLst>
        <pc:spChg chg="mod">
          <ac:chgData name="Dmitriy Ratushny" userId="08050032e8047aee" providerId="LiveId" clId="{78EB1A6D-D3A9-4525-A4D5-A50D4E20D487}" dt="2026-07-29T03:09:55.301" v="1057" actId="21"/>
          <ac:spMkLst>
            <pc:docMk/>
            <pc:sldMk cId="0" sldId="259"/>
            <ac:spMk id="2" creationId="{00000000-0000-0000-0000-000000000000}"/>
          </ac:spMkLst>
        </pc:spChg>
        <pc:spChg chg="mod">
          <ac:chgData name="Dmitriy Ratushny" userId="08050032e8047aee" providerId="LiveId" clId="{78EB1A6D-D3A9-4525-A4D5-A50D4E20D487}" dt="2026-07-29T03:46:14.271" v="1481" actId="20577"/>
          <ac:spMkLst>
            <pc:docMk/>
            <pc:sldMk cId="0" sldId="259"/>
            <ac:spMk id="4" creationId="{00000000-0000-0000-0000-000000000000}"/>
          </ac:spMkLst>
        </pc:spChg>
        <pc:spChg chg="add del mod">
          <ac:chgData name="Dmitriy Ratushny" userId="08050032e8047aee" providerId="LiveId" clId="{78EB1A6D-D3A9-4525-A4D5-A50D4E20D487}" dt="2026-07-29T03:37:29.843" v="1111" actId="21"/>
          <ac:spMkLst>
            <pc:docMk/>
            <pc:sldMk cId="0" sldId="259"/>
            <ac:spMk id="8" creationId="{2FF164C1-78B3-A0BA-94F3-0349A08F30F4}"/>
          </ac:spMkLst>
        </pc:spChg>
        <pc:graphicFrameChg chg="add mod modGraphic">
          <ac:chgData name="Dmitriy Ratushny" userId="08050032e8047aee" providerId="LiveId" clId="{78EB1A6D-D3A9-4525-A4D5-A50D4E20D487}" dt="2026-07-29T03:49:06.748" v="1504" actId="572"/>
          <ac:graphicFrameMkLst>
            <pc:docMk/>
            <pc:sldMk cId="0" sldId="259"/>
            <ac:graphicFrameMk id="9" creationId="{AC539327-68EC-BE64-46D2-74F957FFB0AC}"/>
          </ac:graphicFrameMkLst>
        </pc:graphicFrameChg>
        <pc:picChg chg="add mod">
          <ac:chgData name="Dmitriy Ratushny" userId="08050032e8047aee" providerId="LiveId" clId="{78EB1A6D-D3A9-4525-A4D5-A50D4E20D487}" dt="2026-07-29T03:36:22.485" v="1109" actId="1076"/>
          <ac:picMkLst>
            <pc:docMk/>
            <pc:sldMk cId="0" sldId="259"/>
            <ac:picMk id="6" creationId="{12AD3BC4-A210-DDC1-716F-E8B388A4C0BB}"/>
          </ac:picMkLst>
        </pc:picChg>
      </pc:sldChg>
      <pc:sldChg chg="modSp mod">
        <pc:chgData name="Dmitriy Ratushny" userId="08050032e8047aee" providerId="LiveId" clId="{78EB1A6D-D3A9-4525-A4D5-A50D4E20D487}" dt="2026-07-29T03:42:52.582" v="1479" actId="1076"/>
        <pc:sldMkLst>
          <pc:docMk/>
          <pc:sldMk cId="0" sldId="260"/>
        </pc:sldMkLst>
        <pc:picChg chg="mod">
          <ac:chgData name="Dmitriy Ratushny" userId="08050032e8047aee" providerId="LiveId" clId="{78EB1A6D-D3A9-4525-A4D5-A50D4E20D487}" dt="2026-07-29T03:42:52.582" v="1479" actId="1076"/>
          <ac:picMkLst>
            <pc:docMk/>
            <pc:sldMk cId="0" sldId="260"/>
            <ac:picMk id="4" creationId="{00000000-0000-0000-0000-000000000000}"/>
          </ac:picMkLst>
        </pc:picChg>
      </pc:sldChg>
      <pc:sldChg chg="addSp modSp new mod">
        <pc:chgData name="Dmitriy Ratushny" userId="08050032e8047aee" providerId="LiveId" clId="{78EB1A6D-D3A9-4525-A4D5-A50D4E20D487}" dt="2026-07-29T04:06:18.688" v="1618" actId="20577"/>
        <pc:sldMkLst>
          <pc:docMk/>
          <pc:sldMk cId="727656364" sldId="272"/>
        </pc:sldMkLst>
        <pc:spChg chg="add mod">
          <ac:chgData name="Dmitriy Ratushny" userId="08050032e8047aee" providerId="LiveId" clId="{78EB1A6D-D3A9-4525-A4D5-A50D4E20D487}" dt="2026-07-29T04:06:18.688" v="1618" actId="20577"/>
          <ac:spMkLst>
            <pc:docMk/>
            <pc:sldMk cId="727656364" sldId="272"/>
            <ac:spMk id="3" creationId="{502800D6-974F-2F17-A52E-0A306D35DF0C}"/>
          </ac:spMkLst>
        </pc:spChg>
        <pc:spChg chg="add">
          <ac:chgData name="Dmitriy Ratushny" userId="08050032e8047aee" providerId="LiveId" clId="{78EB1A6D-D3A9-4525-A4D5-A50D4E20D487}" dt="2026-07-29T03:53:25.069" v="1505" actId="22"/>
          <ac:spMkLst>
            <pc:docMk/>
            <pc:sldMk cId="727656364" sldId="272"/>
            <ac:spMk id="5" creationId="{CA970AC4-91F5-08BB-443D-4F894B789C96}"/>
          </ac:spMkLst>
        </pc:spChg>
        <pc:spChg chg="add">
          <ac:chgData name="Dmitriy Ratushny" userId="08050032e8047aee" providerId="LiveId" clId="{78EB1A6D-D3A9-4525-A4D5-A50D4E20D487}" dt="2026-07-29T03:53:25.069" v="1505" actId="22"/>
          <ac:spMkLst>
            <pc:docMk/>
            <pc:sldMk cId="727656364" sldId="272"/>
            <ac:spMk id="7" creationId="{9F1B9989-6A7C-C50E-2B6A-E012B6E3A47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8318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133918"/>
          </a:xfrm>
          <a:prstGeom prst="rect">
            <a:avLst/>
          </a:prstGeom>
          <a:noFill/>
        </p:spPr>
        <p:txBody>
          <a:bodyPr wrap="square">
            <a:spAutoFit/>
          </a:bodyPr>
          <a:lstStyle/>
          <a:p>
            <a:r>
              <a:rPr sz="4000" b="1" i="0" dirty="0">
                <a:solidFill>
                  <a:srgbClr val="1A1A1A"/>
                </a:solidFill>
                <a:latin typeface="Calibri"/>
              </a:rPr>
              <a:t>Why customers leave, and what to do about it</a:t>
            </a:r>
          </a:p>
          <a:p>
            <a:pPr>
              <a:spcBef>
                <a:spcPts val="1600"/>
              </a:spcBef>
            </a:pPr>
            <a:r>
              <a:rPr sz="1800" b="0" i="0" dirty="0">
                <a:solidFill>
                  <a:srgbClr val="5A6270"/>
                </a:solidFill>
                <a:latin typeface="Calibri"/>
              </a:rPr>
              <a:t>Senior ML Engineer case study. </a:t>
            </a:r>
            <a:r>
              <a:rPr sz="1800" b="0" i="0" dirty="0" err="1">
                <a:solidFill>
                  <a:srgbClr val="5A6270"/>
                </a:solidFill>
                <a:latin typeface="Calibri"/>
              </a:rPr>
              <a:t>RavenStack</a:t>
            </a:r>
            <a:r>
              <a:rPr sz="1800" b="0" i="0" dirty="0">
                <a:solidFill>
                  <a:srgbClr val="5A6270"/>
                </a:solidFill>
                <a:latin typeface="Calibri"/>
              </a:rPr>
              <a:t> subscription data: 500 customers across 5 tables.</a:t>
            </a:r>
          </a:p>
          <a:p>
            <a:pPr>
              <a:spcBef>
                <a:spcPts val="2800"/>
              </a:spcBef>
            </a:pPr>
            <a:r>
              <a:rPr lang="en-US" sz="1900" b="1" dirty="0">
                <a:solidFill>
                  <a:srgbClr val="2E5F8A"/>
                </a:solidFill>
              </a:rPr>
              <a:t>The short version: this data cannot predict who will leave. The one trend that looked real — churn rising through 2024 was invented by the dataset, not by customers. Three recommendations still follow.</a:t>
            </a:r>
            <a:endParaRPr sz="1900" b="1" i="0" dirty="0">
              <a:solidFill>
                <a:srgbClr val="2E5F8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The business problem</a:t>
            </a:r>
          </a:p>
        </p:txBody>
      </p:sp>
      <p:sp>
        <p:nvSpPr>
          <p:cNvPr id="3" name="Rectangle 2"/>
          <p:cNvSpPr/>
          <p:nvPr/>
        </p:nvSpPr>
        <p:spPr>
          <a:xfrm>
            <a:off x="685800" y="12105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799" y="1210564"/>
            <a:ext cx="10820095" cy="5555367"/>
          </a:xfrm>
          <a:prstGeom prst="rect">
            <a:avLst/>
          </a:prstGeom>
          <a:noFill/>
        </p:spPr>
        <p:txBody>
          <a:bodyPr wrap="square">
            <a:spAutoFit/>
          </a:bodyPr>
          <a:lstStyle/>
          <a:p>
            <a:pPr algn="just">
              <a:spcAft>
                <a:spcPts val="600"/>
              </a:spcAft>
            </a:pPr>
            <a:r>
              <a:rPr sz="1400" b="1" i="0" dirty="0">
                <a:solidFill>
                  <a:srgbClr val="1A1A1A"/>
                </a:solidFill>
                <a:latin typeface="Calibri"/>
              </a:rPr>
              <a:t>This work supports two decisions. Who should the success team call this quarter? What should the product team fix?</a:t>
            </a:r>
          </a:p>
          <a:p>
            <a:pPr algn="just">
              <a:spcAft>
                <a:spcPts val="600"/>
              </a:spcAft>
            </a:pPr>
            <a:r>
              <a:rPr sz="1400" b="0" i="0" dirty="0">
                <a:solidFill>
                  <a:srgbClr val="1A1A1A"/>
                </a:solidFill>
                <a:latin typeface="Calibri"/>
              </a:rPr>
              <a:t>Seven in ten customers leave in the end. The typical </a:t>
            </a:r>
            <a:r>
              <a:rPr lang="en-US" sz="1400" b="0" i="0" dirty="0">
                <a:solidFill>
                  <a:srgbClr val="1A1A1A"/>
                </a:solidFill>
                <a:latin typeface="Calibri"/>
              </a:rPr>
              <a:t>customer</a:t>
            </a:r>
            <a:r>
              <a:rPr sz="1400" b="0" i="0" dirty="0">
                <a:solidFill>
                  <a:srgbClr val="1A1A1A"/>
                </a:solidFill>
                <a:latin typeface="Calibri"/>
              </a:rPr>
              <a:t> pays $931 a month and is worth about $7,300.</a:t>
            </a:r>
          </a:p>
          <a:p>
            <a:pPr algn="just">
              <a:spcAft>
                <a:spcPts val="600"/>
              </a:spcAft>
            </a:pPr>
            <a:r>
              <a:rPr sz="600" b="0" i="0" dirty="0">
                <a:solidFill>
                  <a:srgbClr val="1A1A1A"/>
                </a:solidFill>
                <a:latin typeface="Calibri"/>
              </a:rPr>
              <a:t> </a:t>
            </a:r>
          </a:p>
          <a:p>
            <a:pPr algn="just">
              <a:spcAft>
                <a:spcPts val="600"/>
              </a:spcAft>
            </a:pPr>
            <a:r>
              <a:rPr sz="1400" b="1" i="0" dirty="0">
                <a:solidFill>
                  <a:srgbClr val="B02E2E"/>
                </a:solidFill>
                <a:latin typeface="Calibri"/>
              </a:rPr>
              <a:t>The churn flag</a:t>
            </a:r>
            <a:r>
              <a:rPr lang="en-US" sz="1400" b="1" dirty="0">
                <a:solidFill>
                  <a:srgbClr val="B02E2E"/>
                </a:solidFill>
              </a:rPr>
              <a:t> </a:t>
            </a:r>
            <a:r>
              <a:rPr lang="en-US" sz="1400" b="1" dirty="0">
                <a:solidFill>
                  <a:schemeClr val="tx2"/>
                </a:solidFill>
              </a:rPr>
              <a:t>accounts.churn_flag</a:t>
            </a:r>
            <a:r>
              <a:rPr sz="1400" b="1" i="0" dirty="0">
                <a:solidFill>
                  <a:srgbClr val="B02E2E"/>
                </a:solidFill>
                <a:latin typeface="Calibri"/>
              </a:rPr>
              <a:t> in the data cannot be used.</a:t>
            </a:r>
          </a:p>
          <a:p>
            <a:pPr marL="685800" lvl="1" indent="-228600" algn="just">
              <a:spcAft>
                <a:spcPts val="600"/>
              </a:spcAft>
              <a:buFont typeface="+mj-lt"/>
              <a:buAutoNum type="arabicPeriod"/>
            </a:pPr>
            <a:r>
              <a:rPr lang="en-US" sz="1200" b="1" dirty="0">
                <a:solidFill>
                  <a:schemeClr val="tx2"/>
                </a:solidFill>
              </a:rPr>
              <a:t>accounts.churn_flag</a:t>
            </a:r>
            <a:r>
              <a:rPr sz="1200" b="0" i="0" dirty="0">
                <a:solidFill>
                  <a:srgbClr val="5A6270"/>
                </a:solidFill>
                <a:latin typeface="Calibri"/>
              </a:rPr>
              <a:t> has no date. </a:t>
            </a:r>
            <a:r>
              <a:rPr lang="en-US" sz="1200" b="0" i="0" dirty="0">
                <a:solidFill>
                  <a:srgbClr val="5A6270"/>
                </a:solidFill>
                <a:latin typeface="Calibri"/>
              </a:rPr>
              <a:t>So,</a:t>
            </a:r>
            <a:r>
              <a:rPr sz="1200" b="0" i="0" dirty="0">
                <a:solidFill>
                  <a:srgbClr val="5A6270"/>
                </a:solidFill>
                <a:latin typeface="Calibri"/>
              </a:rPr>
              <a:t> we cannot ask whether a customer </a:t>
            </a:r>
            <a:r>
              <a:rPr lang="en-US" sz="1200" b="0" i="0" dirty="0">
                <a:solidFill>
                  <a:srgbClr val="5A6270"/>
                </a:solidFill>
                <a:latin typeface="Calibri"/>
              </a:rPr>
              <a:t>has</a:t>
            </a:r>
            <a:r>
              <a:rPr sz="1200" b="0" i="0" dirty="0">
                <a:solidFill>
                  <a:srgbClr val="5A6270"/>
                </a:solidFill>
                <a:latin typeface="Calibri"/>
              </a:rPr>
              <a:t> already left by any given day.</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is recorded three times - </a:t>
            </a:r>
            <a:r>
              <a:rPr lang="en-US" sz="1200" b="1" dirty="0">
                <a:solidFill>
                  <a:schemeClr val="tx2"/>
                </a:solidFill>
              </a:rPr>
              <a:t>accounts.churn_flag</a:t>
            </a:r>
            <a:r>
              <a:rPr lang="en-US" sz="1200" dirty="0">
                <a:solidFill>
                  <a:srgbClr val="5A6270"/>
                </a:solidFill>
              </a:rPr>
              <a:t>, </a:t>
            </a:r>
            <a:r>
              <a:rPr lang="en-US" sz="1200" b="1" dirty="0">
                <a:solidFill>
                  <a:schemeClr val="tx2"/>
                </a:solidFill>
              </a:rPr>
              <a:t>churn_events.churn_date</a:t>
            </a:r>
            <a:r>
              <a:rPr lang="en-US" sz="1200" dirty="0">
                <a:solidFill>
                  <a:srgbClr val="5A6270"/>
                </a:solidFill>
              </a:rPr>
              <a:t>, </a:t>
            </a:r>
            <a:r>
              <a:rPr lang="en-US" sz="1200" b="1" dirty="0">
                <a:solidFill>
                  <a:schemeClr val="tx2"/>
                </a:solidFill>
              </a:rPr>
              <a:t>subscriptions.end_date</a:t>
            </a:r>
            <a:r>
              <a:rPr lang="en-US" sz="1200" dirty="0">
                <a:solidFill>
                  <a:srgbClr val="5A6270"/>
                </a:solidFill>
              </a:rPr>
              <a:t> - and all three disagree.</a:t>
            </a:r>
            <a:endParaRPr sz="1200" b="0" i="0" dirty="0">
              <a:solidFill>
                <a:srgbClr val="5A6270"/>
              </a:solidFill>
              <a:latin typeface="Calibri"/>
            </a:endParaRPr>
          </a:p>
          <a:p>
            <a:pPr marL="685800" lvl="1" indent="-228600" algn="just">
              <a:spcAft>
                <a:spcPts val="600"/>
              </a:spcAft>
              <a:buFont typeface="+mj-lt"/>
              <a:buAutoNum type="arabicPeriod"/>
            </a:pPr>
            <a:r>
              <a:rPr lang="en-US" sz="1200" dirty="0"/>
              <a:t>Column</a:t>
            </a:r>
            <a:r>
              <a:rPr lang="en-US" sz="1200" b="1" dirty="0">
                <a:solidFill>
                  <a:schemeClr val="tx2"/>
                </a:solidFill>
              </a:rPr>
              <a:t> accounts.churn_flag</a:t>
            </a:r>
            <a:r>
              <a:rPr lang="en-US" sz="1200" dirty="0">
                <a:solidFill>
                  <a:srgbClr val="5A6270"/>
                </a:solidFill>
              </a:rPr>
              <a:t> asserts churn for 22% of customers; </a:t>
            </a:r>
            <a:r>
              <a:rPr lang="en-US" sz="1200" b="1" dirty="0">
                <a:solidFill>
                  <a:schemeClr val="tx2"/>
                </a:solidFill>
              </a:rPr>
              <a:t>churn_events</a:t>
            </a:r>
            <a:r>
              <a:rPr lang="en-US" sz="1200" dirty="0">
                <a:solidFill>
                  <a:srgbClr val="5A6270"/>
                </a:solidFill>
              </a:rPr>
              <a:t> asserts churn for 70% of customers. They agree on 188 of 500. Shuffle the </a:t>
            </a:r>
            <a:r>
              <a:rPr lang="en-US" sz="1200" b="1" dirty="0">
                <a:solidFill>
                  <a:schemeClr val="tx2"/>
                </a:solidFill>
              </a:rPr>
              <a:t>accounts.churn_flag</a:t>
            </a:r>
            <a:r>
              <a:rPr lang="en-US" sz="1200" dirty="0">
                <a:solidFill>
                  <a:srgbClr val="5A6270"/>
                </a:solidFill>
              </a:rPr>
              <a:t> at random and you would expect 193. The real column does no better than the shuffled one.</a:t>
            </a:r>
          </a:p>
          <a:p>
            <a:pPr marL="685800" lvl="1" indent="-228600" algn="just">
              <a:spcAft>
                <a:spcPts val="600"/>
              </a:spcAft>
              <a:buFont typeface="+mj-lt"/>
              <a:buAutoNum type="arabicPeriod"/>
            </a:pPr>
            <a:r>
              <a:rPr lang="en-US" sz="1200" dirty="0"/>
              <a:t>The</a:t>
            </a:r>
            <a:r>
              <a:rPr lang="en-US" sz="1200" b="1" dirty="0">
                <a:solidFill>
                  <a:schemeClr val="tx2"/>
                </a:solidFill>
              </a:rPr>
              <a:t> churn_events.churn_date</a:t>
            </a:r>
            <a:r>
              <a:rPr lang="en-US" sz="1200" dirty="0">
                <a:solidFill>
                  <a:srgbClr val="5A6270"/>
                </a:solidFill>
              </a:rPr>
              <a:t> and </a:t>
            </a:r>
            <a:r>
              <a:rPr lang="en-US" sz="1200" b="1" dirty="0">
                <a:solidFill>
                  <a:schemeClr val="tx2"/>
                </a:solidFill>
              </a:rPr>
              <a:t>subscriptions.end_date</a:t>
            </a:r>
            <a:r>
              <a:rPr lang="en-US" sz="1200" dirty="0">
                <a:solidFill>
                  <a:srgbClr val="5A6270"/>
                </a:solidFill>
              </a:rPr>
              <a:t> disagree too: of 386 matched pairs, 6 land on the same day. The usual gap is two months.</a:t>
            </a:r>
          </a:p>
          <a:p>
            <a:pPr algn="just">
              <a:spcAft>
                <a:spcPts val="600"/>
              </a:spcAft>
            </a:pPr>
            <a:r>
              <a:rPr lang="en-US" sz="600" b="0" i="0" dirty="0">
                <a:solidFill>
                  <a:srgbClr val="1A1A1A"/>
                </a:solidFill>
                <a:latin typeface="Calibri"/>
              </a:rPr>
              <a:t> </a:t>
            </a:r>
          </a:p>
          <a:p>
            <a:pPr algn="just">
              <a:spcAft>
                <a:spcPts val="600"/>
              </a:spcAft>
            </a:pPr>
            <a:r>
              <a:rPr lang="en-US" sz="1400" b="1" i="0" dirty="0">
                <a:solidFill>
                  <a:srgbClr val="1A1A1A"/>
                </a:solidFill>
                <a:latin typeface="Calibri"/>
              </a:rPr>
              <a:t>So, I rebuilt the target as a question with a date in it:</a:t>
            </a:r>
          </a:p>
          <a:p>
            <a:pPr marL="685800" lvl="1" indent="-228600" algn="just">
              <a:spcAft>
                <a:spcPts val="600"/>
              </a:spcAft>
              <a:buFont typeface="+mj-lt"/>
              <a:buAutoNum type="arabicPeriod"/>
            </a:pPr>
            <a:r>
              <a:rPr sz="1200" b="0" i="0" dirty="0">
                <a:solidFill>
                  <a:srgbClr val="5A6270"/>
                </a:solidFill>
                <a:latin typeface="Calibri"/>
              </a:rPr>
              <a:t>On each of four quarter-end dates, using only what we knew that day, will this customer leave in the next 90 days? </a:t>
            </a: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That gives 648 customer-dates, 281 distinct customers, and 159 leavers - 24.5%. The rate per cutoff runs 17% to 31%</a:t>
            </a:r>
          </a:p>
          <a:p>
            <a:pPr marL="685800" lvl="1" indent="-228600" algn="just">
              <a:spcAft>
                <a:spcPts val="600"/>
              </a:spcAft>
              <a:buFont typeface="+mj-lt"/>
              <a:buAutoNum type="arabicPeriod"/>
            </a:pPr>
            <a:r>
              <a:rPr lang="en-US" sz="1200" dirty="0">
                <a:solidFill>
                  <a:srgbClr val="5A6270"/>
                </a:solidFill>
              </a:rPr>
              <a:t>The label comes from </a:t>
            </a:r>
            <a:r>
              <a:rPr lang="en-US" sz="1200" b="1" dirty="0" err="1">
                <a:solidFill>
                  <a:schemeClr val="tx2"/>
                </a:solidFill>
              </a:rPr>
              <a:t>churn_events</a:t>
            </a:r>
            <a:r>
              <a:rPr lang="en-US" sz="1200" dirty="0">
                <a:solidFill>
                  <a:srgbClr val="5A6270"/>
                </a:solidFill>
              </a:rPr>
              <a:t>: an eligible account is positive if its earliest </a:t>
            </a:r>
            <a:r>
              <a:rPr lang="en-US" sz="1200" b="1" dirty="0" err="1">
                <a:solidFill>
                  <a:schemeClr val="tx2"/>
                </a:solidFill>
              </a:rPr>
              <a:t>churn_events.churn_date</a:t>
            </a:r>
            <a:r>
              <a:rPr lang="en-US" sz="1200" dirty="0">
                <a:solidFill>
                  <a:srgbClr val="5A6270"/>
                </a:solidFill>
              </a:rPr>
              <a:t> falls within the 90 days from the cutoff. Everything else is negative. </a:t>
            </a:r>
            <a:endParaRPr sz="1200" b="0" i="0" dirty="0">
              <a:solidFill>
                <a:srgbClr val="5A6270"/>
              </a:solidFill>
              <a:latin typeface="Calibri"/>
            </a:endParaRPr>
          </a:p>
        </p:txBody>
      </p:sp>
      <p:pic>
        <p:nvPicPr>
          <p:cNvPr id="5" name="Picture 4" descr="02_rolling_origin.png"/>
          <p:cNvPicPr>
            <a:picLocks noChangeAspect="1"/>
          </p:cNvPicPr>
          <p:nvPr/>
        </p:nvPicPr>
        <p:blipFill>
          <a:blip r:embed="rId3"/>
          <a:srcRect t="12677"/>
          <a:stretch>
            <a:fillRect/>
          </a:stretch>
        </p:blipFill>
        <p:spPr>
          <a:xfrm>
            <a:off x="1357228" y="4214707"/>
            <a:ext cx="7427274" cy="16763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7856" y="293881"/>
            <a:ext cx="10820095" cy="1051560"/>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How we would judge success</a:t>
            </a:r>
          </a:p>
        </p:txBody>
      </p:sp>
      <p:sp>
        <p:nvSpPr>
          <p:cNvPr id="3" name="Rectangle 2"/>
          <p:cNvSpPr/>
          <p:nvPr/>
        </p:nvSpPr>
        <p:spPr>
          <a:xfrm>
            <a:off x="685799" y="118792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9748" y="1586167"/>
            <a:ext cx="11277599" cy="4231928"/>
          </a:xfrm>
          <a:prstGeom prst="rect">
            <a:avLst/>
          </a:prstGeom>
          <a:noFill/>
        </p:spPr>
        <p:txBody>
          <a:bodyPr wrap="square">
            <a:spAutoFit/>
          </a:bodyPr>
          <a:lstStyle/>
          <a:p>
            <a:pPr algn="just">
              <a:spcAft>
                <a:spcPts val="900"/>
              </a:spcAft>
            </a:pPr>
            <a:r>
              <a:rPr sz="2000" b="1" i="0" dirty="0">
                <a:solidFill>
                  <a:srgbClr val="1A1A1A"/>
                </a:solidFill>
                <a:latin typeface="Calibri"/>
              </a:rPr>
              <a:t>For the model</a:t>
            </a:r>
            <a:r>
              <a:rPr lang="en-US" sz="2000" b="1" dirty="0">
                <a:solidFill>
                  <a:srgbClr val="1A1A1A"/>
                </a:solidFill>
              </a:rPr>
              <a:t> - </a:t>
            </a:r>
            <a:r>
              <a:rPr lang="en-US" sz="2000" dirty="0">
                <a:solidFill>
                  <a:srgbClr val="1A1A1A"/>
                </a:solidFill>
              </a:rPr>
              <a:t>measured in this work</a:t>
            </a:r>
            <a:endParaRPr sz="2000" i="0" dirty="0">
              <a:solidFill>
                <a:srgbClr val="1A1A1A"/>
              </a:solidFill>
              <a:latin typeface="Calibri"/>
            </a:endParaRPr>
          </a:p>
          <a:p>
            <a:pPr marL="800100" lvl="1" indent="-342900" algn="just">
              <a:spcAft>
                <a:spcPts val="900"/>
              </a:spcAft>
              <a:buFont typeface="+mj-lt"/>
              <a:buAutoNum type="arabicPeriod"/>
            </a:pPr>
            <a:r>
              <a:rPr sz="1400" b="0" i="0" dirty="0">
                <a:solidFill>
                  <a:srgbClr val="5A6270"/>
                </a:solidFill>
                <a:latin typeface="Calibri"/>
              </a:rPr>
              <a:t>ROC-AUC measures how well the model sorts customers by risk. 0.5 means it is guessing</a:t>
            </a:r>
            <a:r>
              <a:rPr lang="en-US" sz="1400" b="0" i="0" dirty="0">
                <a:solidFill>
                  <a:srgbClr val="5A6270"/>
                </a:solidFill>
                <a:latin typeface="Calibri"/>
              </a:rPr>
              <a:t>.</a:t>
            </a:r>
            <a:endParaRPr sz="1400" b="0" i="0" dirty="0">
              <a:solidFill>
                <a:srgbClr val="5A6270"/>
              </a:solidFill>
              <a:latin typeface="Calibri"/>
            </a:endParaRPr>
          </a:p>
          <a:p>
            <a:pPr marL="800100" lvl="1" indent="-342900" algn="just">
              <a:spcAft>
                <a:spcPts val="900"/>
              </a:spcAft>
              <a:buFont typeface="+mj-lt"/>
              <a:buAutoNum type="arabicPeriod"/>
            </a:pPr>
            <a:r>
              <a:rPr lang="en-US" sz="1400" dirty="0">
                <a:solidFill>
                  <a:srgbClr val="5A6270"/>
                </a:solidFill>
              </a:rPr>
              <a:t>Precision and recall, because they say what the CS team experiences working the list.</a:t>
            </a: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r>
              <a:rPr lang="en-US" sz="2000" b="1" dirty="0">
                <a:solidFill>
                  <a:srgbClr val="1A1A1A"/>
                </a:solidFill>
                <a:latin typeface="+mj-lt"/>
              </a:rPr>
              <a:t> For the business — </a:t>
            </a:r>
            <a:r>
              <a:rPr lang="en-US" sz="2000" dirty="0">
                <a:solidFill>
                  <a:srgbClr val="1A1A1A"/>
                </a:solidFill>
                <a:latin typeface="+mj-lt"/>
              </a:rPr>
              <a:t>these metrics are proposed, none are measurable from the data we are provided</a:t>
            </a:r>
          </a:p>
          <a:p>
            <a:pPr marL="800100" lvl="1" indent="-342900" algn="just">
              <a:spcAft>
                <a:spcPts val="900"/>
              </a:spcAft>
              <a:buFont typeface="+mj-lt"/>
              <a:buAutoNum type="arabicPeriod"/>
            </a:pPr>
            <a:r>
              <a:rPr lang="en-US" sz="1400" dirty="0">
                <a:solidFill>
                  <a:srgbClr val="5A6270"/>
                </a:solidFill>
              </a:rPr>
              <a:t>Retention at 180 days, customers we called against a half we deliberately didn’t.</a:t>
            </a:r>
          </a:p>
          <a:p>
            <a:pPr marL="800100" lvl="1" indent="-342900" algn="just">
              <a:spcAft>
                <a:spcPts val="900"/>
              </a:spcAft>
              <a:buFont typeface="+mj-lt"/>
              <a:buAutoNum type="arabicPeriod"/>
            </a:pPr>
            <a:r>
              <a:rPr lang="en-US" sz="1400" dirty="0">
                <a:solidFill>
                  <a:srgbClr val="5A6270"/>
                </a:solidFill>
              </a:rPr>
              <a:t>Net revenue retention, so a customer kept with a big discount counts for what they are still worth.</a:t>
            </a:r>
          </a:p>
          <a:p>
            <a:pPr marL="800100" lvl="1" indent="-342900" algn="just">
              <a:spcAft>
                <a:spcPts val="900"/>
              </a:spcAft>
              <a:buFont typeface="+mj-lt"/>
              <a:buAutoNum type="arabicPeriod"/>
            </a:pPr>
            <a:r>
              <a:rPr lang="en-US" sz="1400" dirty="0">
                <a:solidFill>
                  <a:srgbClr val="5A6270"/>
                </a:solidFill>
              </a:rPr>
              <a:t>Incremental revenue over simply calling everyone.</a:t>
            </a:r>
          </a:p>
          <a:p>
            <a:pPr algn="just">
              <a:spcAft>
                <a:spcPts val="900"/>
              </a:spcAft>
            </a:pPr>
            <a:br>
              <a:rPr lang="en-US" sz="2000" b="1" dirty="0">
                <a:solidFill>
                  <a:srgbClr val="1A1A1A"/>
                </a:solidFill>
              </a:rPr>
            </a:br>
            <a:r>
              <a:rPr lang="en-US" sz="2000" b="1" dirty="0">
                <a:solidFill>
                  <a:srgbClr val="1A1A1A"/>
                </a:solidFill>
              </a:rPr>
              <a:t>Limits I set before starting:</a:t>
            </a:r>
            <a:endParaRPr lang="en-US" sz="2000" dirty="0">
              <a:solidFill>
                <a:srgbClr val="1A1A1A"/>
              </a:solidFill>
            </a:endParaRPr>
          </a:p>
          <a:p>
            <a:pPr marL="800100" lvl="1" indent="-342900" algn="just">
              <a:spcAft>
                <a:spcPts val="900"/>
              </a:spcAft>
              <a:buFont typeface="+mj-lt"/>
              <a:buAutoNum type="arabicPeriod"/>
            </a:pPr>
            <a:r>
              <a:rPr lang="en-US" sz="1400" dirty="0">
                <a:solidFill>
                  <a:srgbClr val="5A6270"/>
                </a:solidFill>
              </a:rPr>
              <a:t>The model must beat guessing at the bottom of its range, not just on average. It also has to beat simply calling every customer. </a:t>
            </a:r>
          </a:p>
          <a:p>
            <a:pPr marL="800100" lvl="1" indent="-342900" algn="just">
              <a:spcAft>
                <a:spcPts val="900"/>
              </a:spcAft>
              <a:buFont typeface="+mj-lt"/>
              <a:buAutoNum type="arabicPeriod"/>
            </a:pPr>
            <a:r>
              <a:rPr lang="en-US" sz="1400" dirty="0">
                <a:solidFill>
                  <a:srgbClr val="5A6270"/>
                </a:solidFill>
              </a:rPr>
              <a:t>Scores would determine what the intervention would look like.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7645" y="1578846"/>
            <a:ext cx="5390147" cy="2162130"/>
          </a:xfrm>
          <a:prstGeom prst="rect">
            <a:avLst/>
          </a:prstGeom>
          <a:noFill/>
        </p:spPr>
        <p:txBody>
          <a:bodyPr wrap="square">
            <a:spAutoFit/>
          </a:bodyPr>
          <a:lstStyle/>
          <a:p>
            <a:pPr algn="just">
              <a:spcAft>
                <a:spcPts val="500"/>
              </a:spcAft>
            </a:pPr>
            <a:r>
              <a:rPr sz="1400" b="1" i="0" dirty="0">
                <a:solidFill>
                  <a:srgbClr val="B02E2E"/>
                </a:solidFill>
                <a:latin typeface="Calibri"/>
              </a:rPr>
              <a:t>Two of the five tables are not joined to their customers in time.</a:t>
            </a:r>
          </a:p>
          <a:p>
            <a:pPr marL="685800" lvl="1" indent="-228600" algn="just">
              <a:spcAft>
                <a:spcPts val="500"/>
              </a:spcAft>
              <a:buFont typeface="+mj-lt"/>
              <a:buAutoNum type="arabicPeriod"/>
            </a:pPr>
            <a:r>
              <a:rPr lang="en-US" sz="1200" dirty="0">
                <a:solidFill>
                  <a:srgbClr val="5A6270"/>
                </a:solidFill>
              </a:rPr>
              <a:t>Usage and support events are not attached to the customers they belong to. Plotted against signup date they form a square cloud, where real data would be a band above the line. Just over half of all usage rows and support tickets are dated before the customer existed. </a:t>
            </a:r>
          </a:p>
          <a:p>
            <a:pPr marL="685800" lvl="1" indent="-228600" algn="just">
              <a:spcAft>
                <a:spcPts val="500"/>
              </a:spcAft>
              <a:buFont typeface="+mj-lt"/>
              <a:buAutoNum type="arabicPeriod"/>
            </a:pPr>
            <a:r>
              <a:rPr sz="1200" b="0" i="0" dirty="0">
                <a:solidFill>
                  <a:srgbClr val="5A6270"/>
                </a:solidFill>
                <a:latin typeface="Calibri"/>
              </a:rPr>
              <a:t>Nothing links inside those tables either. Ticket priority does not predict how fast we answered. Plan tier does not predict how much people used.</a:t>
            </a:r>
          </a:p>
          <a:p>
            <a:pPr marL="685800" lvl="1" indent="-228600" algn="just">
              <a:spcAft>
                <a:spcPts val="500"/>
              </a:spcAft>
              <a:buFont typeface="+mj-lt"/>
              <a:buAutoNum type="arabicPeriod"/>
            </a:pPr>
            <a:r>
              <a:rPr sz="1200" b="0" i="0" dirty="0">
                <a:solidFill>
                  <a:srgbClr val="5A6270"/>
                </a:solidFill>
                <a:latin typeface="Calibri"/>
              </a:rPr>
              <a:t>There are three ways to say a customer churned. All three agree for only 20% of customers.</a:t>
            </a:r>
          </a:p>
        </p:txBody>
      </p:sp>
      <p:pic>
        <p:nvPicPr>
          <p:cNvPr id="6" name="Picture 5">
            <a:extLst>
              <a:ext uri="{FF2B5EF4-FFF2-40B4-BE49-F238E27FC236}">
                <a16:creationId xmlns:a16="http://schemas.microsoft.com/office/drawing/2014/main" id="{12AD3BC4-A210-DDC1-716F-E8B388A4C0BB}"/>
              </a:ext>
            </a:extLst>
          </p:cNvPr>
          <p:cNvPicPr>
            <a:picLocks noChangeAspect="1"/>
          </p:cNvPicPr>
          <p:nvPr/>
        </p:nvPicPr>
        <p:blipFill>
          <a:blip r:embed="rId2"/>
          <a:stretch>
            <a:fillRect/>
          </a:stretch>
        </p:blipFill>
        <p:spPr>
          <a:xfrm>
            <a:off x="5976017" y="1660202"/>
            <a:ext cx="5888338" cy="2473205"/>
          </a:xfrm>
          <a:prstGeom prst="rect">
            <a:avLst/>
          </a:prstGeom>
        </p:spPr>
      </p:pic>
      <p:graphicFrame>
        <p:nvGraphicFramePr>
          <p:cNvPr id="9" name="Table 8">
            <a:extLst>
              <a:ext uri="{FF2B5EF4-FFF2-40B4-BE49-F238E27FC236}">
                <a16:creationId xmlns:a16="http://schemas.microsoft.com/office/drawing/2014/main" id="{AC539327-68EC-BE64-46D2-74F957FFB0AC}"/>
              </a:ext>
            </a:extLst>
          </p:cNvPr>
          <p:cNvGraphicFramePr>
            <a:graphicFrameLocks noGrp="1"/>
          </p:cNvGraphicFramePr>
          <p:nvPr>
            <p:extLst>
              <p:ext uri="{D42A27DB-BD31-4B8C-83A1-F6EECF244321}">
                <p14:modId xmlns:p14="http://schemas.microsoft.com/office/powerpoint/2010/main" val="1355601465"/>
              </p:ext>
            </p:extLst>
          </p:nvPr>
        </p:nvGraphicFramePr>
        <p:xfrm>
          <a:off x="144379" y="4319016"/>
          <a:ext cx="11833058" cy="2225040"/>
        </p:xfrm>
        <a:graphic>
          <a:graphicData uri="http://schemas.openxmlformats.org/drawingml/2006/table">
            <a:tbl>
              <a:tblPr firstRow="1" bandRow="1">
                <a:tableStyleId>{5940675A-B579-460E-94D1-54222C63F5DA}</a:tableStyleId>
              </a:tblPr>
              <a:tblGrid>
                <a:gridCol w="1534026">
                  <a:extLst>
                    <a:ext uri="{9D8B030D-6E8A-4147-A177-3AD203B41FA5}">
                      <a16:colId xmlns:a16="http://schemas.microsoft.com/office/drawing/2014/main" val="110780927"/>
                    </a:ext>
                  </a:extLst>
                </a:gridCol>
                <a:gridCol w="2424363">
                  <a:extLst>
                    <a:ext uri="{9D8B030D-6E8A-4147-A177-3AD203B41FA5}">
                      <a16:colId xmlns:a16="http://schemas.microsoft.com/office/drawing/2014/main" val="2373065068"/>
                    </a:ext>
                  </a:extLst>
                </a:gridCol>
                <a:gridCol w="7874669">
                  <a:extLst>
                    <a:ext uri="{9D8B030D-6E8A-4147-A177-3AD203B41FA5}">
                      <a16:colId xmlns:a16="http://schemas.microsoft.com/office/drawing/2014/main" val="1041026438"/>
                    </a:ext>
                  </a:extLst>
                </a:gridCol>
              </a:tblGrid>
              <a:tr h="370840">
                <a:tc>
                  <a:txBody>
                    <a:bodyPr/>
                    <a:lstStyle/>
                    <a:p>
                      <a:r>
                        <a:rPr lang="en-US" b="1" dirty="0"/>
                        <a:t>Table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Verdict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Why</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3705390"/>
                  </a:ext>
                </a:extLst>
              </a:tr>
              <a:tr h="370840">
                <a:tc>
                  <a:txBody>
                    <a:bodyPr/>
                    <a:lstStyle/>
                    <a:p>
                      <a:r>
                        <a:rPr lang="en-US" sz="1400" dirty="0"/>
                        <a:t>accounts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Signup date is consistent, and the rest is attributes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762405"/>
                  </a:ext>
                </a:extLst>
              </a:tr>
              <a:tr h="370840">
                <a:tc>
                  <a:txBody>
                    <a:bodyPr/>
                    <a:lstStyle/>
                    <a:p>
                      <a:r>
                        <a:rPr lang="en-US" sz="1400" dirty="0"/>
                        <a:t>subscriptions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Price follows plan * seats, ARR = 12 * MRR, no subscription predates its customer</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4247228"/>
                  </a:ext>
                </a:extLst>
              </a:tr>
              <a:tr h="370840">
                <a:tc>
                  <a:txBody>
                    <a:bodyPr/>
                    <a:lstStyle/>
                    <a:p>
                      <a:r>
                        <a:rPr lang="en-US" sz="1400" dirty="0" err="1"/>
                        <a:t>feature_usage</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16 features — dates unrelated to the customer, r = 0.002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3096637"/>
                  </a:ext>
                </a:extLst>
              </a:tr>
              <a:tr h="370840">
                <a:tc>
                  <a:txBody>
                    <a:bodyPr/>
                    <a:lstStyle/>
                    <a:p>
                      <a:r>
                        <a:rPr lang="en-US" sz="1400" dirty="0" err="1"/>
                        <a:t>support_tickets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15 features — same, r = 0.016; satisfaction documented 1–5, only ever 3, 4, 5</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1415731"/>
                  </a:ext>
                </a:extLst>
              </a:tr>
              <a:tr h="370840">
                <a:tc>
                  <a:txBody>
                    <a:bodyPr/>
                    <a:lstStyle/>
                    <a:p>
                      <a:r>
                        <a:rPr lang="en-US" sz="1400" dirty="0" err="1"/>
                        <a:t>churn_events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Label only, never a feature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The only churn record with a date, but it disagrees with the other two</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464719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02800D6-974F-2F17-A52E-0A306D35DF0C}"/>
              </a:ext>
            </a:extLst>
          </p:cNvPr>
          <p:cNvSpPr txBox="1"/>
          <p:nvPr/>
        </p:nvSpPr>
        <p:spPr>
          <a:xfrm>
            <a:off x="747998" y="1869170"/>
            <a:ext cx="11202905" cy="2759730"/>
          </a:xfrm>
          <a:prstGeom prst="rect">
            <a:avLst/>
          </a:prstGeom>
          <a:noFill/>
        </p:spPr>
        <p:txBody>
          <a:bodyPr wrap="square">
            <a:spAutoFit/>
          </a:bodyPr>
          <a:lstStyle/>
          <a:p>
            <a:pPr>
              <a:spcAft>
                <a:spcPts val="500"/>
              </a:spcAft>
            </a:pPr>
            <a:r>
              <a:rPr lang="en-US" sz="600" b="0" i="0" dirty="0">
                <a:solidFill>
                  <a:srgbClr val="1A1A1A"/>
                </a:solidFill>
                <a:latin typeface="Calibri"/>
              </a:rPr>
              <a:t> </a:t>
            </a:r>
          </a:p>
          <a:p>
            <a:pPr>
              <a:spcAft>
                <a:spcPts val="500"/>
              </a:spcAft>
            </a:pPr>
            <a:r>
              <a:rPr lang="en-US" sz="1400" b="1" i="0" dirty="0">
                <a:solidFill>
                  <a:srgbClr val="1A1A1A"/>
                </a:solidFill>
                <a:latin typeface="Calibri"/>
              </a:rPr>
              <a:t>Assumptions I am making</a:t>
            </a:r>
          </a:p>
          <a:p>
            <a:pPr marL="685800" lvl="1" indent="-228600">
              <a:spcAft>
                <a:spcPts val="500"/>
              </a:spcAft>
              <a:buFont typeface="+mj-lt"/>
              <a:buAutoNum type="arabicPeriod"/>
            </a:pPr>
            <a:r>
              <a:rPr lang="en-US" sz="1200" dirty="0">
                <a:solidFill>
                  <a:srgbClr val="5A6270"/>
                </a:solidFill>
              </a:rPr>
              <a:t>Churn means a row in </a:t>
            </a:r>
            <a:r>
              <a:rPr lang="en-US" sz="1200" b="1" dirty="0" err="1">
                <a:solidFill>
                  <a:schemeClr val="tx2"/>
                </a:solidFill>
              </a:rPr>
              <a:t>churn_events</a:t>
            </a:r>
            <a:r>
              <a:rPr lang="en-US" sz="1200" dirty="0">
                <a:solidFill>
                  <a:srgbClr val="5A6270"/>
                </a:solidFill>
              </a:rPr>
              <a:t>. Three records claim to say who left and they disagree. I picked the one with a usable date. If that is the wrong one, everything downstream is wrong.</a:t>
            </a:r>
          </a:p>
          <a:p>
            <a:pPr marL="685800" lvl="1" indent="-228600">
              <a:spcAft>
                <a:spcPts val="500"/>
              </a:spcAft>
              <a:buFont typeface="+mj-lt"/>
              <a:buAutoNum type="arabicPeriod"/>
            </a:pPr>
            <a:r>
              <a:rPr lang="en-US" sz="1200" dirty="0">
                <a:solidFill>
                  <a:srgbClr val="5A6270"/>
                </a:solidFill>
              </a:rPr>
              <a:t>A customer is at risk if they hold an open subscription on the date we ask. Customers whose subscriptions had all ended are excluded they cannot leave again.</a:t>
            </a:r>
          </a:p>
          <a:p>
            <a:pPr marL="685800" lvl="1" indent="-228600">
              <a:spcAft>
                <a:spcPts val="500"/>
              </a:spcAft>
              <a:buFont typeface="+mj-lt"/>
              <a:buAutoNum type="arabicPeriod"/>
            </a:pPr>
            <a:r>
              <a:rPr lang="en-US" sz="1200" dirty="0">
                <a:solidFill>
                  <a:srgbClr val="5A6270"/>
                </a:solidFill>
              </a:rPr>
              <a:t>A 90-day window and quarter-end dates. I chose both before running anything, then swept horizons from 30 to 180 days to see if the choice mattered. It moved the score by 0.026, basically noise.</a:t>
            </a:r>
          </a:p>
          <a:p>
            <a:pPr marL="685800" lvl="1" indent="-228600">
              <a:spcAft>
                <a:spcPts val="500"/>
              </a:spcAft>
              <a:buFont typeface="+mj-lt"/>
              <a:buAutoNum type="arabicPeriod"/>
            </a:pPr>
            <a:r>
              <a:rPr lang="en-US" sz="1200" dirty="0">
                <a:solidFill>
                  <a:srgbClr val="5A6270"/>
                </a:solidFill>
              </a:rPr>
              <a:t>We focus in this analysis on the first churn event. Some customers have reactivations. We take the earliest churn date and dispense with what happens after for simplicity.</a:t>
            </a:r>
          </a:p>
          <a:p>
            <a:pPr marL="685800" lvl="1" indent="-228600">
              <a:spcAft>
                <a:spcPts val="500"/>
              </a:spcAft>
              <a:buFont typeface="+mj-lt"/>
              <a:buAutoNum type="arabicPeriod"/>
            </a:pPr>
            <a:endParaRPr lang="en-US" sz="1200" dirty="0">
              <a:solidFill>
                <a:srgbClr val="5A6270"/>
              </a:solidFill>
            </a:endParaRPr>
          </a:p>
          <a:p>
            <a:pPr marL="685800" lvl="1" indent="-228600">
              <a:spcAft>
                <a:spcPts val="500"/>
              </a:spcAft>
              <a:buFont typeface="+mj-lt"/>
              <a:buAutoNum type="arabicPeriod"/>
            </a:pPr>
            <a:endParaRPr lang="en-US" sz="1200" b="0" i="0" dirty="0">
              <a:solidFill>
                <a:srgbClr val="5A6270"/>
              </a:solidFill>
              <a:latin typeface="Calibri"/>
            </a:endParaRPr>
          </a:p>
          <a:p>
            <a:pPr marL="685800" lvl="1" indent="-228600">
              <a:spcAft>
                <a:spcPts val="500"/>
              </a:spcAft>
              <a:buFont typeface="+mj-lt"/>
              <a:buAutoNum type="arabicPeriod"/>
            </a:pPr>
            <a:endParaRPr lang="en-US" sz="1200" b="0" i="0" dirty="0">
              <a:solidFill>
                <a:srgbClr val="5A6270"/>
              </a:solidFill>
              <a:latin typeface="Calibri"/>
            </a:endParaRPr>
          </a:p>
        </p:txBody>
      </p:sp>
      <p:sp>
        <p:nvSpPr>
          <p:cNvPr id="5" name="TextBox 4">
            <a:extLst>
              <a:ext uri="{FF2B5EF4-FFF2-40B4-BE49-F238E27FC236}">
                <a16:creationId xmlns:a16="http://schemas.microsoft.com/office/drawing/2014/main" id="{CA970AC4-91F5-08BB-443D-4F894B789C96}"/>
              </a:ext>
            </a:extLst>
          </p:cNvPr>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7" name="Rectangle 6">
            <a:extLst>
              <a:ext uri="{FF2B5EF4-FFF2-40B4-BE49-F238E27FC236}">
                <a16:creationId xmlns:a16="http://schemas.microsoft.com/office/drawing/2014/main" id="{9F1B9989-6A7C-C50E-2B6A-E012B6E3A475}"/>
              </a:ext>
            </a:extLst>
          </p:cNvPr>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27656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churn_by_segment.png"/>
          <p:cNvPicPr>
            <a:picLocks noChangeAspect="1"/>
          </p:cNvPicPr>
          <p:nvPr/>
        </p:nvPicPr>
        <p:blipFill>
          <a:blip r:embed="rId2"/>
          <a:stretch>
            <a:fillRect/>
          </a:stretch>
        </p:blipFill>
        <p:spPr>
          <a:xfrm>
            <a:off x="564594" y="1817753"/>
            <a:ext cx="9744799" cy="2356224"/>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tretch>
            <a:fillRect/>
          </a:stretch>
        </p:blipFill>
        <p:spPr>
          <a:xfrm>
            <a:off x="1270216" y="1536192"/>
            <a:ext cx="9651263" cy="2788920"/>
          </a:xfrm>
          <a:prstGeom prst="rect">
            <a:avLst/>
          </a:prstGeom>
        </p:spPr>
      </p:pic>
      <p:sp>
        <p:nvSpPr>
          <p:cNvPr id="5" name="TextBox 4"/>
          <p:cNvSpPr txBox="1"/>
          <p:nvPr/>
        </p:nvSpPr>
        <p:spPr>
          <a:xfrm>
            <a:off x="685800" y="4480560"/>
            <a:ext cx="10820095" cy="4572000"/>
          </a:xfrm>
          <a:prstGeom prst="rect">
            <a:avLst/>
          </a:prstGeom>
          <a:noFill/>
        </p:spPr>
        <p:txBody>
          <a:bodyPr wrap="square">
            <a:spAutoFit/>
          </a:bodyPr>
          <a:lstStyle/>
          <a:p>
            <a:pPr>
              <a:spcAft>
                <a:spcPts val="300"/>
              </a:spcAft>
            </a:pPr>
            <a:r>
              <a:rPr sz="1150" b="1" i="0">
                <a:solidFill>
                  <a:srgbClr val="1A1A1A"/>
                </a:solidFill>
                <a:latin typeface="Calibri"/>
              </a:rPr>
              <a:t>What each family measures.</a:t>
            </a:r>
          </a:p>
          <a:p>
            <a:pPr lvl="1">
              <a:spcAft>
                <a:spcPts val="300"/>
              </a:spcAft>
            </a:pPr>
            <a:r>
              <a:rPr sz="950" b="0" i="0">
                <a:solidFill>
                  <a:srgbClr val="5A6270"/>
                </a:solidFill>
                <a:latin typeface="Calibri"/>
              </a:rPr>
              <a:t>Subscription: what they pay, how steady it is, upgrades, downgrades, how long they have been a customer.  Usage: activity over 30 to 180 days, and whether it is speeding up or slowing down.  Support: ticket load, how fast we answered, how long fixes took, satisfaction, escalations.  Account and ratios: industry, country, how they found us, plan, and per-seat versions of usage and tickets so a 10 seat and a 500 seat customer sit on the same scale.</a:t>
            </a:r>
          </a:p>
          <a:p>
            <a:pPr>
              <a:spcAft>
                <a:spcPts val="300"/>
              </a:spcAft>
            </a:pPr>
            <a:r>
              <a:rPr sz="600" b="0" i="0">
                <a:solidFill>
                  <a:srgbClr val="1A1A1A"/>
                </a:solidFill>
                <a:latin typeface="Calibri"/>
              </a:rPr>
              <a:t> </a:t>
            </a:r>
          </a:p>
          <a:p>
            <a:pPr>
              <a:spcAft>
                <a:spcPts val="300"/>
              </a:spcAft>
            </a:pPr>
            <a:r>
              <a:rPr sz="1150" b="1" i="0">
                <a:solidFill>
                  <a:srgbClr val="2E5F8A"/>
                </a:solidFill>
                <a:latin typeface="Calibri"/>
              </a:rPr>
              <a:t>The same code builds these in training and in production.</a:t>
            </a:r>
          </a:p>
          <a:p>
            <a:pPr lvl="1">
              <a:spcAft>
                <a:spcPts val="300"/>
              </a:spcAft>
            </a:pPr>
            <a:r>
              <a:rPr sz="950" b="0" i="0">
                <a:solidFill>
                  <a:srgbClr val="5A6270"/>
                </a:solidFill>
                <a:latin typeface="Calibri"/>
              </a:rPr>
              <a:t>Training passes 30 June 2024, production passes today, so the two cannot drift apart. The blanking on the right is the part that reading the code misses: an automatic check found those 5 tickets, I did not.</a:t>
            </a:r>
          </a:p>
          <a:p>
            <a:pPr>
              <a:spcAft>
                <a:spcPts val="300"/>
              </a:spcAft>
            </a:pPr>
            <a:r>
              <a:rPr sz="600" b="0" i="0">
                <a:solidFill>
                  <a:srgbClr val="1A1A1A"/>
                </a:solidFill>
                <a:latin typeface="Calibri"/>
              </a:rPr>
              <a:t> </a:t>
            </a:r>
          </a:p>
          <a:p>
            <a:pPr>
              <a:spcAft>
                <a:spcPts val="300"/>
              </a:spcAft>
            </a:pPr>
            <a:r>
              <a:rPr sz="115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 None of them could have helped, for the reason slide 8 gives.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selection_null.png"/>
          <p:cNvPicPr>
            <a:picLocks noChangeAspect="1"/>
          </p:cNvPicPr>
          <p:nvPr/>
        </p:nvPicPr>
        <p:blipFill>
          <a:blip r:embed="rId2"/>
          <a:stretch>
            <a:fillRect/>
          </a:stretch>
        </p:blipFill>
        <p:spPr>
          <a:xfrm>
            <a:off x="6812280" y="1783080"/>
            <a:ext cx="4212139" cy="2331720"/>
          </a:xfrm>
          <a:prstGeom prst="rect">
            <a:avLst/>
          </a:prstGeom>
        </p:spPr>
      </p:pic>
      <p:sp>
        <p:nvSpPr>
          <p:cNvPr id="5" name="TextBox 4"/>
          <p:cNvSpPr txBox="1"/>
          <p:nvPr/>
        </p:nvSpPr>
        <p:spPr>
          <a:xfrm>
            <a:off x="685800" y="1783080"/>
            <a:ext cx="5760720" cy="4572000"/>
          </a:xfrm>
          <a:prstGeom prst="rect">
            <a:avLst/>
          </a:prstGeom>
          <a:noFill/>
        </p:spPr>
        <p:txBody>
          <a:bodyPr wrap="square">
            <a:spAutoFit/>
          </a:bodyPr>
          <a:lstStyle/>
          <a:p>
            <a:pPr>
              <a:spcAft>
                <a:spcPts val="500"/>
              </a:spcAft>
            </a:pPr>
            <a:r>
              <a:rPr sz="1300" b="0" i="0">
                <a:solidFill>
                  <a:srgbClr val="5A6270"/>
                </a:solidFill>
                <a:latin typeface="Calibri"/>
              </a:rPr>
              <a:t>Best single model, taken at face value:  AUC 0.583</a:t>
            </a:r>
          </a:p>
          <a:p>
            <a:pPr>
              <a:spcAft>
                <a:spcPts val="500"/>
              </a:spcAft>
            </a:pPr>
            <a:r>
              <a:rPr sz="1300" b="1" i="0">
                <a:solidFill>
                  <a:srgbClr val="1A1A1A"/>
                </a:solidFill>
                <a:latin typeface="Calibri"/>
              </a:rPr>
              <a:t>The honest score:  AUC 0.534, give or take 0.016</a:t>
            </a:r>
          </a:p>
          <a:p>
            <a:pPr>
              <a:spcAft>
                <a:spcPts val="500"/>
              </a:spcAft>
            </a:pPr>
            <a:r>
              <a:rPr sz="1300" b="0" i="0">
                <a:solidFill>
                  <a:srgbClr val="5A6270"/>
                </a:solidFill>
                <a:latin typeface="Calibri"/>
              </a:rPr>
              <a:t>Guessing:  AUC 0.500</a:t>
            </a:r>
          </a:p>
          <a:p>
            <a:pPr>
              <a:spcAft>
                <a:spcPts val="500"/>
              </a:spcAft>
            </a:pPr>
            <a:r>
              <a:rPr sz="600" b="0" i="0">
                <a:solidFill>
                  <a:srgbClr val="1A1A1A"/>
                </a:solidFill>
                <a:latin typeface="Calibri"/>
              </a:rPr>
              <a:t> </a:t>
            </a:r>
          </a:p>
          <a:p>
            <a:pPr>
              <a:spcAft>
                <a:spcPts val="500"/>
              </a:spcAft>
            </a:pPr>
            <a:r>
              <a:rPr sz="1300" b="1" i="0">
                <a:solidFill>
                  <a:srgbClr val="B02E2E"/>
                </a:solidFill>
                <a:latin typeface="Calibri"/>
              </a:rPr>
              <a:t>Picking the best of ten models is itself a form of fitting.</a:t>
            </a:r>
          </a:p>
          <a:p>
            <a:pPr lvl="1">
              <a:spcAft>
                <a:spcPts val="500"/>
              </a:spcAft>
            </a:pPr>
            <a:r>
              <a:rPr sz="1100" b="0" i="0">
                <a:solidFill>
                  <a:srgbClr val="5A6270"/>
                </a:solidFill>
                <a:latin typeface="Calibri"/>
              </a:rPr>
              <a:t>Measure that properly and 0.049 of AUC disappears — most of what looked like signal. The chart is why: run the same ten-model search against shuffled labels and the whole distribution slides right, past our result.</a:t>
            </a:r>
          </a:p>
          <a:p>
            <a:pPr lvl="1">
              <a:spcAft>
                <a:spcPts val="500"/>
              </a:spcAft>
            </a:pPr>
            <a:r>
              <a:rPr sz="1100" b="0" i="0">
                <a:solidFill>
                  <a:srgbClr val="5A6270"/>
                </a:solidFill>
                <a:latin typeface="Calibri"/>
              </a:rPr>
              <a:t>Across 25 rounds, eight of the ten models won at least once. A genuinely better model wins nearly every time.</a:t>
            </a:r>
          </a:p>
        </p:txBody>
      </p:sp>
      <p:sp>
        <p:nvSpPr>
          <p:cNvPr id="6" name="TextBox 5"/>
          <p:cNvSpPr txBox="1"/>
          <p:nvPr/>
        </p:nvSpPr>
        <p:spPr>
          <a:xfrm>
            <a:off x="685800" y="4315968"/>
            <a:ext cx="10820095" cy="4572000"/>
          </a:xfrm>
          <a:prstGeom prst="rect">
            <a:avLst/>
          </a:prstGeom>
          <a:noFill/>
        </p:spPr>
        <p:txBody>
          <a:bodyPr wrap="square">
            <a:spAutoFit/>
          </a:bodyPr>
          <a:lstStyle/>
          <a:p>
            <a:pPr>
              <a:spcAft>
                <a:spcPts val="500"/>
              </a:spcAft>
            </a:pPr>
            <a:r>
              <a:rPr sz="1300" b="1" i="0">
                <a:solidFill>
                  <a:srgbClr val="1A1A1A"/>
                </a:solidFill>
                <a:latin typeface="Calibri"/>
              </a:rPr>
              <a:t>Why the score is low. Each cause is measured, not guessed at.</a:t>
            </a:r>
          </a:p>
          <a:p>
            <a:pPr lvl="1">
              <a:spcAft>
                <a:spcPts val="500"/>
              </a:spcAft>
            </a:pPr>
            <a:r>
              <a:rPr sz="1100" b="0" i="0">
                <a:solidFill>
                  <a:srgbClr val="5A6270"/>
                </a:solidFill>
                <a:latin typeface="Calibri"/>
              </a:rPr>
              <a:t>The inputs hold nothing. Usage and ticket dates are scattered at random across the two years and match their own customer's signup date at r = 0.002 and r = 0.014. Inside those tables, priority does not predict how fast we answered and plan does not predict how much people used.</a:t>
            </a:r>
          </a:p>
          <a:p>
            <a:pPr lvl="1">
              <a:spcAft>
                <a:spcPts val="500"/>
              </a:spcAft>
            </a:pPr>
            <a:r>
              <a:rPr sz="1100" b="0" i="0">
                <a:solidFill>
                  <a:srgbClr val="5A6270"/>
                </a:solidFill>
                <a:latin typeface="Calibri"/>
              </a:rPr>
              <a:t>The target is a random date — a coin toss between the day the customer joined and the last day of the file. Slide 11 is that test. Subscriptions is the one table with real rules, and none of it relates to churn.</a:t>
            </a:r>
          </a:p>
          <a:p>
            <a:pPr lvl="1">
              <a:spcAft>
                <a:spcPts val="500"/>
              </a:spcAft>
            </a:pPr>
            <a:r>
              <a:rPr sz="1100" b="0" i="0">
                <a:solidFill>
                  <a:srgbClr val="5A6270"/>
                </a:solidFill>
                <a:latin typeface="Calibri"/>
              </a:rPr>
              <a:t>Sample size is real but secondary: 54 churners against 73 features. It is not leakage, not the feature build, and not tuning. I checked all three.</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works. AUC 0.534 is the right answer to the question this data can be asked.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Class imbalance, and what leakage is worth</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leakage_effect.png"/>
          <p:cNvPicPr>
            <a:picLocks noChangeAspect="1"/>
          </p:cNvPicPr>
          <p:nvPr/>
        </p:nvPicPr>
        <p:blipFill>
          <a:blip r:embed="rId2"/>
          <a:stretch>
            <a:fillRect/>
          </a:stretch>
        </p:blipFill>
        <p:spPr>
          <a:xfrm>
            <a:off x="6446520" y="1737360"/>
            <a:ext cx="5533595" cy="3063240"/>
          </a:xfrm>
          <a:prstGeom prst="rect">
            <a:avLst/>
          </a:prstGeom>
        </p:spPr>
      </p:pic>
      <p:sp>
        <p:nvSpPr>
          <p:cNvPr id="5" name="TextBox 4"/>
          <p:cNvSpPr txBox="1"/>
          <p:nvPr/>
        </p:nvSpPr>
        <p:spPr>
          <a:xfrm>
            <a:off x="685800" y="1737360"/>
            <a:ext cx="5486400" cy="4572000"/>
          </a:xfrm>
          <a:prstGeom prst="rect">
            <a:avLst/>
          </a:prstGeom>
          <a:noFill/>
        </p:spPr>
        <p:txBody>
          <a:bodyPr wrap="square">
            <a:spAutoFit/>
          </a:bodyPr>
          <a:lstStyle/>
          <a:p>
            <a:pPr>
              <a:spcAft>
                <a:spcPts val="600"/>
              </a:spcAft>
            </a:pPr>
            <a:r>
              <a:rPr sz="1350" b="1" i="0">
                <a:solidFill>
                  <a:srgbClr val="1A1A1A"/>
                </a:solidFill>
                <a:latin typeface="Calibri"/>
              </a:rPr>
              <a:t>Class imbalance</a:t>
            </a:r>
          </a:p>
          <a:p>
            <a:pPr lvl="1">
              <a:spcAft>
                <a:spcPts val="600"/>
              </a:spcAft>
            </a:pPr>
            <a:r>
              <a:rPr sz="1150" b="0" i="0">
                <a:solidFill>
                  <a:srgbClr val="5A6270"/>
                </a:solidFill>
                <a:latin typeface="Calibri"/>
              </a:rPr>
              <a:t>31% of customers left, so the classes are uneven but not badly so. I weight the rare class rather than inventing synthetic customers: with 54 real examples, synthetic ones are copies of copies and they flatter the score.</a:t>
            </a:r>
          </a:p>
          <a:p>
            <a:pPr lvl="1">
              <a:spcAft>
                <a:spcPts val="600"/>
              </a:spcAft>
            </a:pPr>
            <a:r>
              <a:rPr sz="115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600"/>
              </a:spcAft>
            </a:pPr>
            <a:r>
              <a:rPr sz="1150" b="0" i="0">
                <a:solidFill>
                  <a:srgbClr val="5A6270"/>
                </a:solidFill>
                <a:latin typeface="Calibri"/>
              </a:rPr>
              <a:t>I report ROC-AUC because its baseline stays 0.50 at any class balance, which keeps the twelve horizon cells comparable when their churn rates run 11% to 45%. Precision-recall and F1 agree.</a:t>
            </a:r>
          </a:p>
          <a:p>
            <a:pPr>
              <a:spcAft>
                <a:spcPts val="600"/>
              </a:spcAft>
            </a:pPr>
            <a:r>
              <a:rPr sz="600" b="0" i="0">
                <a:solidFill>
                  <a:srgbClr val="1A1A1A"/>
                </a:solidFill>
                <a:latin typeface="Calibri"/>
              </a:rPr>
              <a:t> </a:t>
            </a:r>
          </a:p>
          <a:p>
            <a:pPr>
              <a:spcAft>
                <a:spcPts val="600"/>
              </a:spcAft>
            </a:pPr>
            <a:r>
              <a:rPr sz="1350" b="1" i="0">
                <a:solidFill>
                  <a:srgbClr val="B02E2E"/>
                </a:solidFill>
                <a:latin typeface="Calibri"/>
              </a:rPr>
              <a:t>I do not rely on reading the code to catch leakage.</a:t>
            </a:r>
          </a:p>
          <a:p>
            <a:pPr lvl="1">
              <a:spcAft>
                <a:spcPts val="600"/>
              </a:spcAft>
            </a:pPr>
            <a:r>
              <a:rPr sz="1150" b="0" i="0">
                <a:solidFill>
                  <a:srgbClr val="5A6270"/>
                </a:solidFill>
                <a:latin typeface="Calibri"/>
              </a:rPr>
              <a:t>Automatic checks run before any result is reported and block it if anything fails. They look for dates after the cutoff, banned columns by name, and any single feature that predicts too well.</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chart is why those checks earn their place. Columns that only exist after a customer leaves are worth 0.37 of extra AUC — they push the model to 0.79, which looks like a good model rather than a broken one. A pipeline that lets the future in scores 0.42, below guessing. Both failures are invisible in the score alone.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2E5F8A"/>
                </a:solidFill>
                <a:latin typeface="Calibri"/>
              </a:rPr>
              <a:t>Interpretability, and how it can mislead you</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shap_real_vs_shuffled.png"/>
          <p:cNvPicPr>
            <a:picLocks noChangeAspect="1"/>
          </p:cNvPicPr>
          <p:nvPr/>
        </p:nvPicPr>
        <p:blipFill>
          <a:blip r:embed="rId2"/>
          <a:stretch>
            <a:fillRect/>
          </a:stretch>
        </p:blipFill>
        <p:spPr>
          <a:xfrm>
            <a:off x="2260186" y="1572768"/>
            <a:ext cx="7671323" cy="2514600"/>
          </a:xfrm>
          <a:prstGeom prst="rect">
            <a:avLst/>
          </a:prstGeom>
        </p:spPr>
      </p:pic>
      <p:sp>
        <p:nvSpPr>
          <p:cNvPr id="5" name="TextBox 4"/>
          <p:cNvSpPr txBox="1"/>
          <p:nvPr/>
        </p:nvSpPr>
        <p:spPr>
          <a:xfrm>
            <a:off x="685800" y="4315968"/>
            <a:ext cx="10820095" cy="4572000"/>
          </a:xfrm>
          <a:prstGeom prst="rect">
            <a:avLst/>
          </a:prstGeom>
          <a:noFill/>
        </p:spPr>
        <p:txBody>
          <a:bodyPr wrap="square">
            <a:spAutoFit/>
          </a:bodyPr>
          <a:lstStyle/>
          <a:p>
            <a:pPr>
              <a:spcAft>
                <a:spcPts val="400"/>
              </a:spcAft>
            </a:pPr>
            <a:r>
              <a:rPr sz="1250" b="1" i="0">
                <a:solidFill>
                  <a:srgbClr val="B02E2E"/>
                </a:solidFill>
                <a:latin typeface="Calibri"/>
              </a:rPr>
              <a:t>These are the same chart. The right-hand one is built from labels I shuffled at random — and it is more confident about its winner than the real one is.</a:t>
            </a:r>
          </a:p>
          <a:p>
            <a:pPr>
              <a:spcAft>
                <a:spcPts val="400"/>
              </a:spcAft>
            </a:pPr>
            <a:r>
              <a:rPr sz="1250" b="1" i="0">
                <a:solidFill>
                  <a:srgbClr val="1A1A1A"/>
                </a:solidFill>
                <a:latin typeface="Calibri"/>
              </a:rPr>
              <a:t>SHAP will always return a clean, ordered, plausible ranking. It has no way to tell you it has nothing to say, which is why every attribution method here is paired with a random baseline before it is believed.</a:t>
            </a:r>
          </a:p>
          <a:p>
            <a:pPr>
              <a:spcAft>
                <a:spcPts val="400"/>
              </a:spcAft>
            </a:pPr>
            <a:r>
              <a:rPr sz="1250" b="0" i="0">
                <a:solidFill>
                  <a:srgbClr val="1A1A1A"/>
                </a:solidFill>
                <a:latin typeface="Calibri"/>
              </a:rPr>
              <a:t>The numbers underneath: the top feature beats random labels only 3 times in 4 (p = 0.24). Twelve different features take first place across 25 reruns. Permutation importance on held-out data is beaten by noise outright.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Read without the right-hand panel, the left one says support load per seat drives churn, then contract size, then tenure. All three are plausible. That is exactly what makes it dangerous.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B02E2E"/>
                </a:solidFill>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6_generator_artefact.png"/>
          <p:cNvPicPr>
            <a:picLocks noChangeAspect="1"/>
          </p:cNvPicPr>
          <p:nvPr/>
        </p:nvPicPr>
        <p:blipFill>
          <a:blip r:embed="rId3"/>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test that mattered was not "is this bigger than noise" — it was, comfortably. It was "would the file produce this on its own". On generated data that is the only null worth testing, and it is the one I had not run.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11, applied to a spending decision instead of an investigation.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my own worst mistake on this project, because that is where the judgement that transfers to other work lives.</a:t>
            </a:r>
          </a:p>
          <a:p>
            <a:pPr>
              <a:spcAft>
                <a:spcPts val="400"/>
              </a:spcAft>
            </a:pPr>
            <a:r>
              <a:rPr sz="600" b="0" i="0">
                <a:solidFill>
                  <a:srgbClr val="1A1A1A"/>
                </a:solidFill>
                <a:latin typeface="Calibri"/>
              </a:rPr>
              <a:t> </a:t>
            </a:r>
          </a:p>
          <a:p>
            <a:pPr>
              <a:spcAft>
                <a:spcPts val="400"/>
              </a:spcAft>
            </a:pPr>
            <a:r>
              <a:rPr sz="1300" b="1" i="0">
                <a:solidFill>
                  <a:srgbClr val="B02E2E"/>
                </a:solidFill>
                <a:latin typeface="Calibri"/>
              </a:rPr>
              <a:t>1. Be hardest on the finding you like.</a:t>
            </a:r>
          </a:p>
          <a:p>
            <a:pPr lvl="1">
              <a:spcAft>
                <a:spcPts val="400"/>
              </a:spcAft>
            </a:pPr>
            <a:r>
              <a:rPr sz="1100" b="0" i="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a:solidFill>
                  <a:srgbClr val="B02E2E"/>
                </a:solidFill>
                <a:latin typeface="Calibri"/>
              </a:rPr>
              <a:t>2. A small p-value is not evidence. It is evidence against one null.</a:t>
            </a:r>
          </a:p>
          <a:p>
            <a:pPr lvl="1">
              <a:spcAft>
                <a:spcPts val="400"/>
              </a:spcAft>
            </a:pPr>
            <a:r>
              <a:rPr sz="1100" b="0" i="0">
                <a:solidFill>
                  <a:srgbClr val="5A6270"/>
                </a:solidFill>
                <a:latin typeface="Calibri"/>
              </a:rPr>
              <a:t>p = 2e-16 felt unarguable. Random dates gave p = 3e-16. If the null is the wrong one, no amount of significance rescues it.</a:t>
            </a:r>
          </a:p>
          <a:p>
            <a:pPr>
              <a:spcAft>
                <a:spcPts val="400"/>
              </a:spcAft>
            </a:pPr>
            <a:r>
              <a:rPr sz="1300" b="1" i="0">
                <a:solidFill>
                  <a:srgbClr val="1A1A1A"/>
                </a:solidFill>
                <a:latin typeface="Calibri"/>
              </a:rPr>
              <a:t>3. Start with the target, not the model.</a:t>
            </a:r>
          </a:p>
          <a:p>
            <a:pPr lvl="1">
              <a:spcAft>
                <a:spcPts val="400"/>
              </a:spcAft>
            </a:pPr>
            <a:r>
              <a:rPr sz="1100" b="0" i="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4. Ask of every column: would I really have this on the day I predict?</a:t>
            </a:r>
          </a:p>
          <a:p>
            <a:pPr lvl="1">
              <a:spcAft>
                <a:spcPts val="400"/>
              </a:spcAft>
            </a:pPr>
            <a:r>
              <a:rPr sz="1100" b="0" i="0">
                <a:solidFill>
                  <a:srgbClr val="5A6270"/>
                </a:solidFill>
                <a:latin typeface="Calibri"/>
              </a:rPr>
              <a:t>Then write the check down so a machine runs it. Reading caught the obvious problem; the automatic check caught the one I missed.</a:t>
            </a:r>
          </a:p>
          <a:p>
            <a:pPr>
              <a:spcAft>
                <a:spcPts val="400"/>
              </a:spcAft>
            </a:pPr>
            <a:r>
              <a:rPr sz="1300" b="1" i="0">
                <a:solidFill>
                  <a:srgbClr val="1A1A1A"/>
                </a:solidFill>
                <a:latin typeface="Calibri"/>
              </a:rPr>
              <a:t>5. Find the floor, and report the range.</a:t>
            </a:r>
          </a:p>
          <a:p>
            <a:pPr lvl="1">
              <a:spcAft>
                <a:spcPts val="400"/>
              </a:spcAft>
            </a:pPr>
            <a:r>
              <a:rPr sz="1100" b="0" i="0">
                <a:solidFill>
                  <a:srgbClr val="5A6270"/>
                </a:solidFill>
                <a:latin typeface="Calibri"/>
              </a:rPr>
              <a:t>Always run the model with no features first. A range that includes guessing says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246</TotalTime>
  <Words>4179</Words>
  <Application>Microsoft Office PowerPoint</Application>
  <PresentationFormat>Widescreen</PresentationFormat>
  <Paragraphs>214</Paragraphs>
  <Slides>17</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2026-07-29T04:10:33Z</dcterms:modified>
  <cp:category/>
</cp:coreProperties>
</file>