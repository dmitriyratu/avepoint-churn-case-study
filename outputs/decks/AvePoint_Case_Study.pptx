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59" d="100"/>
          <a:sy n="59" d="100"/>
        </p:scale>
        <p:origin x="940" y="2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mitriy Ratushny" userId="08050032e8047aee" providerId="LiveId" clId="{78EB1A6D-D3A9-4525-A4D5-A50D4E20D487}"/>
    <pc:docChg chg="modSld">
      <pc:chgData name="Dmitriy Ratushny" userId="08050032e8047aee" providerId="LiveId" clId="{78EB1A6D-D3A9-4525-A4D5-A50D4E20D487}" dt="2026-07-28T21:40:26.915" v="1" actId="1076"/>
      <pc:docMkLst>
        <pc:docMk/>
      </pc:docMkLst>
      <pc:sldChg chg="modSp mod">
        <pc:chgData name="Dmitriy Ratushny" userId="08050032e8047aee" providerId="LiveId" clId="{78EB1A6D-D3A9-4525-A4D5-A50D4E20D487}" dt="2026-07-28T21:40:26.915" v="1" actId="1076"/>
        <pc:sldMkLst>
          <pc:docMk/>
          <pc:sldMk cId="0" sldId="260"/>
        </pc:sldMkLst>
        <pc:picChg chg="mod">
          <ac:chgData name="Dmitriy Ratushny" userId="08050032e8047aee" providerId="LiveId" clId="{78EB1A6D-D3A9-4525-A4D5-A50D4E20D487}" dt="2026-07-28T21:40:26.915" v="1" actId="1076"/>
          <ac:picMkLst>
            <pc:docMk/>
            <pc:sldMk cId="0" sldId="260"/>
            <ac:picMk id="4"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4198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Thirty to forty minutes, five parts, following the brief. I say the headline up front because the value of this work is in proving the negatives properly and in what we do anyway.</a:t>
            </a:r>
          </a:p>
          <a:p>
            <a:endParaRPr/>
          </a:p>
          <a:p>
            <a:r>
              <a:t>The second clause is the part to sit on if there is only time for one thing. The strongest result I had — churn accelerating through 2024, p = 2e-16 — is reproduced exactly by a simulation containing nothing but a random number generator. Slide 11 is that test. Finding it is the piece of work I would most want to be judged 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Lead with the target problem. Along with slide 11 it is the most valuable thing here, and it shows the instinct to check the label before fitting anything.</a:t>
            </a:r>
          </a:p>
          <a:p>
            <a:endParaRPr/>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endParaRPr/>
          </a:p>
          <a:p>
            <a:r>
              <a:t>Pre-empt the obvious follow-up: 'so invert the flag and you get 62%'. No. Inverted it scores 62.4% against 61.4% expected by chance, kappa +0.03. There is no information in it either way round.</a:t>
            </a:r>
          </a:p>
          <a:p>
            <a:endParaRPr/>
          </a:p>
          <a:p>
            <a:r>
              <a:t>The subscription line is the strongest part because it never touches the flag: 386 churn events can be compared to a subscription ending, and only 6 land on the same day. Median gap 62 days. All three recordings of 'this customer left' are mutually unrelated.</a:t>
            </a:r>
          </a:p>
          <a:p>
            <a:endParaRPr/>
          </a:p>
          <a:p>
            <a:r>
              <a:t>Computed in src/audit.py by label_source_agreement and churn_date_coherence, and shown in notebooks 01 and 10.</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I would want to be asked about.</a:t>
            </a:r>
          </a:p>
          <a:p>
            <a:endParaRPr/>
          </a:p>
          <a:p>
            <a:r>
              <a:t>How the artefact works: no churn date can land after 2024-12-31. If each is drawn uniformly between signup and that boundary, the hazard is 1/(END - t), which rises without limit as t approaches the end. Pooled across accounts that signed up over two years, that is indistinguishable by eye from a business problem.</a:t>
            </a:r>
          </a:p>
          <a:p>
            <a:endParaRPr/>
          </a:p>
          <a:p>
            <a:r>
              <a:t>The evidence, in order. Rescale each churn date to its position in the account's own window: uniform, KS p = 0.92 on 600 events, mean position 0.503, and uniform inside every signup quarter. Then the simulation — keep each account's real signup date and real number of churn events, redraw only the dates, run the same survival.calendar_hazard used to produce the original claim, 400 times. Observed rate ratio 1.0893, null 1.0885 with a 95% band of [1.072, 1.106].</a:t>
            </a:r>
          </a:p>
          <a:p>
            <a:endParaRPr/>
          </a:p>
          <a:p>
            <a:r>
              <a:t>The p-value is the part worth dwelling on. p = 2e-16 felt like the most secure number I had. The null rule produces a median p of 2.8e-16 — very slightly more significant than the real data. A p-value tells you nothing about whether the null it tests is the one that matters.</a:t>
            </a:r>
          </a:p>
          <a:p>
            <a:endParaRPr/>
          </a:p>
          <a:p>
            <a:r>
              <a:t>If asked what I would have done differently: run this before writing the recommendation, not after. On any generated or vendor-supplied extract, simulate the file before trusting a time trend in it.</a:t>
            </a:r>
          </a:p>
          <a:p>
            <a:endParaRPr/>
          </a:p>
          <a:p>
            <a:r>
              <a:t>src/generator.py, notebook 16.</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194560"/>
            <a:ext cx="10820095" cy="2560320"/>
          </a:xfrm>
          <a:prstGeom prst="rect">
            <a:avLst/>
          </a:prstGeom>
          <a:noFill/>
        </p:spPr>
        <p:txBody>
          <a:bodyPr wrap="square">
            <a:spAutoFit/>
          </a:bodyPr>
          <a:lstStyle/>
          <a:p>
            <a:r>
              <a:rPr sz="4000" b="1" i="0">
                <a:solidFill>
                  <a:srgbClr val="1A1A1A"/>
                </a:solidFill>
                <a:latin typeface="Calibri"/>
              </a:rPr>
              <a:t>Why customers leave, and what to do about it</a:t>
            </a:r>
          </a:p>
          <a:p>
            <a:pPr>
              <a:spcBef>
                <a:spcPts val="1600"/>
              </a:spcBef>
            </a:pPr>
            <a:r>
              <a:rPr sz="1800" b="0" i="0">
                <a:solidFill>
                  <a:srgbClr val="5A6270"/>
                </a:solidFill>
                <a:latin typeface="Calibri"/>
              </a:rPr>
              <a:t>Senior ML Engineer case study. RavenStack subscription data: 500 customers across 5 tables.</a:t>
            </a:r>
          </a:p>
          <a:p>
            <a:pPr>
              <a:spcBef>
                <a:spcPts val="2800"/>
              </a:spcBef>
            </a:pPr>
            <a:r>
              <a:rPr sz="1900" b="1" i="0">
                <a:solidFill>
                  <a:srgbClr val="2E5F8A"/>
                </a:solidFill>
                <a:latin typeface="Calibri"/>
              </a:rPr>
              <a:t>The short version: no model here beats a coin flip, the one pattern that looked like a cause comes from how the file was written, and three actions still follow.</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The business problem, and a target I had to rebuild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600"/>
              </a:spcAft>
            </a:pPr>
            <a:r>
              <a:rPr sz="1400" b="1" i="0">
                <a:solidFill>
                  <a:srgbClr val="1A1A1A"/>
                </a:solidFill>
                <a:latin typeface="Calibri"/>
              </a:rPr>
              <a:t>This work supports two decisions. Who should the success team call this quarter? What should the product team fix?</a:t>
            </a:r>
          </a:p>
          <a:p>
            <a:pPr>
              <a:spcAft>
                <a:spcPts val="600"/>
              </a:spcAft>
            </a:pPr>
            <a:r>
              <a:rPr sz="1400" b="0" i="0">
                <a:solidFill>
                  <a:srgbClr val="1A1A1A"/>
                </a:solidFill>
                <a:latin typeface="Calibri"/>
              </a:rPr>
              <a:t>By the churn event log, seven out of ten customers leave in the end. The typical customer pays $931 a month and is worth about $7,300 in total. Churn is the largest cost we can actually control.</a:t>
            </a:r>
          </a:p>
          <a:p>
            <a:pPr>
              <a:spcAft>
                <a:spcPts val="600"/>
              </a:spcAft>
            </a:pPr>
            <a:r>
              <a:rPr sz="600" b="0" i="0">
                <a:solidFill>
                  <a:srgbClr val="1A1A1A"/>
                </a:solidFill>
                <a:latin typeface="Calibri"/>
              </a:rPr>
              <a:t> </a:t>
            </a:r>
          </a:p>
          <a:p>
            <a:pPr>
              <a:spcAft>
                <a:spcPts val="600"/>
              </a:spcAft>
            </a:pPr>
            <a:r>
              <a:rPr sz="1400" b="1" i="0">
                <a:solidFill>
                  <a:srgbClr val="B02E2E"/>
                </a:solidFill>
                <a:latin typeface="Calibri"/>
              </a:rPr>
              <a:t>The churn flag in the data cannot be used.</a:t>
            </a:r>
          </a:p>
          <a:p>
            <a:pPr lvl="1">
              <a:spcAft>
                <a:spcPts val="600"/>
              </a:spcAft>
            </a:pPr>
            <a:r>
              <a:rPr sz="1200" b="0" i="0">
                <a:solidFill>
                  <a:srgbClr val="5A6270"/>
                </a:solidFill>
                <a:latin typeface="Calibri"/>
              </a:rPr>
              <a:t>It has no date on it. So we cannot tell whether a customer had already left on any given day.</a:t>
            </a:r>
          </a:p>
          <a:p>
            <a:pPr lvl="1">
              <a:spcAft>
                <a:spcPts val="600"/>
              </a:spcAft>
            </a:pPr>
            <a:r>
              <a:rPr sz="1200" b="0" i="0">
                <a:solidFill>
                  <a:srgbClr val="5A6270"/>
                </a:solidFill>
                <a:latin typeface="Calibri"/>
              </a:rPr>
              <a:t>It agrees with the churn event log for 188 of the 500 customers. Two unrelated columns would agree for about 193. So the flag is not a rough version of the truth. It tells us nothing at all about who left.</a:t>
            </a:r>
          </a:p>
          <a:p>
            <a:pPr lvl="1">
              <a:spcAft>
                <a:spcPts val="600"/>
              </a:spcAft>
            </a:pPr>
            <a:r>
              <a:rPr sz="1200" b="0" i="0">
                <a:solidFill>
                  <a:srgbClr val="5A6270"/>
                </a:solidFill>
                <a:latin typeface="Calibri"/>
              </a:rPr>
              <a:t>The other two records do not line up either. A churn date and a subscription ending fall on the same day 2% of the time. The usual gap is two months.</a:t>
            </a:r>
          </a:p>
          <a:p>
            <a:pPr>
              <a:spcAft>
                <a:spcPts val="600"/>
              </a:spcAft>
            </a:pPr>
            <a:r>
              <a:rPr sz="600" b="0" i="0">
                <a:solidFill>
                  <a:srgbClr val="1A1A1A"/>
                </a:solidFill>
                <a:latin typeface="Calibri"/>
              </a:rPr>
              <a:t> </a:t>
            </a:r>
          </a:p>
          <a:p>
            <a:pPr>
              <a:spcAft>
                <a:spcPts val="600"/>
              </a:spcAft>
            </a:pPr>
            <a:r>
              <a:rPr sz="1400" b="1" i="0">
                <a:solidFill>
                  <a:srgbClr val="1A1A1A"/>
                </a:solidFill>
                <a:latin typeface="Calibri"/>
              </a:rPr>
              <a:t>So I rebuilt the target as a question with a date in it:</a:t>
            </a:r>
          </a:p>
          <a:p>
            <a:pPr lvl="1">
              <a:spcAft>
                <a:spcPts val="600"/>
              </a:spcAft>
            </a:pPr>
            <a:r>
              <a:rPr sz="1200" b="0" i="0">
                <a:solidFill>
                  <a:srgbClr val="5A6270"/>
                </a:solidFill>
                <a:latin typeface="Calibri"/>
              </a:rPr>
              <a:t>On 30 June 2024, using only what we knew that day, will this customer leave within the next 90 days?</a:t>
            </a:r>
          </a:p>
          <a:p>
            <a:pPr lvl="1">
              <a:spcAft>
                <a:spcPts val="600"/>
              </a:spcAft>
            </a:pPr>
            <a:r>
              <a:rPr sz="1200" b="0" i="0">
                <a:solidFill>
                  <a:srgbClr val="5A6270"/>
                </a:solidFill>
                <a:latin typeface="Calibri"/>
              </a:rPr>
              <a:t>That gives 177 customers who could still leave. 54 of them did, which is 31%.</a:t>
            </a:r>
          </a:p>
          <a:p>
            <a:pPr lvl="1">
              <a:spcAft>
                <a:spcPts val="600"/>
              </a:spcAft>
            </a:pPr>
            <a:r>
              <a:rPr sz="1200" b="0" i="0">
                <a:solidFill>
                  <a:srgbClr val="5A6270"/>
                </a:solidFill>
                <a:latin typeface="Calibri"/>
              </a:rPr>
              <a:t>Features use only data dated before that day. Anything still unresolved on that day is blanked out.</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found this by counting, not by modelling. No algorithm recovers a fact the source data never recorded the same way twice.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How we would judge success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1A1A1A"/>
                </a:solidFill>
                <a:latin typeface="Calibri"/>
              </a:rPr>
              <a:t>For the model</a:t>
            </a:r>
          </a:p>
          <a:p>
            <a:pPr lvl="1">
              <a:spcAft>
                <a:spcPts val="900"/>
              </a:spcAft>
            </a:pPr>
            <a:r>
              <a:rPr sz="1400" b="0" i="0">
                <a:solidFill>
                  <a:srgbClr val="5A6270"/>
                </a:solidFill>
                <a:latin typeface="Calibri"/>
              </a:rPr>
              <a:t>ROC-AUC measures how well the model sorts customers by risk. 0.5 means it is guessing. I always report a range around it, never a single number.</a:t>
            </a:r>
          </a:p>
          <a:p>
            <a:pPr lvl="1">
              <a:spcAft>
                <a:spcPts val="900"/>
              </a:spcAft>
            </a:pPr>
            <a:r>
              <a:rPr sz="1400" b="0" i="0">
                <a:solidFill>
                  <a:srgbClr val="5A6270"/>
                </a:solidFill>
                <a:latin typeface="Calibri"/>
              </a:rPr>
              <a:t>I also report precision and recall, because they say what the CS team actually experiences when they work the list.</a:t>
            </a:r>
          </a:p>
          <a:p>
            <a:pPr lvl="1">
              <a:spcAft>
                <a:spcPts val="900"/>
              </a:spcAft>
            </a:pPr>
            <a:r>
              <a:rPr sz="1400" b="0" i="0">
                <a:solidFill>
                  <a:srgbClr val="5A6270"/>
                </a:solidFill>
                <a:latin typeface="Calibri"/>
              </a:rPr>
              <a:t>The headline number comes from nested cross-validation. That is the only version that accounts for the fact that I also chose the model.</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For the business</a:t>
            </a:r>
          </a:p>
          <a:p>
            <a:pPr lvl="1">
              <a:spcAft>
                <a:spcPts val="900"/>
              </a:spcAft>
            </a:pPr>
            <a:r>
              <a:rPr sz="1400" b="0" i="0">
                <a:solidFill>
                  <a:srgbClr val="5A6270"/>
                </a:solidFill>
                <a:latin typeface="Calibri"/>
              </a:rPr>
              <a:t>Retention 180 days after any change we make.</a:t>
            </a:r>
          </a:p>
          <a:p>
            <a:pPr lvl="1">
              <a:spcAft>
                <a:spcPts val="900"/>
              </a:spcAft>
            </a:pPr>
            <a:r>
              <a:rPr sz="1400" b="0" i="0">
                <a:solidFill>
                  <a:srgbClr val="5A6270"/>
                </a:solidFill>
                <a:latin typeface="Calibri"/>
              </a:rPr>
              <a:t>Money kept, so that a saved customer who needed a large discount is not counted as a win.</a:t>
            </a:r>
          </a:p>
          <a:p>
            <a:pPr lvl="1">
              <a:spcAft>
                <a:spcPts val="900"/>
              </a:spcAft>
            </a:pPr>
            <a:r>
              <a:rPr sz="1400" b="0" i="0">
                <a:solidFill>
                  <a:srgbClr val="5A6270"/>
                </a:solidFill>
                <a:latin typeface="Calibri"/>
              </a:rPr>
              <a:t>Value of the campaign compared with calling everyone. Zero is the wrong thing to compare against.</a:t>
            </a:r>
          </a:p>
          <a:p>
            <a:pPr>
              <a:spcAft>
                <a:spcPts val="900"/>
              </a:spcAft>
            </a:pPr>
            <a:r>
              <a:rPr sz="600" b="0" i="0">
                <a:solidFill>
                  <a:srgbClr val="1A1A1A"/>
                </a:solidFill>
                <a:latin typeface="Calibri"/>
              </a:rPr>
              <a:t> </a:t>
            </a:r>
          </a:p>
          <a:p>
            <a:pPr>
              <a:spcAft>
                <a:spcPts val="900"/>
              </a:spcAft>
            </a:pPr>
            <a:r>
              <a:rPr sz="1600" b="1" i="0">
                <a:solidFill>
                  <a:srgbClr val="2E5F8A"/>
                </a:solidFill>
                <a:latin typeface="Calibri"/>
              </a:rPr>
              <a:t>Limits I set before starting</a:t>
            </a:r>
          </a:p>
          <a:p>
            <a:pPr lvl="1">
              <a:spcAft>
                <a:spcPts val="900"/>
              </a:spcAft>
            </a:pPr>
            <a:r>
              <a:rPr sz="1400" b="0" i="0">
                <a:solidFill>
                  <a:srgbClr val="5A6270"/>
                </a:solidFill>
                <a:latin typeface="Calibri"/>
              </a:rPr>
              <a:t>The model has to beat guessing at the bottom of its range, not just on average. It also has to beat simply calling every customer.</a:t>
            </a:r>
          </a:p>
          <a:p>
            <a:pPr lvl="1">
              <a:spcAft>
                <a:spcPts val="900"/>
              </a:spcAft>
            </a:pPr>
            <a:r>
              <a:rPr sz="1400" b="0" i="0">
                <a:solidFill>
                  <a:srgbClr val="5A6270"/>
                </a:solidFill>
                <a:latin typeface="Calibri"/>
              </a:rPr>
              <a:t>Scores order a call list. They never trigger an action on their own.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Risks and assumptions, said out loud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500"/>
              </a:spcAft>
            </a:pPr>
            <a:r>
              <a:rPr sz="1400" b="1" i="0">
                <a:solidFill>
                  <a:srgbClr val="B02E2E"/>
                </a:solidFill>
                <a:latin typeface="Calibri"/>
              </a:rPr>
              <a:t>Two of the five tables are not joined to their customers in time.</a:t>
            </a:r>
          </a:p>
          <a:p>
            <a:pPr lvl="1">
              <a:spcAft>
                <a:spcPts val="500"/>
              </a:spcAft>
            </a:pPr>
            <a:r>
              <a:rPr sz="1200" b="0" i="0">
                <a:solidFill>
                  <a:srgbClr val="5A6270"/>
                </a:solidFill>
                <a:latin typeface="Calibri"/>
              </a:rPr>
              <a:t>Usage and support ticket dates are spread at random across the whole two years. They line up with their own customer's signup date at r = 0.002 and r = 0.014, where 0 means no connection at all.</a:t>
            </a:r>
          </a:p>
          <a:p>
            <a:pPr lvl="1">
              <a:spcAft>
                <a:spcPts val="500"/>
              </a:spcAft>
            </a:pPr>
            <a:r>
              <a:rPr sz="1200" b="0" i="0">
                <a:solidFill>
                  <a:srgbClr val="5A6270"/>
                </a:solidFill>
                <a:latin typeface="Calibri"/>
              </a:rPr>
              <a:t>That is what produces the numbers people quote: 19,128 of 24,979 usage rows are dated before the subscription they belong to, and 1,077 of 2,000 tickets before the customer signed up.</a:t>
            </a:r>
          </a:p>
          <a:p>
            <a:pPr lvl="1">
              <a:spcAft>
                <a:spcPts val="500"/>
              </a:spcAft>
            </a:pPr>
            <a:r>
              <a:rPr sz="1200" b="0" i="0">
                <a:solidFill>
                  <a:srgbClr val="5A6270"/>
                </a:solidFill>
                <a:latin typeface="Calibri"/>
              </a:rPr>
              <a:t>Nothing links inside those tables either. Ticket priority does not predict how fast we answered. Plan tier does not predict how much people used.</a:t>
            </a:r>
          </a:p>
          <a:p>
            <a:pPr lvl="1">
              <a:spcAft>
                <a:spcPts val="500"/>
              </a:spcAft>
            </a:pPr>
            <a:r>
              <a:rPr sz="1200" b="0" i="0">
                <a:solidFill>
                  <a:srgbClr val="5A6270"/>
                </a:solidFill>
                <a:latin typeface="Calibri"/>
              </a:rPr>
              <a:t>Satisfaction is documented as a 1 to 5 score, but only ever takes the values 3, 4 and 5.</a:t>
            </a:r>
          </a:p>
          <a:p>
            <a:pPr lvl="1">
              <a:spcAft>
                <a:spcPts val="500"/>
              </a:spcAft>
            </a:pPr>
            <a:r>
              <a:rPr sz="1200" b="0" i="0">
                <a:solidFill>
                  <a:srgbClr val="5A6270"/>
                </a:solidFill>
                <a:latin typeface="Calibri"/>
              </a:rPr>
              <a:t>There are three ways to say a customer churned. All three agree for only 20% of customers.</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Subscriptions is the one table built with rules, and the only one I lean on. Price follows the plan and the seat count, ARR is exactly 12 times MRR, and no subscription starts before its customer did.</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There is very little to learn from: 54 customers who left, against 73 features. Well under one example per feature, so every result carries a wide range.</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Assumptions I am making</a:t>
            </a:r>
          </a:p>
          <a:p>
            <a:pPr lvl="1">
              <a:spcAft>
                <a:spcPts val="500"/>
              </a:spcAft>
            </a:pPr>
            <a:r>
              <a:rPr sz="1200" b="0" i="0">
                <a:solidFill>
                  <a:srgbClr val="5A6270"/>
                </a:solidFill>
                <a:latin typeface="Calibri"/>
              </a:rPr>
              <a:t>A 90 day window and a 30 June 2024 cutoff. I picked both before testing anything, so they are not chosen to flatter the result.</a:t>
            </a:r>
          </a:p>
          <a:p>
            <a:pPr lvl="1">
              <a:spcAft>
                <a:spcPts val="500"/>
              </a:spcAft>
            </a:pPr>
            <a:r>
              <a:rPr sz="1200" b="0" i="0">
                <a:solidFill>
                  <a:srgbClr val="5A6270"/>
                </a:solidFill>
                <a:latin typeface="Calibri"/>
              </a:rPr>
              <a:t>Customers still active when the data ends are treated as unknown, not as successes.</a:t>
            </a:r>
          </a:p>
          <a:p>
            <a:pPr lvl="1">
              <a:spcAft>
                <a:spcPts val="500"/>
              </a:spcAft>
            </a:pPr>
            <a:r>
              <a:rPr sz="1200" b="0" i="0">
                <a:solidFill>
                  <a:srgbClr val="5A6270"/>
                </a:solidFill>
                <a:latin typeface="Calibri"/>
              </a:rPr>
              <a:t>This is a generated dataset, so every finding is tested against a null that imitates the generator — including the findings I liked. Slide 11 is that test, and it is the one that changed the answer.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DATA EXPLORATION</a:t>
            </a:r>
          </a:p>
          <a:p>
            <a:pPr>
              <a:spcBef>
                <a:spcPts val="400"/>
              </a:spcBef>
            </a:pPr>
            <a:r>
              <a:rPr sz="2800" b="1" i="0">
                <a:solidFill>
                  <a:srgbClr val="1A1A1A"/>
                </a:solidFill>
                <a:latin typeface="Calibri"/>
              </a:rPr>
              <a:t>What the data does and does not contain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churn_by_segment.png"/>
          <p:cNvPicPr>
            <a:picLocks noChangeAspect="1"/>
          </p:cNvPicPr>
          <p:nvPr/>
        </p:nvPicPr>
        <p:blipFill>
          <a:blip r:embed="rId2"/>
          <a:stretch>
            <a:fillRect/>
          </a:stretch>
        </p:blipFill>
        <p:spPr>
          <a:xfrm>
            <a:off x="566057" y="1655445"/>
            <a:ext cx="10706906" cy="2588854"/>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400" b="1" i="0">
                <a:solidFill>
                  <a:srgbClr val="1A1A1A"/>
                </a:solidFill>
                <a:latin typeface="Calibri"/>
              </a:rPr>
              <a:t>No group of customers stands out. I checked industry, country, plan, how they found us, and whether they started on a trial. None of them separates the customers who leave from the ones who stay.</a:t>
            </a:r>
          </a:p>
          <a:p>
            <a:pPr>
              <a:spcAft>
                <a:spcPts val="900"/>
              </a:spcAft>
            </a:pPr>
            <a:r>
              <a:rPr sz="1400" b="0" i="0">
                <a:solidFill>
                  <a:srgbClr val="5A6270"/>
                </a:solidFill>
                <a:latin typeface="Calibri"/>
              </a:rPr>
              <a:t>I explored the relationship with churn on a held out slice of the data. That way the data I modelled on did not influence what I chose to look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FEATURE ENGINEERING</a:t>
            </a:r>
          </a:p>
          <a:p>
            <a:pPr>
              <a:spcBef>
                <a:spcPts val="400"/>
              </a:spcBef>
            </a:pPr>
            <a:r>
              <a:rPr sz="2800" b="1" i="0">
                <a:solidFill>
                  <a:srgbClr val="1A1A1A"/>
                </a:solidFill>
                <a:latin typeface="Calibri"/>
              </a:rPr>
              <a:t>73 features, and the reason for each one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point_in_time.png"/>
          <p:cNvPicPr>
            <a:picLocks noChangeAspect="1"/>
          </p:cNvPicPr>
          <p:nvPr/>
        </p:nvPicPr>
        <p:blipFill>
          <a:blip r:embed="rId2"/>
          <a:stretch>
            <a:fillRect/>
          </a:stretch>
        </p:blipFill>
        <p:spPr>
          <a:xfrm>
            <a:off x="1270216" y="1536192"/>
            <a:ext cx="9651263" cy="2788920"/>
          </a:xfrm>
          <a:prstGeom prst="rect">
            <a:avLst/>
          </a:prstGeom>
        </p:spPr>
      </p:pic>
      <p:sp>
        <p:nvSpPr>
          <p:cNvPr id="5" name="TextBox 4"/>
          <p:cNvSpPr txBox="1"/>
          <p:nvPr/>
        </p:nvSpPr>
        <p:spPr>
          <a:xfrm>
            <a:off x="685800" y="4480560"/>
            <a:ext cx="10820095" cy="4572000"/>
          </a:xfrm>
          <a:prstGeom prst="rect">
            <a:avLst/>
          </a:prstGeom>
          <a:noFill/>
        </p:spPr>
        <p:txBody>
          <a:bodyPr wrap="square">
            <a:spAutoFit/>
          </a:bodyPr>
          <a:lstStyle/>
          <a:p>
            <a:pPr>
              <a:spcAft>
                <a:spcPts val="300"/>
              </a:spcAft>
            </a:pPr>
            <a:r>
              <a:rPr sz="1150" b="1" i="0">
                <a:solidFill>
                  <a:srgbClr val="1A1A1A"/>
                </a:solidFill>
                <a:latin typeface="Calibri"/>
              </a:rPr>
              <a:t>What each family measures.</a:t>
            </a:r>
          </a:p>
          <a:p>
            <a:pPr lvl="1">
              <a:spcAft>
                <a:spcPts val="300"/>
              </a:spcAft>
            </a:pPr>
            <a:r>
              <a:rPr sz="950" b="0" i="0">
                <a:solidFill>
                  <a:srgbClr val="5A6270"/>
                </a:solidFill>
                <a:latin typeface="Calibri"/>
              </a:rPr>
              <a:t>Subscription: what they pay, how steady it is, upgrades, downgrades, how long they have been a customer.  Usage: activity over 30 to 180 days, and whether it is speeding up or slowing down.  Support: ticket load, how fast we answered, how long fixes took, satisfaction, escalations.  Account and ratios: industry, country, how they found us, plan, and per-seat versions of usage and tickets so a 10 seat and a 500 seat customer sit on the same scale.</a:t>
            </a:r>
          </a:p>
          <a:p>
            <a:pPr>
              <a:spcAft>
                <a:spcPts val="300"/>
              </a:spcAft>
            </a:pPr>
            <a:r>
              <a:rPr sz="600" b="0" i="0">
                <a:solidFill>
                  <a:srgbClr val="1A1A1A"/>
                </a:solidFill>
                <a:latin typeface="Calibri"/>
              </a:rPr>
              <a:t> </a:t>
            </a:r>
          </a:p>
          <a:p>
            <a:pPr>
              <a:spcAft>
                <a:spcPts val="300"/>
              </a:spcAft>
            </a:pPr>
            <a:r>
              <a:rPr sz="1150" b="1" i="0">
                <a:solidFill>
                  <a:srgbClr val="2E5F8A"/>
                </a:solidFill>
                <a:latin typeface="Calibri"/>
              </a:rPr>
              <a:t>The same code builds these in training and in production.</a:t>
            </a:r>
          </a:p>
          <a:p>
            <a:pPr lvl="1">
              <a:spcAft>
                <a:spcPts val="300"/>
              </a:spcAft>
            </a:pPr>
            <a:r>
              <a:rPr sz="950" b="0" i="0">
                <a:solidFill>
                  <a:srgbClr val="5A6270"/>
                </a:solidFill>
                <a:latin typeface="Calibri"/>
              </a:rPr>
              <a:t>Training passes 30 June 2024, production passes today, so the two cannot drift apart. The blanking on the right is the part that reading the code misses: an automatic check found those 5 tickets, I did not.</a:t>
            </a:r>
          </a:p>
          <a:p>
            <a:pPr>
              <a:spcAft>
                <a:spcPts val="300"/>
              </a:spcAft>
            </a:pPr>
            <a:r>
              <a:rPr sz="600" b="0" i="0">
                <a:solidFill>
                  <a:srgbClr val="1A1A1A"/>
                </a:solidFill>
                <a:latin typeface="Calibri"/>
              </a:rPr>
              <a:t> </a:t>
            </a:r>
          </a:p>
          <a:p>
            <a:pPr>
              <a:spcAft>
                <a:spcPts val="300"/>
              </a:spcAft>
            </a:pPr>
            <a:r>
              <a:rPr sz="1150" b="0" i="0">
                <a:solidFill>
                  <a:srgbClr val="B02E2E"/>
                </a:solidFill>
                <a:latin typeface="Calibri"/>
              </a:rPr>
              <a:t>Being honest about what worked: the 21 extra features I engineered made the score slightly worse, not better. I kept them anyway, because swapping to the smaller set just because it scored higher is the exact mistake I warn about later. None of them could have helped, for the reason slide 8 gives.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Choosing an algorithm: make it earn the complexity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model_ladder.png"/>
          <p:cNvPicPr>
            <a:picLocks noChangeAspect="1"/>
          </p:cNvPicPr>
          <p:nvPr/>
        </p:nvPicPr>
        <p:blipFill>
          <a:blip r:embed="rId2"/>
          <a:stretch>
            <a:fillRect/>
          </a:stretch>
        </p:blipFill>
        <p:spPr>
          <a:xfrm>
            <a:off x="2836454" y="1645920"/>
            <a:ext cx="6518787" cy="320040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50" b="1" i="0">
                <a:solidFill>
                  <a:srgbClr val="1A1A1A"/>
                </a:solidFill>
                <a:latin typeface="Calibri"/>
              </a:rPr>
              <a:t>I start with a model that uses no features at all. It has to score 0.5. Without that floor you cannot tell whether a real model is doing anything. Then I add complexity one step at a time: a single rule, then logistic regression, then a random forest, then three gradient boosting models.</a:t>
            </a:r>
          </a:p>
          <a:p>
            <a:pPr>
              <a:spcAft>
                <a:spcPts val="900"/>
              </a:spcAft>
            </a:pPr>
            <a:r>
              <a:rPr sz="1350" b="0" i="0">
                <a:solidFill>
                  <a:srgbClr val="5A6270"/>
                </a:solidFill>
                <a:latin typeface="Calibri"/>
              </a:rPr>
              <a:t>Every model is tested on exactly the same splits, so the comparison is fair. The boosting models get their preferred treatment of missing values and categories. With only 177 customers, the simple regularised model still wins.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B02E2E"/>
                </a:solidFill>
                <a:latin typeface="Calibri"/>
              </a:rPr>
              <a:t>How it performs, and why the number is low</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selection_null.png"/>
          <p:cNvPicPr>
            <a:picLocks noChangeAspect="1"/>
          </p:cNvPicPr>
          <p:nvPr/>
        </p:nvPicPr>
        <p:blipFill>
          <a:blip r:embed="rId2"/>
          <a:stretch>
            <a:fillRect/>
          </a:stretch>
        </p:blipFill>
        <p:spPr>
          <a:xfrm>
            <a:off x="6812280" y="1783080"/>
            <a:ext cx="4212139" cy="2331720"/>
          </a:xfrm>
          <a:prstGeom prst="rect">
            <a:avLst/>
          </a:prstGeom>
        </p:spPr>
      </p:pic>
      <p:sp>
        <p:nvSpPr>
          <p:cNvPr id="5" name="TextBox 4"/>
          <p:cNvSpPr txBox="1"/>
          <p:nvPr/>
        </p:nvSpPr>
        <p:spPr>
          <a:xfrm>
            <a:off x="685800" y="1783080"/>
            <a:ext cx="5760720" cy="4572000"/>
          </a:xfrm>
          <a:prstGeom prst="rect">
            <a:avLst/>
          </a:prstGeom>
          <a:noFill/>
        </p:spPr>
        <p:txBody>
          <a:bodyPr wrap="square">
            <a:spAutoFit/>
          </a:bodyPr>
          <a:lstStyle/>
          <a:p>
            <a:pPr>
              <a:spcAft>
                <a:spcPts val="500"/>
              </a:spcAft>
            </a:pPr>
            <a:r>
              <a:rPr sz="1300" b="0" i="0">
                <a:solidFill>
                  <a:srgbClr val="5A6270"/>
                </a:solidFill>
                <a:latin typeface="Calibri"/>
              </a:rPr>
              <a:t>Best single model, taken at face value:  AUC 0.583</a:t>
            </a:r>
          </a:p>
          <a:p>
            <a:pPr>
              <a:spcAft>
                <a:spcPts val="500"/>
              </a:spcAft>
            </a:pPr>
            <a:r>
              <a:rPr sz="1300" b="1" i="0">
                <a:solidFill>
                  <a:srgbClr val="1A1A1A"/>
                </a:solidFill>
                <a:latin typeface="Calibri"/>
              </a:rPr>
              <a:t>The honest score:  AUC 0.534, give or take 0.016</a:t>
            </a:r>
          </a:p>
          <a:p>
            <a:pPr>
              <a:spcAft>
                <a:spcPts val="500"/>
              </a:spcAft>
            </a:pPr>
            <a:r>
              <a:rPr sz="1300" b="0" i="0">
                <a:solidFill>
                  <a:srgbClr val="5A6270"/>
                </a:solidFill>
                <a:latin typeface="Calibri"/>
              </a:rPr>
              <a:t>Guessing:  AUC 0.500</a:t>
            </a:r>
          </a:p>
          <a:p>
            <a:pPr>
              <a:spcAft>
                <a:spcPts val="500"/>
              </a:spcAft>
            </a:pPr>
            <a:r>
              <a:rPr sz="600" b="0" i="0">
                <a:solidFill>
                  <a:srgbClr val="1A1A1A"/>
                </a:solidFill>
                <a:latin typeface="Calibri"/>
              </a:rPr>
              <a:t> </a:t>
            </a:r>
          </a:p>
          <a:p>
            <a:pPr>
              <a:spcAft>
                <a:spcPts val="500"/>
              </a:spcAft>
            </a:pPr>
            <a:r>
              <a:rPr sz="1300" b="1" i="0">
                <a:solidFill>
                  <a:srgbClr val="B02E2E"/>
                </a:solidFill>
                <a:latin typeface="Calibri"/>
              </a:rPr>
              <a:t>Picking the best of ten models is itself a form of fitting.</a:t>
            </a:r>
          </a:p>
          <a:p>
            <a:pPr lvl="1">
              <a:spcAft>
                <a:spcPts val="500"/>
              </a:spcAft>
            </a:pPr>
            <a:r>
              <a:rPr sz="1100" b="0" i="0">
                <a:solidFill>
                  <a:srgbClr val="5A6270"/>
                </a:solidFill>
                <a:latin typeface="Calibri"/>
              </a:rPr>
              <a:t>Measure that properly and 0.049 of AUC disappears — most of what looked like signal. The chart is why: run the same ten-model search against shuffled labels and the whole distribution slides right, past our result.</a:t>
            </a:r>
          </a:p>
          <a:p>
            <a:pPr lvl="1">
              <a:spcAft>
                <a:spcPts val="500"/>
              </a:spcAft>
            </a:pPr>
            <a:r>
              <a:rPr sz="1100" b="0" i="0">
                <a:solidFill>
                  <a:srgbClr val="5A6270"/>
                </a:solidFill>
                <a:latin typeface="Calibri"/>
              </a:rPr>
              <a:t>Across 25 rounds, eight of the ten models won at least once. A genuinely better model wins nearly every time.</a:t>
            </a:r>
          </a:p>
        </p:txBody>
      </p:sp>
      <p:sp>
        <p:nvSpPr>
          <p:cNvPr id="6" name="TextBox 5"/>
          <p:cNvSpPr txBox="1"/>
          <p:nvPr/>
        </p:nvSpPr>
        <p:spPr>
          <a:xfrm>
            <a:off x="685800" y="4315968"/>
            <a:ext cx="10820095" cy="4572000"/>
          </a:xfrm>
          <a:prstGeom prst="rect">
            <a:avLst/>
          </a:prstGeom>
          <a:noFill/>
        </p:spPr>
        <p:txBody>
          <a:bodyPr wrap="square">
            <a:spAutoFit/>
          </a:bodyPr>
          <a:lstStyle/>
          <a:p>
            <a:pPr>
              <a:spcAft>
                <a:spcPts val="500"/>
              </a:spcAft>
            </a:pPr>
            <a:r>
              <a:rPr sz="1300" b="1" i="0">
                <a:solidFill>
                  <a:srgbClr val="1A1A1A"/>
                </a:solidFill>
                <a:latin typeface="Calibri"/>
              </a:rPr>
              <a:t>Why the score is low. Each cause is measured, not guessed at.</a:t>
            </a:r>
          </a:p>
          <a:p>
            <a:pPr lvl="1">
              <a:spcAft>
                <a:spcPts val="500"/>
              </a:spcAft>
            </a:pPr>
            <a:r>
              <a:rPr sz="1100" b="0" i="0">
                <a:solidFill>
                  <a:srgbClr val="5A6270"/>
                </a:solidFill>
                <a:latin typeface="Calibri"/>
              </a:rPr>
              <a:t>The inputs hold nothing. Usage and ticket dates are scattered at random across the two years and match their own customer's signup date at r = 0.002 and r = 0.014. Inside those tables, priority does not predict how fast we answered and plan does not predict how much people used.</a:t>
            </a:r>
          </a:p>
          <a:p>
            <a:pPr lvl="1">
              <a:spcAft>
                <a:spcPts val="500"/>
              </a:spcAft>
            </a:pPr>
            <a:r>
              <a:rPr sz="1100" b="0" i="0">
                <a:solidFill>
                  <a:srgbClr val="5A6270"/>
                </a:solidFill>
                <a:latin typeface="Calibri"/>
              </a:rPr>
              <a:t>The target is a random date — a coin toss between the day the customer joined and the last day of the file. Slide 11 is that test. Subscriptions is the one table with real rules, and none of it relates to churn.</a:t>
            </a:r>
          </a:p>
          <a:p>
            <a:pPr lvl="1">
              <a:spcAft>
                <a:spcPts val="500"/>
              </a:spcAft>
            </a:pPr>
            <a:r>
              <a:rPr sz="1100" b="0" i="0">
                <a:solidFill>
                  <a:srgbClr val="5A6270"/>
                </a:solidFill>
                <a:latin typeface="Calibri"/>
              </a:rPr>
              <a:t>Sample size is real but secondary: 54 churners against 73 features. It is not leakage, not the feature build, and not tuning. I checked all three.</a:t>
            </a:r>
          </a:p>
        </p:txBody>
      </p:sp>
      <p:sp>
        <p:nvSpPr>
          <p:cNvPr id="7" name="TextBox 6"/>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Scores are ROC-AUC: 0.50 is guessing, 1.00 is perfect. I confirmed the pipeline works by planting targets of known strength — a strong one scores AUC 0.965, a deliberately weak one 0.584, a meaningless one 0.494. The method works. AUC 0.534 is the right answer to the question this data can be asked.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Class imbalance, and what leakage is worth</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leakage_effect.png"/>
          <p:cNvPicPr>
            <a:picLocks noChangeAspect="1"/>
          </p:cNvPicPr>
          <p:nvPr/>
        </p:nvPicPr>
        <p:blipFill>
          <a:blip r:embed="rId2"/>
          <a:stretch>
            <a:fillRect/>
          </a:stretch>
        </p:blipFill>
        <p:spPr>
          <a:xfrm>
            <a:off x="6446520" y="1737360"/>
            <a:ext cx="5533595" cy="3063240"/>
          </a:xfrm>
          <a:prstGeom prst="rect">
            <a:avLst/>
          </a:prstGeom>
        </p:spPr>
      </p:pic>
      <p:sp>
        <p:nvSpPr>
          <p:cNvPr id="5" name="TextBox 4"/>
          <p:cNvSpPr txBox="1"/>
          <p:nvPr/>
        </p:nvSpPr>
        <p:spPr>
          <a:xfrm>
            <a:off x="685800" y="1737360"/>
            <a:ext cx="5486400" cy="4572000"/>
          </a:xfrm>
          <a:prstGeom prst="rect">
            <a:avLst/>
          </a:prstGeom>
          <a:noFill/>
        </p:spPr>
        <p:txBody>
          <a:bodyPr wrap="square">
            <a:spAutoFit/>
          </a:bodyPr>
          <a:lstStyle/>
          <a:p>
            <a:pPr>
              <a:spcAft>
                <a:spcPts val="600"/>
              </a:spcAft>
            </a:pPr>
            <a:r>
              <a:rPr sz="1350" b="1" i="0">
                <a:solidFill>
                  <a:srgbClr val="1A1A1A"/>
                </a:solidFill>
                <a:latin typeface="Calibri"/>
              </a:rPr>
              <a:t>Class imbalance</a:t>
            </a:r>
          </a:p>
          <a:p>
            <a:pPr lvl="1">
              <a:spcAft>
                <a:spcPts val="600"/>
              </a:spcAft>
            </a:pPr>
            <a:r>
              <a:rPr sz="1150" b="0" i="0">
                <a:solidFill>
                  <a:srgbClr val="5A6270"/>
                </a:solidFill>
                <a:latin typeface="Calibri"/>
              </a:rPr>
              <a:t>31% of customers left, so the classes are uneven but not badly so. I weight the rare class rather than inventing synthetic customers: with 54 real examples, synthetic ones are copies of copies and they flatter the score.</a:t>
            </a:r>
          </a:p>
          <a:p>
            <a:pPr lvl="1">
              <a:spcAft>
                <a:spcPts val="600"/>
              </a:spcAft>
            </a:pPr>
            <a:r>
              <a:rPr sz="1150" b="0" i="0">
                <a:solidFill>
                  <a:srgbClr val="5A6270"/>
                </a:solidFill>
                <a:latin typeface="Calibri"/>
              </a:rPr>
              <a:t>I set the cut-off to favour catching leavers, because missing one costs far more than a wasted phone call. That gives 75% of leavers caught, and 1 in 3 of the flagged customers actually leaving.</a:t>
            </a:r>
          </a:p>
          <a:p>
            <a:pPr lvl="1">
              <a:spcAft>
                <a:spcPts val="600"/>
              </a:spcAft>
            </a:pPr>
            <a:r>
              <a:rPr sz="1150" b="0" i="0">
                <a:solidFill>
                  <a:srgbClr val="5A6270"/>
                </a:solidFill>
                <a:latin typeface="Calibri"/>
              </a:rPr>
              <a:t>I report ROC-AUC because its baseline stays 0.50 at any class balance, which keeps the twelve horizon cells comparable when their churn rates run 11% to 45%. Precision-recall and F1 agree.</a:t>
            </a:r>
          </a:p>
          <a:p>
            <a:pPr>
              <a:spcAft>
                <a:spcPts val="600"/>
              </a:spcAft>
            </a:pPr>
            <a:r>
              <a:rPr sz="600" b="0" i="0">
                <a:solidFill>
                  <a:srgbClr val="1A1A1A"/>
                </a:solidFill>
                <a:latin typeface="Calibri"/>
              </a:rPr>
              <a:t> </a:t>
            </a:r>
          </a:p>
          <a:p>
            <a:pPr>
              <a:spcAft>
                <a:spcPts val="600"/>
              </a:spcAft>
            </a:pPr>
            <a:r>
              <a:rPr sz="1350" b="1" i="0">
                <a:solidFill>
                  <a:srgbClr val="B02E2E"/>
                </a:solidFill>
                <a:latin typeface="Calibri"/>
              </a:rPr>
              <a:t>I do not rely on reading the code to catch leakage.</a:t>
            </a:r>
          </a:p>
          <a:p>
            <a:pPr lvl="1">
              <a:spcAft>
                <a:spcPts val="600"/>
              </a:spcAft>
            </a:pPr>
            <a:r>
              <a:rPr sz="1150" b="0" i="0">
                <a:solidFill>
                  <a:srgbClr val="5A6270"/>
                </a:solidFill>
                <a:latin typeface="Calibri"/>
              </a:rPr>
              <a:t>Automatic checks run before any result is reported and block it if anything fails. They look for dates after the cutoff, banned columns by name, and any single feature that predicts too well.</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chart is why those checks earn their place. Columns that only exist after a customer leaves are worth 0.37 of extra AUC — they push the model to 0.79, which looks like a good model rather than a broken one. A pipeline that lets the future in scores 0.42, below guessing. Both failures are invisible in the score alone.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2E5F8A"/>
                </a:solidFill>
                <a:latin typeface="Calibri"/>
              </a:rPr>
              <a:t>Interpretability, and how it can mislead you</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shap_real_vs_shuffled.png"/>
          <p:cNvPicPr>
            <a:picLocks noChangeAspect="1"/>
          </p:cNvPicPr>
          <p:nvPr/>
        </p:nvPicPr>
        <p:blipFill>
          <a:blip r:embed="rId2"/>
          <a:stretch>
            <a:fillRect/>
          </a:stretch>
        </p:blipFill>
        <p:spPr>
          <a:xfrm>
            <a:off x="2260186" y="1572768"/>
            <a:ext cx="7671323" cy="2514600"/>
          </a:xfrm>
          <a:prstGeom prst="rect">
            <a:avLst/>
          </a:prstGeom>
        </p:spPr>
      </p:pic>
      <p:sp>
        <p:nvSpPr>
          <p:cNvPr id="5" name="TextBox 4"/>
          <p:cNvSpPr txBox="1"/>
          <p:nvPr/>
        </p:nvSpPr>
        <p:spPr>
          <a:xfrm>
            <a:off x="685800" y="4315968"/>
            <a:ext cx="10820095" cy="4572000"/>
          </a:xfrm>
          <a:prstGeom prst="rect">
            <a:avLst/>
          </a:prstGeom>
          <a:noFill/>
        </p:spPr>
        <p:txBody>
          <a:bodyPr wrap="square">
            <a:spAutoFit/>
          </a:bodyPr>
          <a:lstStyle/>
          <a:p>
            <a:pPr>
              <a:spcAft>
                <a:spcPts val="400"/>
              </a:spcAft>
            </a:pPr>
            <a:r>
              <a:rPr sz="1250" b="1" i="0">
                <a:solidFill>
                  <a:srgbClr val="B02E2E"/>
                </a:solidFill>
                <a:latin typeface="Calibri"/>
              </a:rPr>
              <a:t>These are the same chart. The right-hand one is built from labels I shuffled at random — and it is more confident about its winner than the real one is.</a:t>
            </a:r>
          </a:p>
          <a:p>
            <a:pPr>
              <a:spcAft>
                <a:spcPts val="400"/>
              </a:spcAft>
            </a:pPr>
            <a:r>
              <a:rPr sz="1250" b="1" i="0">
                <a:solidFill>
                  <a:srgbClr val="1A1A1A"/>
                </a:solidFill>
                <a:latin typeface="Calibri"/>
              </a:rPr>
              <a:t>SHAP will always return a clean, ordered, plausible ranking. It has no way to tell you it has nothing to say, which is why every attribution method here is paired with a random baseline before it is believed.</a:t>
            </a:r>
          </a:p>
          <a:p>
            <a:pPr>
              <a:spcAft>
                <a:spcPts val="400"/>
              </a:spcAft>
            </a:pPr>
            <a:r>
              <a:rPr sz="1250" b="0" i="0">
                <a:solidFill>
                  <a:srgbClr val="1A1A1A"/>
                </a:solidFill>
                <a:latin typeface="Calibri"/>
              </a:rPr>
              <a:t>The numbers underneath: the top feature beats random labels only 3 times in 4 (p = 0.24). Twelve different features take first place across 25 reruns. Permutation importance on held-out data is beaten by noise outright.</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Read without the right-hand panel, the left one says support load per seat drives churn, then contract size, then tenure. All three are plausible. That is exactly what makes it dangerous.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1</a:t>
            </a:r>
          </a:p>
          <a:p>
            <a:pPr>
              <a:spcBef>
                <a:spcPts val="400"/>
              </a:spcBef>
            </a:pPr>
            <a:r>
              <a:rPr sz="2800" b="1" i="0">
                <a:solidFill>
                  <a:srgbClr val="B02E2E"/>
                </a:solidFill>
                <a:latin typeface="Calibri"/>
              </a:rPr>
              <a:t>Do not go looking for what changed in 2024</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6_generator_artefact.png"/>
          <p:cNvPicPr>
            <a:picLocks noChangeAspect="1"/>
          </p:cNvPicPr>
          <p:nvPr/>
        </p:nvPicPr>
        <p:blipFill>
          <a:blip r:embed="rId3"/>
          <a:stretch>
            <a:fillRect/>
          </a:stretch>
        </p:blipFill>
        <p:spPr>
          <a:xfrm>
            <a:off x="1906186" y="1554480"/>
            <a:ext cx="8379323" cy="2788920"/>
          </a:xfrm>
          <a:prstGeom prst="rect">
            <a:avLst/>
          </a:prstGeom>
        </p:spPr>
      </p:pic>
      <p:sp>
        <p:nvSpPr>
          <p:cNvPr id="5" name="TextBox 4"/>
          <p:cNvSpPr txBox="1"/>
          <p:nvPr/>
        </p:nvSpPr>
        <p:spPr>
          <a:xfrm>
            <a:off x="685800" y="4572000"/>
            <a:ext cx="10820095" cy="4572000"/>
          </a:xfrm>
          <a:prstGeom prst="rect">
            <a:avLst/>
          </a:prstGeom>
          <a:noFill/>
        </p:spPr>
        <p:txBody>
          <a:bodyPr wrap="square">
            <a:spAutoFit/>
          </a:bodyPr>
          <a:lstStyle/>
          <a:p>
            <a:pPr>
              <a:spcAft>
                <a:spcPts val="400"/>
              </a:spcAft>
            </a:pPr>
            <a:r>
              <a:rPr sz="1250" b="1" i="0">
                <a:solidFill>
                  <a:srgbClr val="1A1A1A"/>
                </a:solidFill>
                <a:latin typeface="Calibri"/>
              </a:rPr>
              <a:t>Churn looks like it is accelerating. About 5 in every 100 customers left each month in 2023, rising to 22 in 100 by December 2024 — a 2.8x rise per year, p = 2e-16. It was by far the strongest number in this study.</a:t>
            </a:r>
          </a:p>
          <a:p>
            <a:pPr>
              <a:spcAft>
                <a:spcPts val="400"/>
              </a:spcAft>
            </a:pPr>
            <a:r>
              <a:rPr sz="1250" b="1" i="0">
                <a:solidFill>
                  <a:srgbClr val="B02E2E"/>
                </a:solidFill>
                <a:latin typeface="Calibri"/>
              </a:rPr>
              <a:t>It is not a fact about customers. Every churn date in this file is a random date between the day the customer joined and the last day of the extract. A random date has nowhere to go but the end of the file, so the rate climbs on its own, with nothing happening in the business.</a:t>
            </a:r>
          </a:p>
          <a:p>
            <a:pPr>
              <a:spcAft>
                <a:spcPts val="400"/>
              </a:spcAft>
            </a:pPr>
            <a:r>
              <a:rPr sz="1250" b="1" i="0">
                <a:solidFill>
                  <a:srgbClr val="1A1A1A"/>
                </a:solidFill>
                <a:latin typeface="Calibri"/>
              </a:rPr>
              <a:t>Rebuilding the data from that one rule gives the same answer: a 2.78x rise per year, all 24 months inside the range chance produces, and our result sitting at the 52nd percentile of pure noise. So there is nothing here to investigate, and that is the recommendation.</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test that mattered was not "is this bigger than noise" — it was, comfortably. It was "would the file produce this on its own". On generated data that is the only null worth testing, and it is the one I had not run.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2</a:t>
            </a:r>
          </a:p>
          <a:p>
            <a:pPr>
              <a:spcBef>
                <a:spcPts val="400"/>
              </a:spcBef>
            </a:pPr>
            <a:r>
              <a:rPr sz="2800" b="1" i="0">
                <a:solidFill>
                  <a:srgbClr val="B02E2E"/>
                </a:solidFill>
                <a:latin typeface="Calibri"/>
              </a:rPr>
              <a:t>Do not build the onboarding programme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hort_gradient.png"/>
          <p:cNvPicPr>
            <a:picLocks noChangeAspect="1"/>
          </p:cNvPicPr>
          <p:nvPr/>
        </p:nvPicPr>
        <p:blipFill>
          <a:blip r:embed="rId2"/>
          <a:stretch>
            <a:fillRect/>
          </a:stretch>
        </p:blipFill>
        <p:spPr>
          <a:xfrm>
            <a:off x="3590694" y="1627632"/>
            <a:ext cx="5010307" cy="2743200"/>
          </a:xfrm>
          <a:prstGeom prst="rect">
            <a:avLst/>
          </a:prstGeom>
        </p:spPr>
      </p:pic>
      <p:sp>
        <p:nvSpPr>
          <p:cNvPr id="5" name="TextBox 4"/>
          <p:cNvSpPr txBox="1"/>
          <p:nvPr/>
        </p:nvSpPr>
        <p:spPr>
          <a:xfrm>
            <a:off x="685800" y="4526280"/>
            <a:ext cx="10820095" cy="4572000"/>
          </a:xfrm>
          <a:prstGeom prst="rect">
            <a:avLst/>
          </a:prstGeom>
          <a:noFill/>
        </p:spPr>
        <p:txBody>
          <a:bodyPr wrap="square">
            <a:spAutoFit/>
          </a:bodyPr>
          <a:lstStyle/>
          <a:p>
            <a:pPr>
              <a:spcAft>
                <a:spcPts val="400"/>
              </a:spcAft>
            </a:pPr>
            <a:r>
              <a:rPr sz="1250" b="1" i="0">
                <a:solidFill>
                  <a:srgbClr val="1A1A1A"/>
                </a:solidFill>
                <a:latin typeface="Calibri"/>
              </a:rPr>
              <a:t>New customers look fragile, and risk looks like it falls with age. That is the usual reason to fund onboarding, and the evidence for it looks strong: 30-day survival drops from 0.98 for the 2023 intake to 0.59 for the 2024 one, measured at the same age.</a:t>
            </a:r>
          </a:p>
          <a:p>
            <a:pPr>
              <a:spcAft>
                <a:spcPts val="400"/>
              </a:spcAft>
            </a:pPr>
            <a:r>
              <a:rPr sz="1250" b="1" i="0">
                <a:solidFill>
                  <a:srgbClr val="B02E2E"/>
                </a:solidFill>
                <a:latin typeface="Calibri"/>
              </a:rPr>
              <a:t>It is the same random date. A customer who joined recently has a shorter window for that date to land in, so a larger share of their draws fall inside any 90-day question we ask. They look worse at every age without anything about them being worse.</a:t>
            </a:r>
          </a:p>
          <a:p>
            <a:pPr>
              <a:spcAft>
                <a:spcPts val="400"/>
              </a:spcAft>
            </a:pPr>
            <a:r>
              <a:rPr sz="1250" b="1" i="0">
                <a:solidFill>
                  <a:srgbClr val="1A1A1A"/>
                </a:solidFill>
                <a:latin typeface="Calibri"/>
              </a:rPr>
              <a:t>Simulated data with no tenure effect in it at all clears the significance bar in 93% of runs, and does so more strongly than the real data does (p = 0.002 against 0.006). Within one joining month there is nothing left: a day-300 customer leaves as often as a day-10 one.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recommendation does not change; the reason for it gets one layer deeper. This is the same finding as slide 11, applied to a spending decision instead of an investigation.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3</a:t>
            </a:r>
          </a:p>
          <a:p>
            <a:pPr>
              <a:spcBef>
                <a:spcPts val="400"/>
              </a:spcBef>
            </a:pPr>
            <a:r>
              <a:rPr sz="2800" b="1" i="0">
                <a:solidFill>
                  <a:srgbClr val="1E7A4B"/>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breakeven_grid.png"/>
          <p:cNvPicPr>
            <a:picLocks noChangeAspect="1"/>
          </p:cNvPicPr>
          <p:nvPr/>
        </p:nvPicPr>
        <p:blipFill>
          <a:blip r:embed="rId2"/>
          <a:stretch>
            <a:fillRect/>
          </a:stretch>
        </p:blipFill>
        <p:spPr>
          <a:xfrm>
            <a:off x="3492925" y="1645920"/>
            <a:ext cx="5205845" cy="301752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00" b="1" i="0">
                <a:solidFill>
                  <a:srgbClr val="1A1A1A"/>
                </a:solidFill>
                <a:latin typeface="Calibri"/>
              </a:rPr>
              <a:t>A call costs about $150. A customer is worth about $7,300. If the call works one time in five, it pays for itself on any customer with more than a 10% chance of leaving. In this group, 31% leave.</a:t>
            </a:r>
          </a:p>
          <a:p>
            <a:pPr>
              <a:spcAft>
                <a:spcPts val="900"/>
              </a:spcAft>
            </a:pPr>
            <a:r>
              <a:rPr sz="1300" b="1" i="0">
                <a:solidFill>
                  <a:srgbClr val="1E7A4B"/>
                </a:solidFill>
                <a:latin typeface="Calibri"/>
              </a:rPr>
              <a:t>So calling everyone already makes money, and no ranking can improve on a decision that is right for every customer. Using the model adds $600 on top of $52,400. That is a 1% gain, and even that is generous.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This is one division. Had I run it first, it would have shown that a working model was never the thing standing between us and the decision.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TESTING APPROACH</a:t>
            </a:r>
          </a:p>
          <a:p>
            <a:pPr>
              <a:spcBef>
                <a:spcPts val="400"/>
              </a:spcBef>
            </a:pPr>
            <a:r>
              <a:rPr sz="2800" b="1" i="0">
                <a:solidFill>
                  <a:srgbClr val="1A1A1A"/>
                </a:solidFill>
                <a:latin typeface="Calibri"/>
              </a:rPr>
              <a:t>How I would test this, and what is worth testing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experiment_power.png"/>
          <p:cNvPicPr>
            <a:picLocks noChangeAspect="1"/>
          </p:cNvPicPr>
          <p:nvPr/>
        </p:nvPicPr>
        <p:blipFill>
          <a:blip r:embed="rId2"/>
          <a:stretch>
            <a:fillRect/>
          </a:stretch>
        </p:blipFill>
        <p:spPr>
          <a:xfrm>
            <a:off x="6492240" y="1737360"/>
            <a:ext cx="5344328" cy="2926080"/>
          </a:xfrm>
          <a:prstGeom prst="rect">
            <a:avLst/>
          </a:prstGeom>
        </p:spPr>
      </p:pic>
      <p:sp>
        <p:nvSpPr>
          <p:cNvPr id="5" name="TextBox 4"/>
          <p:cNvSpPr txBox="1"/>
          <p:nvPr/>
        </p:nvSpPr>
        <p:spPr>
          <a:xfrm>
            <a:off x="685800" y="1719072"/>
            <a:ext cx="5486400" cy="4572000"/>
          </a:xfrm>
          <a:prstGeom prst="rect">
            <a:avLst/>
          </a:prstGeom>
          <a:noFill/>
        </p:spPr>
        <p:txBody>
          <a:bodyPr wrap="square">
            <a:spAutoFit/>
          </a:bodyPr>
          <a:lstStyle/>
          <a:p>
            <a:pPr>
              <a:spcAft>
                <a:spcPts val="900"/>
              </a:spcAft>
            </a:pPr>
            <a:r>
              <a:rPr sz="1400" b="1" i="0">
                <a:solidFill>
                  <a:srgbClr val="1A1A1A"/>
                </a:solidFill>
                <a:latin typeface="Calibri"/>
              </a:rPr>
              <a:t>Recommendation 1 is not an experiment. It is a data request.</a:t>
            </a:r>
          </a:p>
          <a:p>
            <a:pPr lvl="1">
              <a:spcAft>
                <a:spcPts val="900"/>
              </a:spcAft>
            </a:pPr>
            <a:r>
              <a:rPr sz="1200" b="0" i="0">
                <a:solidFill>
                  <a:srgbClr val="5A6270"/>
                </a:solidFill>
                <a:latin typeface="Calibri"/>
              </a:rPr>
              <a:t>Nothing in this extract can say why customers leave, because the timestamps were never recorded against the customers they belong to. Ask for an export where they are, then rerun this pipeline and compare against the score written down today.</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Recommendation 3 is a proper experiment.</a:t>
            </a:r>
          </a:p>
          <a:p>
            <a:pPr lvl="1">
              <a:spcAft>
                <a:spcPts val="900"/>
              </a:spcAft>
            </a:pPr>
            <a:r>
              <a:rPr sz="1200" b="0" i="0">
                <a:solidFill>
                  <a:srgbClr val="5A6270"/>
                </a:solidFill>
                <a:latin typeface="Calibri"/>
              </a:rPr>
              <a:t>Split the at-risk customers in half at random. One half gets a call, one half does not. Measure retention after 180 days, and measure money kept as well, so a costly save is not mistaken for a win.</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But be realistic about what we can detect.</a:t>
            </a:r>
          </a:p>
          <a:p>
            <a:pPr lvl="1">
              <a:spcAft>
                <a:spcPts val="900"/>
              </a:spcAft>
            </a:pPr>
            <a:r>
              <a:rPr sz="1200" b="0" i="0">
                <a:solidFill>
                  <a:srgbClr val="5A6270"/>
                </a:solidFill>
                <a:latin typeface="Calibri"/>
              </a:rPr>
              <a:t>At about 21 new customers a month, only a very large effect can be proved:</a:t>
            </a:r>
          </a:p>
          <a:p>
            <a:pPr lvl="1">
              <a:spcAft>
                <a:spcPts val="900"/>
              </a:spcAft>
            </a:pPr>
            <a:r>
              <a:rPr sz="1200" b="0" i="0">
                <a:solidFill>
                  <a:srgbClr val="5A6270"/>
                </a:solidFill>
                <a:latin typeface="Calibri"/>
              </a:rPr>
              <a:t>Halving churn takes about 15 months to show.</a:t>
            </a:r>
          </a:p>
          <a:p>
            <a:pPr lvl="1">
              <a:spcAft>
                <a:spcPts val="900"/>
              </a:spcAft>
            </a:pPr>
            <a:r>
              <a:rPr sz="1200" b="0" i="0">
                <a:solidFill>
                  <a:srgbClr val="5A6270"/>
                </a:solidFill>
                <a:latin typeface="Calibri"/>
              </a:rPr>
              <a:t>A 5 point improvement would take over 10 years.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Two separate methods agree on this. A standard power calculation and a simulation both say we cannot detect anything smaller than about a 15 point change.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MENTORSHIP</a:t>
            </a:r>
          </a:p>
          <a:p>
            <a:pPr>
              <a:spcBef>
                <a:spcPts val="400"/>
              </a:spcBef>
            </a:pPr>
            <a:r>
              <a:rPr sz="2800" b="1" i="0">
                <a:solidFill>
                  <a:srgbClr val="1A1A1A"/>
                </a:solidFill>
                <a:latin typeface="Calibri"/>
              </a:rPr>
              <a:t>What I would teach a junior engineer</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400"/>
              </a:spcAft>
            </a:pPr>
            <a:r>
              <a:rPr sz="1300" b="1" i="0">
                <a:solidFill>
                  <a:srgbClr val="1A1A1A"/>
                </a:solidFill>
                <a:latin typeface="Calibri"/>
              </a:rPr>
              <a:t>I would hand them my own worst mistake on this project, because that is where the judgement that transfers to other work lives.</a:t>
            </a:r>
          </a:p>
          <a:p>
            <a:pPr>
              <a:spcAft>
                <a:spcPts val="400"/>
              </a:spcAft>
            </a:pPr>
            <a:r>
              <a:rPr sz="600" b="0" i="0">
                <a:solidFill>
                  <a:srgbClr val="1A1A1A"/>
                </a:solidFill>
                <a:latin typeface="Calibri"/>
              </a:rPr>
              <a:t> </a:t>
            </a:r>
          </a:p>
          <a:p>
            <a:pPr>
              <a:spcAft>
                <a:spcPts val="400"/>
              </a:spcAft>
            </a:pPr>
            <a:r>
              <a:rPr sz="1300" b="1" i="0">
                <a:solidFill>
                  <a:srgbClr val="B02E2E"/>
                </a:solidFill>
                <a:latin typeface="Calibri"/>
              </a:rPr>
              <a:t>1. Be hardest on the finding you like.</a:t>
            </a:r>
          </a:p>
          <a:p>
            <a:pPr lvl="1">
              <a:spcAft>
                <a:spcPts val="400"/>
              </a:spcAft>
            </a:pPr>
            <a:r>
              <a:rPr sz="1100" b="0" i="0">
                <a:solidFill>
                  <a:srgbClr val="5A6270"/>
                </a:solidFill>
                <a:latin typeface="Calibri"/>
              </a:rPr>
              <a:t>I had one positive result and a page of nulls, and I checked the nulls. The positive one was manufactured by the file. Ask of any finding: what else could have produced this, and can I generate it from nothing?</a:t>
            </a:r>
          </a:p>
          <a:p>
            <a:pPr>
              <a:spcAft>
                <a:spcPts val="400"/>
              </a:spcAft>
            </a:pPr>
            <a:r>
              <a:rPr sz="1300" b="1" i="0">
                <a:solidFill>
                  <a:srgbClr val="B02E2E"/>
                </a:solidFill>
                <a:latin typeface="Calibri"/>
              </a:rPr>
              <a:t>2. A small p-value is not evidence. It is evidence against one null.</a:t>
            </a:r>
          </a:p>
          <a:p>
            <a:pPr lvl="1">
              <a:spcAft>
                <a:spcPts val="400"/>
              </a:spcAft>
            </a:pPr>
            <a:r>
              <a:rPr sz="1100" b="0" i="0">
                <a:solidFill>
                  <a:srgbClr val="5A6270"/>
                </a:solidFill>
                <a:latin typeface="Calibri"/>
              </a:rPr>
              <a:t>p = 2e-16 felt unarguable. Random dates gave p = 3e-16. If the null is the wrong one, no amount of significance rescues it.</a:t>
            </a:r>
          </a:p>
          <a:p>
            <a:pPr>
              <a:spcAft>
                <a:spcPts val="400"/>
              </a:spcAft>
            </a:pPr>
            <a:r>
              <a:rPr sz="1300" b="1" i="0">
                <a:solidFill>
                  <a:srgbClr val="1A1A1A"/>
                </a:solidFill>
                <a:latin typeface="Calibri"/>
              </a:rPr>
              <a:t>3. Start with the target, not the model.</a:t>
            </a:r>
          </a:p>
          <a:p>
            <a:pPr lvl="1">
              <a:spcAft>
                <a:spcPts val="400"/>
              </a:spcAft>
            </a:pPr>
            <a:r>
              <a:rPr sz="1100" b="0" i="0">
                <a:solidFill>
                  <a:srgbClr val="5A6270"/>
                </a:solidFill>
                <a:latin typeface="Calibri"/>
              </a:rPr>
              <a:t>My first version modelled a flag unrelated to the event log. Counting rows found it. Then check your own check: I first called 38% agreement ‘worse than a coin flip’, and it is not — for two columns this different in size, chance agreement is 39%, not 50%.</a:t>
            </a:r>
          </a:p>
          <a:p>
            <a:pPr>
              <a:spcAft>
                <a:spcPts val="400"/>
              </a:spcAft>
            </a:pPr>
            <a:r>
              <a:rPr sz="1300" b="1" i="0">
                <a:solidFill>
                  <a:srgbClr val="1A1A1A"/>
                </a:solidFill>
                <a:latin typeface="Calibri"/>
              </a:rPr>
              <a:t>4. Ask of every column: would I really have this on the day I predict?</a:t>
            </a:r>
          </a:p>
          <a:p>
            <a:pPr lvl="1">
              <a:spcAft>
                <a:spcPts val="400"/>
              </a:spcAft>
            </a:pPr>
            <a:r>
              <a:rPr sz="1100" b="0" i="0">
                <a:solidFill>
                  <a:srgbClr val="5A6270"/>
                </a:solidFill>
                <a:latin typeface="Calibri"/>
              </a:rPr>
              <a:t>Then write the check down so a machine runs it. Reading caught the obvious problem; the automatic check caught the one I missed.</a:t>
            </a:r>
          </a:p>
          <a:p>
            <a:pPr>
              <a:spcAft>
                <a:spcPts val="400"/>
              </a:spcAft>
            </a:pPr>
            <a:r>
              <a:rPr sz="1300" b="1" i="0">
                <a:solidFill>
                  <a:srgbClr val="1A1A1A"/>
                </a:solidFill>
                <a:latin typeface="Calibri"/>
              </a:rPr>
              <a:t>5. Find the floor, and report the range.</a:t>
            </a:r>
          </a:p>
          <a:p>
            <a:pPr lvl="1">
              <a:spcAft>
                <a:spcPts val="400"/>
              </a:spcAft>
            </a:pPr>
            <a:r>
              <a:rPr sz="1100" b="0" i="0">
                <a:solidFill>
                  <a:srgbClr val="5A6270"/>
                </a:solidFill>
                <a:latin typeface="Calibri"/>
              </a:rPr>
              <a:t>Always run the model with no features first. A range that includes guessing says something the average hides.</a:t>
            </a:r>
          </a:p>
          <a:p>
            <a:pPr>
              <a:spcAft>
                <a:spcPts val="400"/>
              </a:spcAft>
            </a:pPr>
            <a:r>
              <a:rPr sz="1300" b="1" i="0">
                <a:solidFill>
                  <a:srgbClr val="2E5F8A"/>
                </a:solidFill>
                <a:latin typeface="Calibri"/>
              </a:rPr>
              <a:t>6. Choosing a model is part of fitting it.</a:t>
            </a:r>
          </a:p>
          <a:p>
            <a:pPr lvl="1">
              <a:spcAft>
                <a:spcPts val="400"/>
              </a:spcAft>
            </a:pPr>
            <a:r>
              <a:rPr sz="1100" b="0" i="0">
                <a:solidFill>
                  <a:srgbClr val="5A6270"/>
                </a:solidFill>
                <a:latin typeface="Calibri"/>
              </a:rPr>
              <a:t>Here the gap between the best model and the honest score was the entire apparent signal.</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would teach all of it as experiments rather than lectures. Switch off the banned column list and watch AUC jump from 0.58 to 0.79. Then simulate a dataset with nothing in it and watch it produce a publishable-looking trend.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and this extract cannot be repaired into one — the timestamps have to be collected against the right customers, not corrected. Once they are, the pipeline takes a date, so re-measuring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4135</Words>
  <Application>Microsoft Office PowerPoint</Application>
  <PresentationFormat>Widescreen</PresentationFormat>
  <Paragraphs>193</Paragraphs>
  <Slides>16</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Dmitriy Ratushny</cp:lastModifiedBy>
  <cp:revision>1</cp:revision>
  <dcterms:created xsi:type="dcterms:W3CDTF">2013-01-27T09:14:16Z</dcterms:created>
  <dcterms:modified xsi:type="dcterms:W3CDTF">2026-07-28T21:40:27Z</dcterms:modified>
  <cp:category/>
</cp:coreProperties>
</file>