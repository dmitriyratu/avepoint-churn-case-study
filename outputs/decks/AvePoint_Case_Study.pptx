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21" dt="2026-07-28T23:21:04.1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300" y="-6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modSld">
      <pc:chgData name="Dmitriy Ratushny" userId="08050032e8047aee" providerId="LiveId" clId="{78EB1A6D-D3A9-4525-A4D5-A50D4E20D487}" dt="2026-07-28T23:21:18.353" v="326" actId="20577"/>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8T23:21:18.353" v="326" actId="20577"/>
        <pc:sldMkLst>
          <pc:docMk/>
          <pc:sldMk cId="0" sldId="257"/>
        </pc:sldMkLst>
        <pc:spChg chg="mod">
          <ac:chgData name="Dmitriy Ratushny" userId="08050032e8047aee" providerId="LiveId" clId="{78EB1A6D-D3A9-4525-A4D5-A50D4E20D487}" dt="2026-07-28T23:21:18.353" v="326"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8T23:06:28.700" v="110" actId="1076"/>
          <ac:picMkLst>
            <pc:docMk/>
            <pc:sldMk cId="0" sldId="257"/>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594108"/>
            <a:ext cx="10820095" cy="3277820"/>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definition is </a:t>
            </a:r>
            <a:r>
              <a:rPr lang="en-US" sz="1200" b="1" dirty="0">
                <a:solidFill>
                  <a:schemeClr val="tx2"/>
                </a:solidFill>
              </a:rPr>
              <a:t>churn_events.churn_date</a:t>
            </a:r>
            <a:r>
              <a:rPr lang="en-US" sz="1200" dirty="0">
                <a:solidFill>
                  <a:srgbClr val="5A6270"/>
                </a:solidFill>
              </a:rPr>
              <a:t>. "Still a customer" is a subscriptions row open on that </a:t>
            </a:r>
            <a:r>
              <a:rPr lang="en-US" sz="1200">
                <a:solidFill>
                  <a:srgbClr val="5A6270"/>
                </a:solidFill>
              </a:rPr>
              <a:t>date.</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279400" y="4953103"/>
            <a:ext cx="8233726" cy="185839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For the model</a:t>
            </a:r>
          </a:p>
          <a:p>
            <a:pPr lvl="1">
              <a:spcAft>
                <a:spcPts val="900"/>
              </a:spcAft>
            </a:pPr>
            <a:r>
              <a:rPr sz="1400" b="0" i="0">
                <a:solidFill>
                  <a:srgbClr val="5A6270"/>
                </a:solidFill>
                <a:latin typeface="Calibri"/>
              </a:rPr>
              <a:t>ROC-AUC measures how well the model sorts customers by risk. 0.5 means it is guessing. I always report a range around it, never a single number.</a:t>
            </a:r>
          </a:p>
          <a:p>
            <a:pPr lvl="1">
              <a:spcAft>
                <a:spcPts val="900"/>
              </a:spcAft>
            </a:pPr>
            <a:r>
              <a:rPr sz="1400" b="0" i="0">
                <a:solidFill>
                  <a:srgbClr val="5A6270"/>
                </a:solidFill>
                <a:latin typeface="Calibri"/>
              </a:rPr>
              <a:t>I also report precision and recall, because they say what the CS team actually experiences when they work the list.</a:t>
            </a:r>
          </a:p>
          <a:p>
            <a:pPr lvl="1">
              <a:spcAft>
                <a:spcPts val="900"/>
              </a:spcAft>
            </a:pPr>
            <a:r>
              <a:rPr sz="1400" b="0" i="0">
                <a:solidFill>
                  <a:srgbClr val="5A6270"/>
                </a:solidFill>
                <a:latin typeface="Calibri"/>
              </a:rPr>
              <a:t>The headline number comes from nested cross-validation. That is the only version that accounts for the fact that I also chose the model.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For the business</a:t>
            </a:r>
          </a:p>
          <a:p>
            <a:pPr lvl="1">
              <a:spcAft>
                <a:spcPts val="900"/>
              </a:spcAft>
            </a:pPr>
            <a:r>
              <a:rPr sz="1400" b="0" i="0">
                <a:solidFill>
                  <a:srgbClr val="5A6270"/>
                </a:solidFill>
                <a:latin typeface="Calibri"/>
              </a:rPr>
              <a:t>Retention 180 days after any change we make.</a:t>
            </a:r>
          </a:p>
          <a:p>
            <a:pPr lvl="1">
              <a:spcAft>
                <a:spcPts val="900"/>
              </a:spcAft>
            </a:pPr>
            <a:r>
              <a:rPr sz="1400" b="0" i="0">
                <a:solidFill>
                  <a:srgbClr val="5A6270"/>
                </a:solidFill>
                <a:latin typeface="Calibri"/>
              </a:rPr>
              <a:t>Money kept, so that a saved customer who needed a large discount is not counted as a win.</a:t>
            </a:r>
          </a:p>
          <a:p>
            <a:pPr lvl="1">
              <a:spcAft>
                <a:spcPts val="900"/>
              </a:spcAft>
            </a:pPr>
            <a:r>
              <a:rPr sz="1400" b="0" i="0">
                <a:solidFill>
                  <a:srgbClr val="5A6270"/>
                </a:solidFill>
                <a:latin typeface="Calibri"/>
              </a:rPr>
              <a:t>Value of the campaign compared with calling everyone. Zero is the wrong thing to compare against.</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Limits I set before starting</a:t>
            </a:r>
          </a:p>
          <a:p>
            <a:pPr lvl="1">
              <a:spcAft>
                <a:spcPts val="900"/>
              </a:spcAft>
            </a:pPr>
            <a:r>
              <a:rPr sz="1400" b="0" i="0">
                <a:solidFill>
                  <a:srgbClr val="5A6270"/>
                </a:solidFill>
                <a:latin typeface="Calibri"/>
              </a:rPr>
              <a:t>The model has to beat guessing at the bottom of its range, not just on average. It also has to beat simply calling every customer.</a:t>
            </a:r>
          </a:p>
          <a:p>
            <a:pPr lvl="1">
              <a:spcAft>
                <a:spcPts val="900"/>
              </a:spcAft>
            </a:pPr>
            <a:r>
              <a:rPr sz="1400" b="0" i="0">
                <a:solidFill>
                  <a:srgbClr val="5A6270"/>
                </a:solidFill>
                <a:latin typeface="Calibri"/>
              </a:rPr>
              <a:t>Scores order a call list. They never trigger an action on their own.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B02E2E"/>
                </a:solidFill>
                <a:latin typeface="Calibri"/>
              </a:rPr>
              <a:t>Two of the five tables are not joined to their customers in time.</a:t>
            </a:r>
          </a:p>
          <a:p>
            <a:pPr lvl="1">
              <a:spcAft>
                <a:spcPts val="500"/>
              </a:spcAft>
            </a:pPr>
            <a:r>
              <a:rPr sz="1200" b="0" i="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a:solidFill>
                  <a:srgbClr val="5A6270"/>
                </a:solidFill>
                <a:latin typeface="Calibri"/>
              </a:rPr>
              <a:t>Satisfaction is documented as a 1 to 5 score, but only ever takes the values 3, 4 and 5.</a:t>
            </a:r>
          </a:p>
          <a:p>
            <a:pPr lvl="1">
              <a:spcAft>
                <a:spcPts val="500"/>
              </a:spcAft>
            </a:pPr>
            <a:r>
              <a:rPr sz="1200" b="0" i="0">
                <a:solidFill>
                  <a:srgbClr val="5A6270"/>
                </a:solidFill>
                <a:latin typeface="Calibri"/>
              </a:rPr>
              <a:t>There are three ways to say a customer churned. All three agree for only 20% of customers.</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Assumptions I am making</a:t>
            </a:r>
          </a:p>
          <a:p>
            <a:pPr lvl="1">
              <a:spcAft>
                <a:spcPts val="500"/>
              </a:spcAft>
            </a:pPr>
            <a:r>
              <a:rPr sz="1200" b="0" i="0">
                <a:solidFill>
                  <a:srgbClr val="5A6270"/>
                </a:solidFill>
                <a:latin typeface="Calibri"/>
              </a:rPr>
              <a:t>A 90 day window and a 30 June 2024 cutoff. I picked both before testing anything, so they are not chosen to flatter the result.</a:t>
            </a:r>
          </a:p>
          <a:p>
            <a:pPr lvl="1">
              <a:spcAft>
                <a:spcPts val="500"/>
              </a:spcAft>
            </a:pPr>
            <a:r>
              <a:rPr sz="1200" b="0" i="0">
                <a:solidFill>
                  <a:srgbClr val="5A6270"/>
                </a:solidFill>
                <a:latin typeface="Calibri"/>
              </a:rPr>
              <a:t>Customers still active when the data ends are treated as unknown, not as successes.</a:t>
            </a:r>
          </a:p>
          <a:p>
            <a:pPr lvl="1">
              <a:spcAft>
                <a:spcPts val="500"/>
              </a:spcAft>
            </a:pPr>
            <a:r>
              <a:rPr sz="1200" b="0" i="0">
                <a:solidFill>
                  <a:srgbClr val="5A6270"/>
                </a:solidFill>
                <a:latin typeface="Calibri"/>
              </a:rPr>
              <a:t>This is a generated dataset, so every finding is tested against a null that imitates the generator — including the findings I liked. Slide 11 is that test, and it is the one that changed the answer.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4141</Words>
  <Application>Microsoft Office PowerPoint</Application>
  <PresentationFormat>Widescreen</PresentationFormat>
  <Paragraphs>192</Paragraphs>
  <Slides>16</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2026-07-28T23:21:18Z</dcterms:modified>
  <cp:category/>
</cp:coreProperties>
</file>