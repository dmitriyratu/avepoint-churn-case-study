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deck is organised around the three questions the product team asked. Two answers are negative; the negatives are the substance.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payoff slide. The same-sized customer base leaves four times faster at the end of the window than at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03120"/>
            <a:ext cx="108200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A1A1A"/>
                </a:solidFill>
                <a:latin typeface="Calibri"/>
              </a:rPr>
              <a:t>SaaS Churn — Detailed Analysis</a:t>
            </a:r>
          </a:p>
          <a:p>
            <a:pPr>
              <a:spcBef>
                <a:spcPts val="1400"/>
              </a:spcBef>
            </a:pPr>
            <a:r>
              <a:rPr sz="1900" b="0" i="0">
                <a:solidFill>
                  <a:srgbClr val="6B7280"/>
                </a:solidFill>
                <a:latin typeface="Calibri"/>
              </a:rPr>
              <a:t>RavenStack dataset · 500 accounts · why they leave, whether we can predict it, and what to do</a:t>
            </a:r>
          </a:p>
          <a:p>
            <a:pPr>
              <a:spcBef>
                <a:spcPts val="2600"/>
              </a:spcBef>
            </a:pPr>
            <a:r>
              <a:rPr sz="2000" b="1" i="0">
                <a:solidFill>
                  <a:srgbClr val="2E5F8A"/>
                </a:solidFill>
                <a:latin typeface="Calibri"/>
              </a:rPr>
              <a:t>Headline: nothing about a customer predicts churn — but the date does.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THE BRIEF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A1A1A"/>
                </a:solidFill>
                <a:latin typeface="Calibri"/>
              </a:rPr>
              <a:t>Three questions, three answers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1. Why are users leaving?</a:t>
            </a:r>
          </a:p>
          <a:p>
            <a:pPr lvl="1">
              <a:spcAft>
                <a:spcPts val="11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Not who — when. Churn hazard rose 2.8x per year (p = 2e-16) on a flat customer base. No attribute, segment, tenure band or stated reason explains who leaves.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2. Can we predict churn before it happens?</a:t>
            </a:r>
          </a:p>
          <a:p>
            <a:pPr lvl="1">
              <a:spcAft>
                <a:spcPts val="11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No. Three independent formulations land at chance: nested CV 0.534, Cox concordance 0.509, Cox global p = 0.57.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3. What actions improve retention?</a:t>
            </a:r>
          </a:p>
          <a:p>
            <a:pPr lvl="1">
              <a:spcAft>
                <a:spcPts val="11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Not identifiable — no intervention is recorded anywhere in the schema. And the economics say targeting is unnecessary.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Answers 1 and 2 are the same fact: a factor that moves every account at once leaves no cross-sectional variance for a model to 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FRAMING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A1A1A"/>
                </a:solidFill>
                <a:latin typeface="Calibri"/>
              </a:rPr>
              <a:t>The supplied label was not usable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B02E2E"/>
                </a:solidFill>
                <a:latin typeface="Calibri"/>
              </a:rPr>
              <a:t>accounts.churn_flag has no date attached and disagrees with the churn event log for 312 of 500 accounts — 37.6% agreement.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Replaced with the standard temporal formulation: given everything observable on 2024-06-30, will this account churn within 90 days?</a:t>
            </a:r>
          </a:p>
          <a:p>
            <a:pPr lvl="1">
              <a:spcAft>
                <a:spcPts val="11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Eligible: signed up before the cutoff, subscription still open, not already churned  -&gt;  177 accounts</a:t>
            </a:r>
          </a:p>
          <a:p>
            <a:pPr lvl="1">
              <a:spcAft>
                <a:spcPts val="11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Label: first churn event inside the window  -&gt;  54 positives (30.5%)</a:t>
            </a:r>
          </a:p>
          <a:p>
            <a:pPr lvl="1">
              <a:spcAft>
                <a:spcPts val="11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Features: only rows dated before the cutoff; fields resolving after it are censored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2E5F8A"/>
                </a:solidFill>
                <a:latin typeface="Calibri"/>
              </a:rPr>
              <a:t>Found by counting, not by modelling. This is the single highest-leverage finding in the project.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QUESTION 2 — PREDICTION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A1A1A"/>
                </a:solidFill>
                <a:latin typeface="Calibri"/>
              </a:rPr>
              <a:t>Ten models, none clears chance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model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449" y="1737360"/>
            <a:ext cx="8008796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Repeated stratified CV, 5 folds x 10 repeats, identical folds. No rung clears 0.5 at the lower bound of its interval.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QUESTION 2 — PREDICTION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A1A1A"/>
                </a:solidFill>
                <a:latin typeface="Calibri"/>
              </a:rPr>
              <a:t>Choosing the winner is itself a fitting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Ladder maximum (optimistic):  0.583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Nested CV (honest):  0.534 ± 0.016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Chance:  0.500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B02E2E"/>
                </a:solidFill>
                <a:latin typeface="Calibri"/>
              </a:rPr>
              <a:t>Cost of selecting the winner:  0.049 — most of the apparent signal.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Across 25 outer folds, eight of the ten rungs won at least once. A genuinely better model wins consistently; eight winners is what selecting on noise looks like.</a:t>
            </a:r>
          </a:p>
          <a:p>
            <a:pPr lvl="1">
              <a:spcAft>
                <a:spcPts val="11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Same effect measured independently: best-of-15 classifiers on shuffled labels scores 0.566, and the real winner's selection-corrected p is 0.300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QUESTION 2 — PREDICTION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A1A1A"/>
                </a:solidFill>
                <a:latin typeface="Calibri"/>
              </a:rPr>
              <a:t>The signal does not survive a lead-time requirement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horizon_buffer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517" y="1737360"/>
            <a:ext cx="702866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Buffer = days of warning demanded. Every zero-buffer cell scores 0.56-0.59; every cell demanding 30-60 days drops to 0.42-0.52. Accurate too late to act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QUESTION 1 — WHY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2E5F8A"/>
                </a:solidFill>
                <a:latin typeface="Calibri"/>
              </a:rPr>
              <a:t>The one large effect: calendar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_calendar_haz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44" y="1737360"/>
            <a:ext cx="8601406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Poisson trend with log(at-risk) offset: rate ratio 1.089/month, 95% CI [1.067, 1.112], x2.8 per year, p = 2e-16. At-risk base flat at ~200 accounts, so this is not a growth artefact.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QUESTION 1 — WHY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A1A1A"/>
                </a:solidFill>
                <a:latin typeface="Calibri"/>
              </a:rPr>
              <a:t>A trap: the hazard falls sharply with tenure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_hazard_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826" y="1737360"/>
            <a:ext cx="7450042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Weibull rho = 0.737, 95% CI [0.673, 0.801], p = 1.7e-13 — the most emphatic result anywhere in the project. Read alone: churn is front-loaded, so fix onboarding.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QUESTION 1 — WHY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B02E2E"/>
                </a:solidFill>
                <a:latin typeface="Calibri"/>
              </a:rPr>
              <a:t>...and it disappears under decomposition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_cohort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147" y="1737360"/>
            <a:ext cx="651340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Within each signup cohort rho returns to 1 (0.87, 1.25, 1.17, 1.06, 0.88 — none significant). At fixed tenure, 30-day survival runs 0.98 (2023Q2) to 0.59 (2024Q4). Recent cohorts churn faster at every age and supply most of the short tenures.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CONSEQUENCE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B02E2E"/>
                </a:solidFill>
                <a:latin typeface="Calibri"/>
              </a:rPr>
              <a:t>This reverses a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Earlier in this project: "onboard the first 6 months harder" — resting on days_since_signup being the top single feature and on a tenure-band table.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B02E2E"/>
                </a:solidFill>
                <a:latin typeface="Calibri"/>
              </a:rPr>
              <a:t>Both are the same composition artefact seen through a weaker lens.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Within any signup cohort, churn is memoryless: an account at day 300 is as likely to leave next week as one at day 10.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B02E2E"/>
                </a:solidFill>
                <a:latin typeface="Calibri"/>
              </a:rPr>
              <a:t>Do not build the structured onboarding programme.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The earlier recommendation is left in the repo rather than quietly deleted, with the reversal recorded where it was found. The sequence is the lesson.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QUESTION 1 — WHY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A1A1A"/>
                </a:solidFill>
                <a:latin typeface="Calibri"/>
              </a:rPr>
              <a:t>The field that records "why" is noise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churn_events carries a reason_code and free-text comment for every departure. It fails three independent tests:</a:t>
            </a:r>
          </a:p>
          <a:p>
            <a:pPr lvl="1">
              <a:spcAft>
                <a:spcPts val="11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Distribution over 6 codes vs uniform:  chi-square p = 0.70  (no dominant cause)</a:t>
            </a:r>
          </a:p>
          <a:p>
            <a:pPr lvl="1">
              <a:spcAft>
                <a:spcPts val="11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Reason vs 9 behavioural measures, BH-corrected:  min p = 0.91</a:t>
            </a:r>
          </a:p>
          <a:p>
            <a:pPr lvl="1">
              <a:spcAft>
                <a:spcPts val="11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Reason code vs the customer's own free text:  Cramer's V = 0.09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B02E2E"/>
                </a:solidFill>
                <a:latin typeface="Calibri"/>
              </a:rPr>
              <a:t>Accounts coded "support" have the same ticket counts and satisfaction scores as accounts coded "pricing". Accounts coded "features" used the same number of features as everyone else.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2E5F8A"/>
                </a:solidFill>
                <a:latin typeface="Calibri"/>
              </a:rPr>
              <a:t>A "top churn reasons" chart from this field would be confident and entirely fictional — the most likely wrong output of this dataset.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QUESTION 1 — WHY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A1A1A"/>
                </a:solidFill>
                <a:latin typeface="Calibri"/>
              </a:rPr>
              <a:t>The driver chart that would go in the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3_shap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183" y="1737360"/>
            <a:ext cx="5813329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TreeSHAP on the gradient booster. Reads as: support load per seat drives churn, then contract size, then tenure. All three are plausible, which is the problem.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QUESTION 1 — WHY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B02E2E"/>
                </a:solidFill>
                <a:latin typeface="Calibri"/>
              </a:rPr>
              <a:t>The same chart from shuffled labels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3_shap_n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462" y="1783080"/>
            <a:ext cx="616077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983480"/>
            <a:ext cx="108200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1" i="0">
                <a:solidFill>
                  <a:srgbClr val="B02E2E"/>
                </a:solidFill>
                <a:latin typeface="Calibri"/>
              </a:rPr>
              <a:t>Top feature p = 0.24  ·  12 different features win across 25 bootstrap resamples  ·  permutation importance on held-out data is beaten by noise (p = 1.0)  ·  TreeSHAP and the logistic model share 2 of their top 10.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Explainability tooling has no failure mode: SHAP does not decline to rank when the model is worthless, and no library warns you.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QUESTION 3 — ACTIONS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A1A1A"/>
                </a:solidFill>
                <a:latin typeface="Calibri"/>
              </a:rPr>
              <a:t>No intervention exists, so nothing is identified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4_ate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961" y="1737360"/>
            <a:ext cx="7175772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983480"/>
            <a:ext cx="108200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Cross-fitted AIPW on four observational proxies. Every interval crosses zero; upgrade is closest at ATE -0.110, p = 0.14. Adjustment already ate part of the naive -0.126 — upgraders differ from non-upgraders by SMD 0.87 on subscription count, 0.81 on usage, 0.73 on tenure.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QUESTION 3 — ACTIONS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A1A1A"/>
                </a:solidFill>
                <a:latin typeface="Calibri"/>
              </a:rPr>
              <a:t>Two stress tests that end the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E-values 1.3 to 2.2.</a:t>
            </a:r>
          </a:p>
          <a:p>
            <a:pPr lvl="1">
              <a:spcAft>
                <a:spcPts val="11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A confounder associated with both upgrading and retention by a risk ratio of 2.2 erases the whole estimate. "The account was doing well" clears that easily — and is unmeasurable in this schema.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Placebo band ±15pp.</a:t>
            </a:r>
          </a:p>
          <a:p>
            <a:pPr lvl="1">
              <a:spcAft>
                <a:spcPts val="11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Running the entire AIPW pipeline on randomly assigned treatments, where the true effect is exactly zero, produces estimates up to ±0.15. Every observed estimate sits inside it.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2E5F8A"/>
                </a:solidFill>
                <a:latin typeface="Calibri"/>
              </a:rPr>
              <a:t>An independent closed-form power calculation puts the minimum detectable effect at 17.2%. Two methods, two points apart.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Uplift modelling does not rescue it: Qini p = 0.30, and treatment was self-selected, so ranked uplift mixes effect with selection.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QUESTION 3 — ACTIONS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E7A4B"/>
                </a:solidFill>
                <a:latin typeface="Calibri"/>
              </a:rPr>
              <a:t>The arithmetic that should have come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5_breakeve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172" y="1737360"/>
            <a:ext cx="5521351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074920"/>
            <a:ext cx="108200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 i="0">
                <a:solidFill>
                  <a:srgbClr val="1E7A4B"/>
                </a:solidFill>
                <a:latin typeface="Calibri"/>
              </a:rPr>
              <a:t>Break-even churn probability 10.3%  ·  cohort base rate 30.5%  -&gt;  contact everyone. A ranking cannot improve on a policy that is correct for everyone.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CLV $7,310 integrated from the measured survival curve. Model best threshold nets $53,000 against $52,400 for treat-all — a 1% gain, itself optimistic from in-sample threshold selection.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QUESTION 3 — ACTIONS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A1A1A"/>
                </a:solidFill>
                <a:latin typeface="Calibri"/>
              </a:rPr>
              <a:t>Only a churn-halving effect is testable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5_experiment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642" y="1737360"/>
            <a:ext cx="668041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At ~21 signups/month: 15pp reads out in ~15 months; 5pp needs 2,527 accounts and over ten years. A fact about having 500 customers, not about the analysis.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RECOMMENDATIONS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A1A1A"/>
                </a:solidFill>
                <a:latin typeface="Calibri"/>
              </a:rPr>
              <a:t>In order of leverage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1.  Find what changed between 2023 and 2024.</a:t>
            </a:r>
          </a:p>
          <a:p>
            <a:pPr lvl="1">
              <a:spcAft>
                <a:spcPts val="11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Hazard x2.8/yr on a flat base. An order of magnitude larger than anything account-level. The extract holds no calendar-varying covariate — no pricing log, no release history, no competitor events.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2.  Fix the churn label and the usage timestamps.</a:t>
            </a:r>
          </a:p>
          <a:p>
            <a:pPr lvl="1">
              <a:spcAft>
                <a:spcPts val="11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Three definitions agree on 20% of accounts; 19,128 of 24,979 usage rows predate their own subscription.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3.  Contact the whole at-risk cohort. Do not rank it.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4.  Instrument interventions — every CSM touch, discount and campaign.</a:t>
            </a:r>
          </a:p>
          <a:p>
            <a:pPr lvl="1">
              <a:spcAft>
                <a:spcPts val="11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Without this, question 3 stays unanswerable at any sample size.</a:t>
            </a:r>
          </a:p>
          <a:p>
            <a:pPr>
              <a:spcAft>
                <a:spcPts val="1100"/>
              </a:spcAft>
            </a:pPr>
            <a:r>
              <a:rPr sz="1700" b="1" i="0">
                <a:solidFill>
                  <a:srgbClr val="B02E2E"/>
                </a:solidFill>
                <a:latin typeface="Calibri"/>
              </a:rPr>
              <a:t>5.  Do not build the onboarding programme.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B7280"/>
                </a:solidFill>
                <a:latin typeface="Calibri"/>
              </a:rPr>
              <a:t>HOW THIS WAS KEPT HONEST</a:t>
            </a:r>
          </a:p>
          <a:p>
            <a:pPr>
              <a:spcBef>
                <a:spcPts val="400"/>
              </a:spcBef>
            </a:pPr>
            <a:r>
              <a:rPr sz="3000" b="1" i="0">
                <a:solidFill>
                  <a:srgbClr val="1A1A1A"/>
                </a:solidFill>
                <a:latin typeface="Calibri"/>
              </a:rPr>
              <a:t>Every claimed pattern has a null to beat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481328"/>
            <a:ext cx="10820095" cy="9525"/>
          </a:xfrm>
          <a:prstGeom prst="rect">
            <a:avLst/>
          </a:prstGeom>
          <a:solidFill>
            <a:srgbClr val="D8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Automated leakage suite gates every reported number — temporal provenance, forbidden columns by name, single-feature AUC, identifier leakage. It caught a leak code review missed.</a:t>
            </a:r>
          </a:p>
          <a:p>
            <a:pPr lvl="1">
              <a:spcAft>
                <a:spcPts val="11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Post-outcome columns are worth +0.37 AUC and land at a plausible 0.79, not an obviously broken 0.99 — which is what makes them dangerous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51 tests. Three pin bugs that were live and produced plausible output:</a:t>
            </a:r>
          </a:p>
          <a:p>
            <a:pPr lvl="1">
              <a:spcAft>
                <a:spcPts val="11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a propensity trim that silently trimmed nothing; an AIPW estimate that left [0,1] (a -0.17 churn rate); a KM interval that disagreed with its own point estimate</a:t>
            </a:r>
          </a:p>
          <a:p>
            <a:pPr>
              <a:spcAft>
                <a:spcPts val="1100"/>
              </a:spcAft>
            </a:pPr>
            <a:r>
              <a:rPr sz="1700" b="0" i="0">
                <a:solidFill>
                  <a:srgbClr val="2E5F8A"/>
                </a:solidFill>
                <a:latin typeface="Calibri"/>
              </a:rPr>
              <a:t>Nulls throughout: shuffled-label SHAP, selection-corrected p for the classifier sweep, placebo treatments for AIPW, permutation null for segment gaps, positive controls for the pipeline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7280"/>
                </a:solidFill>
                <a:latin typeface="Calibri"/>
              </a:rPr>
              <a:t>15 notebooks, ~26 min end to end, all regenerated from source.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