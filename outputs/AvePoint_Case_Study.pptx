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to forty minutes, five parts, following the brief. I say the headline up front because the value of this work is in proving the negative properly and in what we do anyway.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target problem. It is the highest-value finding and it shows the instinct to check the label before fitting anything.</a:t>
            </a:r>
          </a:p>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p>
            <a:r>
              <a:t>Pre-empt the obvious follow-up: 'so invert the flag and you get 62%'. No. Inverted it scores 62.4% against 61.4% expected by chance, kappa +0.03. There is no information in it either way round.</a:t>
            </a:r>
          </a:p>
          <a:p/>
          <a:p>
            <a:r>
              <a:t>The subscription line is the strongest part because it never touches the flag: 386 churn events can be compared to a subscription ending, and only 6 land on the same day. Median gap 62 days. All three recordings of 'this customer left' are mutually unrelated.</a:t>
            </a:r>
          </a:p>
          <a:p/>
          <a:p>
            <a:r>
              <a:t>Computed in src/audit.py by label_source_agreement and churn_date_coherence, and shown in notebooks 01 and 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194560"/>
            <a:ext cx="10820095" cy="2560320"/>
          </a:xfrm>
          <a:prstGeom prst="rect">
            <a:avLst/>
          </a:prstGeom>
          <a:noFill/>
        </p:spPr>
        <p:txBody>
          <a:bodyPr wrap="square">
            <a:spAutoFit/>
          </a:bodyPr>
          <a:lstStyle/>
          <a:p>
            <a:r>
              <a:rPr sz="4000" b="1" i="0">
                <a:solidFill>
                  <a:srgbClr val="1A1A1A"/>
                </a:solidFill>
                <a:latin typeface="Calibri"/>
              </a:rPr>
              <a:t>Why customers leave, and what to do about it</a:t>
            </a:r>
          </a:p>
          <a:p>
            <a:pPr>
              <a:spcBef>
                <a:spcPts val="1600"/>
              </a:spcBef>
            </a:pPr>
            <a:r>
              <a:rPr sz="1800" b="0" i="0">
                <a:solidFill>
                  <a:srgbClr val="5A6270"/>
                </a:solidFill>
                <a:latin typeface="Calibri"/>
              </a:rPr>
              <a:t>Senior ML Engineer case study. RavenStack subscription data: 500 customers across 5 tables.</a:t>
            </a:r>
          </a:p>
          <a:p>
            <a:pPr>
              <a:spcBef>
                <a:spcPts val="2800"/>
              </a:spcBef>
            </a:pPr>
            <a:r>
              <a:rPr sz="1900" b="1" i="0">
                <a:solidFill>
                  <a:srgbClr val="2E5F8A"/>
                </a:solidFill>
                <a:latin typeface="Calibri"/>
              </a:rPr>
              <a:t>The short version: the model does not beat a coin flip. The analysis still gives three clear actions.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600"/>
              </a:spcAft>
            </a:pPr>
            <a:r>
              <a:rPr sz="1400" b="1" i="0">
                <a:solidFill>
                  <a:srgbClr val="1A1A1A"/>
                </a:solidFill>
                <a:latin typeface="Calibri"/>
              </a:rPr>
              <a:t>This work supports two decisions. Who should the success team call this quarter? What should the product team fix?</a:t>
            </a:r>
          </a:p>
          <a:p>
            <a:pPr>
              <a:spcAft>
                <a:spcPts val="600"/>
              </a:spcAft>
            </a:pPr>
            <a:r>
              <a:rPr sz="1400" b="0" i="0">
                <a:solidFill>
                  <a:srgbClr val="1A1A1A"/>
                </a:solidFill>
                <a:latin typeface="Calibri"/>
              </a:rPr>
              <a:t>By the churn event log, seven out of ten customers leave in the end. The typical customer pays $931 a month and is worth about $7,300 in total. Churn is the largest cost we can actually control.</a:t>
            </a:r>
          </a:p>
          <a:p>
            <a:pPr>
              <a:spcAft>
                <a:spcPts val="600"/>
              </a:spcAft>
            </a:pPr>
            <a:r>
              <a:rPr sz="600" b="0" i="0">
                <a:solidFill>
                  <a:srgbClr val="1A1A1A"/>
                </a:solidFill>
                <a:latin typeface="Calibri"/>
              </a:rPr>
              <a:t> </a:t>
            </a:r>
          </a:p>
          <a:p>
            <a:pPr>
              <a:spcAft>
                <a:spcPts val="600"/>
              </a:spcAft>
            </a:pPr>
            <a:r>
              <a:rPr sz="1400" b="1" i="0">
                <a:solidFill>
                  <a:srgbClr val="B02E2E"/>
                </a:solidFill>
                <a:latin typeface="Calibri"/>
              </a:rPr>
              <a:t>The churn flag in the data cannot be used.</a:t>
            </a:r>
          </a:p>
          <a:p>
            <a:pPr lvl="1">
              <a:spcAft>
                <a:spcPts val="600"/>
              </a:spcAft>
            </a:pPr>
            <a:r>
              <a:rPr sz="1200" b="0" i="0">
                <a:solidFill>
                  <a:srgbClr val="5A6270"/>
                </a:solidFill>
                <a:latin typeface="Calibri"/>
              </a:rPr>
              <a:t>It has no date on it. So we cannot tell whether a customer had already left on any given day.</a:t>
            </a:r>
          </a:p>
          <a:p>
            <a:pPr lvl="1">
              <a:spcAft>
                <a:spcPts val="600"/>
              </a:spcAft>
            </a:pPr>
            <a:r>
              <a:rPr sz="1200" b="0" i="0">
                <a:solidFill>
                  <a:srgbClr val="5A6270"/>
                </a:solidFill>
                <a:latin typeface="Calibri"/>
              </a:rPr>
              <a:t>It agrees with the churn event log for 188 of the 500 customers. Two unrelated columns would agree for about 193. So the flag is not a rough version of the truth. It tells us nothing at all about who left.</a:t>
            </a:r>
          </a:p>
          <a:p>
            <a:pPr lvl="1">
              <a:spcAft>
                <a:spcPts val="600"/>
              </a:spcAft>
            </a:pPr>
            <a:r>
              <a:rPr sz="1200" b="0" i="0">
                <a:solidFill>
                  <a:srgbClr val="5A6270"/>
                </a:solidFill>
                <a:latin typeface="Calibri"/>
              </a:rPr>
              <a:t>The other two records do not line up either. A churn date and a subscription ending fall on the same day 2% of the time. The usual gap is two months.</a:t>
            </a:r>
          </a:p>
          <a:p>
            <a:pPr>
              <a:spcAft>
                <a:spcPts val="600"/>
              </a:spcAft>
            </a:pPr>
            <a:r>
              <a:rPr sz="600" b="0" i="0">
                <a:solidFill>
                  <a:srgbClr val="1A1A1A"/>
                </a:solidFill>
                <a:latin typeface="Calibri"/>
              </a:rPr>
              <a:t> </a:t>
            </a:r>
          </a:p>
          <a:p>
            <a:pPr>
              <a:spcAft>
                <a:spcPts val="600"/>
              </a:spcAft>
            </a:pPr>
            <a:r>
              <a:rPr sz="1400" b="1" i="0">
                <a:solidFill>
                  <a:srgbClr val="1A1A1A"/>
                </a:solidFill>
                <a:latin typeface="Calibri"/>
              </a:rPr>
              <a:t>So I rebuilt the target as a question with a date in it:</a:t>
            </a:r>
          </a:p>
          <a:p>
            <a:pPr lvl="1">
              <a:spcAft>
                <a:spcPts val="600"/>
              </a:spcAft>
            </a:pPr>
            <a:r>
              <a:rPr sz="1200" b="0" i="0">
                <a:solidFill>
                  <a:srgbClr val="5A6270"/>
                </a:solidFill>
                <a:latin typeface="Calibri"/>
              </a:rPr>
              <a:t>On 30 June 2024, using only what we knew that day, will this customer leave within the next 90 days?</a:t>
            </a:r>
          </a:p>
          <a:p>
            <a:pPr lvl="1">
              <a:spcAft>
                <a:spcPts val="600"/>
              </a:spcAft>
            </a:pPr>
            <a:r>
              <a:rPr sz="1200" b="0" i="0">
                <a:solidFill>
                  <a:srgbClr val="5A6270"/>
                </a:solidFill>
                <a:latin typeface="Calibri"/>
              </a:rPr>
              <a:t>That gives 177 customers who could still leave. 54 of them did, which is 31%.</a:t>
            </a:r>
          </a:p>
          <a:p>
            <a:pPr lvl="1">
              <a:spcAft>
                <a:spcPts val="600"/>
              </a:spcAft>
            </a:pPr>
            <a:r>
              <a:rPr sz="1200" b="0" i="0">
                <a:solidFill>
                  <a:srgbClr val="5A6270"/>
                </a:solidFill>
                <a:latin typeface="Calibri"/>
              </a:rPr>
              <a:t>Features use only data dated before that day. Anything still unresolved on that day is blanked out.</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found this by counting, not by modelling. No algorithm recovers a fact the source data never recorded the same way twice.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How we would judge success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For the model</a:t>
            </a:r>
          </a:p>
          <a:p>
            <a:pPr lvl="1">
              <a:spcAft>
                <a:spcPts val="900"/>
              </a:spcAft>
            </a:pPr>
            <a:r>
              <a:rPr sz="1400" b="0" i="0">
                <a:solidFill>
                  <a:srgbClr val="5A6270"/>
                </a:solidFill>
                <a:latin typeface="Calibri"/>
              </a:rPr>
              <a:t>ROC-AUC measures how well the model sorts customers by risk. 0.5 means it is guessing. I always report a range around it, never a single number.</a:t>
            </a:r>
          </a:p>
          <a:p>
            <a:pPr lvl="1">
              <a:spcAft>
                <a:spcPts val="900"/>
              </a:spcAft>
            </a:pPr>
            <a:r>
              <a:rPr sz="1400" b="0" i="0">
                <a:solidFill>
                  <a:srgbClr val="5A6270"/>
                </a:solidFill>
                <a:latin typeface="Calibri"/>
              </a:rPr>
              <a:t>I also report precision and recall, because they say what the CS team actually experiences when they work the list.</a:t>
            </a:r>
          </a:p>
          <a:p>
            <a:pPr lvl="1">
              <a:spcAft>
                <a:spcPts val="900"/>
              </a:spcAft>
            </a:pPr>
            <a:r>
              <a:rPr sz="1400" b="0" i="0">
                <a:solidFill>
                  <a:srgbClr val="5A6270"/>
                </a:solidFill>
                <a:latin typeface="Calibri"/>
              </a:rPr>
              <a:t>The headline number comes from nested cross-validation. That is the only version that accounts for the fact that I also chose the model.</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For the business</a:t>
            </a:r>
          </a:p>
          <a:p>
            <a:pPr lvl="1">
              <a:spcAft>
                <a:spcPts val="900"/>
              </a:spcAft>
            </a:pPr>
            <a:r>
              <a:rPr sz="1400" b="0" i="0">
                <a:solidFill>
                  <a:srgbClr val="5A6270"/>
                </a:solidFill>
                <a:latin typeface="Calibri"/>
              </a:rPr>
              <a:t>Retention 180 days after any change we make.</a:t>
            </a:r>
          </a:p>
          <a:p>
            <a:pPr lvl="1">
              <a:spcAft>
                <a:spcPts val="900"/>
              </a:spcAft>
            </a:pPr>
            <a:r>
              <a:rPr sz="1400" b="0" i="0">
                <a:solidFill>
                  <a:srgbClr val="5A6270"/>
                </a:solidFill>
                <a:latin typeface="Calibri"/>
              </a:rPr>
              <a:t>Money kept, so that a saved customer who needed a large discount is not counted as a win.</a:t>
            </a:r>
          </a:p>
          <a:p>
            <a:pPr lvl="1">
              <a:spcAft>
                <a:spcPts val="900"/>
              </a:spcAft>
            </a:pPr>
            <a:r>
              <a:rPr sz="1400" b="0" i="0">
                <a:solidFill>
                  <a:srgbClr val="5A6270"/>
                </a:solidFill>
                <a:latin typeface="Calibri"/>
              </a:rPr>
              <a:t>Value of the campaign compared with calling everyone. Zero is the wrong thing to compare against.</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Limits I set before starting</a:t>
            </a:r>
          </a:p>
          <a:p>
            <a:pPr lvl="1">
              <a:spcAft>
                <a:spcPts val="900"/>
              </a:spcAft>
            </a:pPr>
            <a:r>
              <a:rPr sz="1400" b="0" i="0">
                <a:solidFill>
                  <a:srgbClr val="5A6270"/>
                </a:solidFill>
                <a:latin typeface="Calibri"/>
              </a:rPr>
              <a:t>The model has to beat guessing at the bottom of its range, not just on average. It also has to beat simply calling every customer.</a:t>
            </a:r>
          </a:p>
          <a:p>
            <a:pPr lvl="1">
              <a:spcAft>
                <a:spcPts val="900"/>
              </a:spcAft>
            </a:pPr>
            <a:r>
              <a:rPr sz="1400" b="0" i="0">
                <a:solidFill>
                  <a:srgbClr val="5A6270"/>
                </a:solidFill>
                <a:latin typeface="Calibri"/>
              </a:rPr>
              <a:t>Scores order a call list. They never trigger an action on their 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B02E2E"/>
                </a:solidFill>
                <a:latin typeface="Calibri"/>
              </a:rPr>
              <a:t>The data has real quality problems. I report them rather than quietly patching them.</a:t>
            </a:r>
          </a:p>
          <a:p>
            <a:pPr lvl="1">
              <a:spcAft>
                <a:spcPts val="900"/>
              </a:spcAft>
            </a:pPr>
            <a:r>
              <a:rPr sz="1400" b="0" i="0">
                <a:solidFill>
                  <a:srgbClr val="5A6270"/>
                </a:solidFill>
                <a:latin typeface="Calibri"/>
              </a:rPr>
              <a:t>19,128 of the 24,979 usage records are dated before the subscription they belong to had even started.</a:t>
            </a:r>
          </a:p>
          <a:p>
            <a:pPr lvl="1">
              <a:spcAft>
                <a:spcPts val="900"/>
              </a:spcAft>
            </a:pPr>
            <a:r>
              <a:rPr sz="1400" b="0" i="0">
                <a:solidFill>
                  <a:srgbClr val="5A6270"/>
                </a:solidFill>
                <a:latin typeface="Calibri"/>
              </a:rPr>
              <a:t>1,077 of the 2,000 support tickets are dated before the customer signed up.</a:t>
            </a:r>
          </a:p>
          <a:p>
            <a:pPr lvl="1">
              <a:spcAft>
                <a:spcPts val="900"/>
              </a:spcAft>
            </a:pPr>
            <a:r>
              <a:rPr sz="1400" b="0" i="0">
                <a:solidFill>
                  <a:srgbClr val="5A6270"/>
                </a:solidFill>
                <a:latin typeface="Calibri"/>
              </a:rPr>
              <a:t>Satisfaction is documented as a 1 to 5 score, but only ever takes the values 3, 4 and 5.</a:t>
            </a:r>
          </a:p>
          <a:p>
            <a:pPr lvl="1">
              <a:spcAft>
                <a:spcPts val="900"/>
              </a:spcAft>
            </a:pPr>
            <a:r>
              <a:rPr sz="1400" b="0" i="0">
                <a:solidFill>
                  <a:srgbClr val="5A6270"/>
                </a:solidFill>
                <a:latin typeface="Calibri"/>
              </a:rPr>
              <a:t>There are three ways to say a customer churned. All three agree for only 20% of customers.</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There is very little to learn from.</a:t>
            </a:r>
          </a:p>
          <a:p>
            <a:pPr lvl="1">
              <a:spcAft>
                <a:spcPts val="900"/>
              </a:spcAft>
            </a:pPr>
            <a:r>
              <a:rPr sz="1400" b="0" i="0">
                <a:solidFill>
                  <a:srgbClr val="5A6270"/>
                </a:solidFill>
                <a:latin typeface="Calibri"/>
              </a:rPr>
              <a:t>We have 54 customers who left and 73 features. That is well under one example per feature, so every result comes with a wide range.</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Assumptions I am making</a:t>
            </a:r>
          </a:p>
          <a:p>
            <a:pPr lvl="1">
              <a:spcAft>
                <a:spcPts val="900"/>
              </a:spcAft>
            </a:pPr>
            <a:r>
              <a:rPr sz="1400" b="0" i="0">
                <a:solidFill>
                  <a:srgbClr val="5A6270"/>
                </a:solidFill>
                <a:latin typeface="Calibri"/>
              </a:rPr>
              <a:t>A 90 day window and a 30 June 2024 cutoff. I picked both before testing anything, so they are not chosen to flatter the result.</a:t>
            </a:r>
          </a:p>
          <a:p>
            <a:pPr lvl="1">
              <a:spcAft>
                <a:spcPts val="900"/>
              </a:spcAft>
            </a:pPr>
            <a:r>
              <a:rPr sz="1400" b="0" i="0">
                <a:solidFill>
                  <a:srgbClr val="5A6270"/>
                </a:solidFill>
                <a:latin typeface="Calibri"/>
              </a:rPr>
              <a:t>Customers still active when the data ends are treated as unknown, not as successes.</a:t>
            </a:r>
          </a:p>
          <a:p>
            <a:pPr lvl="1">
              <a:spcAft>
                <a:spcPts val="900"/>
              </a:spcAft>
            </a:pPr>
            <a:r>
              <a:rPr sz="1400" b="0" i="0">
                <a:solidFill>
                  <a:srgbClr val="5A6270"/>
                </a:solidFill>
                <a:latin typeface="Calibri"/>
              </a:rPr>
              <a:t>This is a generated dataset. It may hold no real signal at all, so the work is built to tell that apart from a modelling mistake.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churn_by_segment.png"/>
          <p:cNvPicPr>
            <a:picLocks noChangeAspect="1"/>
          </p:cNvPicPr>
          <p:nvPr/>
        </p:nvPicPr>
        <p:blipFill>
          <a:blip r:embed="rId2"/>
          <a:stretch>
            <a:fillRect/>
          </a:stretch>
        </p:blipFill>
        <p:spPr>
          <a:xfrm>
            <a:off x="-333124" y="1645920"/>
            <a:ext cx="12857944" cy="310896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600"/>
              </a:spcAft>
            </a:pPr>
            <a:r>
              <a:rPr sz="1400" b="1" i="0">
                <a:solidFill>
                  <a:srgbClr val="1A1A1A"/>
                </a:solidFill>
                <a:latin typeface="Calibri"/>
              </a:rPr>
              <a:t>Four families of feature</a:t>
            </a:r>
          </a:p>
          <a:p>
            <a:pPr lvl="1">
              <a:spcAft>
                <a:spcPts val="600"/>
              </a:spcAft>
            </a:pPr>
            <a:r>
              <a:rPr sz="1200" b="0" i="0">
                <a:solidFill>
                  <a:srgbClr val="5A6270"/>
                </a:solidFill>
                <a:latin typeface="Calibri"/>
              </a:rPr>
              <a:t>Subscription: how many they have had, what they pay, how steady that payment is, upgrades, downgrades, and how long they have been a customer.</a:t>
            </a:r>
          </a:p>
          <a:p>
            <a:pPr lvl="1">
              <a:spcAft>
                <a:spcPts val="600"/>
              </a:spcAft>
            </a:pPr>
            <a:r>
              <a:rPr sz="1200" b="0" i="0">
                <a:solidFill>
                  <a:srgbClr val="5A6270"/>
                </a:solidFill>
                <a:latin typeface="Calibri"/>
              </a:rPr>
              <a:t>Usage: how much they used the product in the last 30, 60, 90 and 180 days. Whether that is speeding up or slowing down. How long the quiet gaps are.</a:t>
            </a:r>
          </a:p>
          <a:p>
            <a:pPr lvl="1">
              <a:spcAft>
                <a:spcPts val="600"/>
              </a:spcAft>
            </a:pPr>
            <a:r>
              <a:rPr sz="1200" b="0" i="0">
                <a:solidFill>
                  <a:srgbClr val="5A6270"/>
                </a:solidFill>
                <a:latin typeface="Calibri"/>
              </a:rPr>
              <a:t>Support: how many tickets, how fast we answered, how long we took to fix things, their satisfaction scores, and how often things were escalated.</a:t>
            </a:r>
          </a:p>
          <a:p>
            <a:pPr lvl="1">
              <a:spcAft>
                <a:spcPts val="600"/>
              </a:spcAft>
            </a:pPr>
            <a:r>
              <a:rPr sz="1200" b="0" i="0">
                <a:solidFill>
                  <a:srgbClr val="5A6270"/>
                </a:solidFill>
                <a:latin typeface="Calibri"/>
              </a:rPr>
              <a:t>Ratios: usage and tickets per seat, so a 10 seat customer and a 500 seat customer can be compared fairly.</a:t>
            </a:r>
          </a:p>
          <a:p>
            <a:pPr>
              <a:spcAft>
                <a:spcPts val="600"/>
              </a:spcAft>
            </a:pPr>
            <a:r>
              <a:rPr sz="600" b="0" i="0">
                <a:solidFill>
                  <a:srgbClr val="1A1A1A"/>
                </a:solidFill>
                <a:latin typeface="Calibri"/>
              </a:rPr>
              <a:t> </a:t>
            </a:r>
          </a:p>
          <a:p>
            <a:pPr>
              <a:spcAft>
                <a:spcPts val="600"/>
              </a:spcAft>
            </a:pPr>
            <a:r>
              <a:rPr sz="1400" b="1" i="0">
                <a:solidFill>
                  <a:srgbClr val="2E5F8A"/>
                </a:solidFill>
                <a:latin typeface="Calibri"/>
              </a:rPr>
              <a:t>The important part is that features can only see the past.</a:t>
            </a:r>
          </a:p>
          <a:p>
            <a:pPr lvl="1">
              <a:spcAft>
                <a:spcPts val="600"/>
              </a:spcAft>
            </a:pPr>
            <a:r>
              <a:rPr sz="1200" b="0" i="0">
                <a:solidFill>
                  <a:srgbClr val="5A6270"/>
                </a:solidFill>
                <a:latin typeface="Calibri"/>
              </a:rPr>
              <a:t>Every calculation takes a date and only looks before it. Training passes 30 June 2024 and production passes today. It is the same code both times, so the two cannot drift apart.</a:t>
            </a:r>
          </a:p>
          <a:p>
            <a:pPr lvl="1">
              <a:spcAft>
                <a:spcPts val="600"/>
              </a:spcAft>
            </a:pPr>
            <a:r>
              <a:rPr sz="1200" b="0" i="0">
                <a:solidFill>
                  <a:srgbClr val="5A6270"/>
                </a:solidFill>
                <a:latin typeface="Calibri"/>
              </a:rPr>
              <a:t>A ticket opened in June and closed in July still carries a fix time that nobody knew in June. Those fields are blanked. An automatic check caught 5 such tickets that I had missed by reading the code.</a:t>
            </a:r>
          </a:p>
          <a:p>
            <a:pPr>
              <a:spcAft>
                <a:spcPts val="600"/>
              </a:spcAft>
            </a:pPr>
            <a:r>
              <a:rPr sz="600" b="0" i="0">
                <a:solidFill>
                  <a:srgbClr val="1A1A1A"/>
                </a:solidFill>
                <a:latin typeface="Calibri"/>
              </a:rPr>
              <a:t> </a:t>
            </a:r>
          </a:p>
          <a:p>
            <a:pPr>
              <a:spcAft>
                <a:spcPts val="600"/>
              </a:spcAft>
            </a:pPr>
            <a:r>
              <a:rPr sz="140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 range 0.37 to 0.75</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The gap between those two numbers is the point.</a:t>
            </a:r>
          </a:p>
          <a:p>
            <a:pPr lvl="1">
              <a:spcAft>
                <a:spcPts val="500"/>
              </a:spcAft>
            </a:pPr>
            <a:r>
              <a:rPr sz="1100" b="0" i="0">
                <a:solidFill>
                  <a:srgbClr val="5A6270"/>
                </a:solidFill>
                <a:latin typeface="Calibri"/>
              </a:rPr>
              <a:t>Picking the best of ten models is itself a form of fitting. Once you measure that properly, 0.049 of AUC disappears. That is most of what looked like signal.</a:t>
            </a:r>
          </a:p>
          <a:p>
            <a:pPr lvl="1">
              <a:spcAft>
                <a:spcPts val="500"/>
              </a:spcAft>
            </a:pPr>
            <a:r>
              <a:rPr sz="1100" b="0" i="0">
                <a:solidFill>
                  <a:srgbClr val="5A6270"/>
                </a:solidFill>
                <a:latin typeface="Calibri"/>
              </a:rPr>
              <a:t>Across 25 test rounds, eight of the ten models won at least once. A genuinely better model wins nearly every time. Eight different winners is what noise looks like.</a:t>
            </a:r>
          </a:p>
          <a:p>
            <a:pPr>
              <a:spcAft>
                <a:spcPts val="500"/>
              </a:spcAft>
            </a:pPr>
            <a:r>
              <a:rPr sz="600" b="0" i="0">
                <a:solidFill>
                  <a:srgbClr val="1A1A1A"/>
                </a:solidFill>
                <a:latin typeface="Calibri"/>
              </a:rPr>
              <a:t> </a:t>
            </a:r>
          </a:p>
          <a:p>
            <a:pPr>
              <a:spcAft>
                <a:spcPts val="500"/>
              </a:spcAft>
            </a:pPr>
            <a:r>
              <a:rPr sz="1300" b="1" i="0">
                <a:solidFill>
                  <a:srgbClr val="1A1A1A"/>
                </a:solidFill>
                <a:latin typeface="Calibri"/>
              </a:rPr>
              <a:t>Why the score is low. I tested each possible cause rather than guessing.</a:t>
            </a:r>
          </a:p>
          <a:p>
            <a:pPr lvl="1">
              <a:spcAft>
                <a:spcPts val="500"/>
              </a:spcAft>
            </a:pPr>
            <a:r>
              <a:rPr sz="1100" b="0" i="0">
                <a:solidFill>
                  <a:srgbClr val="5A6270"/>
                </a:solidFill>
                <a:latin typeface="Calibri"/>
              </a:rPr>
              <a:t>Not enough data. This is the main one. Adding rows still improves the score steadily, so we have not hit the ceiling of the method.</a:t>
            </a:r>
          </a:p>
          <a:p>
            <a:pPr lvl="1">
              <a:spcAft>
                <a:spcPts val="500"/>
              </a:spcAft>
            </a:pPr>
            <a:r>
              <a:rPr sz="1100" b="0" i="0">
                <a:solidFill>
                  <a:srgbClr val="5A6270"/>
                </a:solidFill>
                <a:latin typeface="Calibri"/>
              </a:rPr>
              <a:t>Target risk, which I cannot put a number on. The target comes from the churn event log, and the other two records of leaving are unrelated to it. At least one of the three is noise and nothing says which.</a:t>
            </a:r>
          </a:p>
          <a:p>
            <a:pPr lvl="1">
              <a:spcAft>
                <a:spcPts val="500"/>
              </a:spcAft>
            </a:pPr>
            <a:r>
              <a:rPr sz="1100" b="0" i="0">
                <a:solidFill>
                  <a:srgbClr val="5A6270"/>
                </a:solidFill>
                <a:latin typeface="Calibri"/>
              </a:rPr>
              <a:t>A natural limit in the data. Two customers who look almost identical still end up differently 41% of the time. Two random customers differ 42% of the time. There is almost nothing to separate them on.</a:t>
            </a:r>
          </a:p>
          <a:p>
            <a:pPr lvl="1">
              <a:spcAft>
                <a:spcPts val="500"/>
              </a:spcAft>
            </a:pPr>
            <a:r>
              <a:rPr sz="1100" b="0" i="0">
                <a:solidFill>
                  <a:srgbClr val="5A6270"/>
                </a:solidFill>
                <a:latin typeface="Calibri"/>
              </a:rPr>
              <a:t>It is not leakage, not the features, and not tuning. I checked all three.</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is fine. The data does not support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Imbalance, leakage and interpretability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a:solidFill>
                  <a:srgbClr val="1A1A1A"/>
                </a:solidFill>
                <a:latin typeface="Calibri"/>
              </a:rPr>
              <a:t>Class imbalance</a:t>
            </a:r>
          </a:p>
          <a:p>
            <a:pPr lvl="1">
              <a:spcAft>
                <a:spcPts val="500"/>
              </a:spcAft>
            </a:pPr>
            <a:r>
              <a:rPr sz="1200" b="0" i="0">
                <a:solidFill>
                  <a:srgbClr val="5A6270"/>
                </a:solidFill>
                <a:latin typeface="Calibri"/>
              </a:rPr>
              <a:t>31% of customers left, so the classes are uneven but not badly so. I weight the rare class rather than inventing synthetic customers. With only 54 real examples, synthetic ones are copies of copies and they flatter the score.</a:t>
            </a:r>
          </a:p>
          <a:p>
            <a:pPr lvl="1">
              <a:spcAft>
                <a:spcPts val="500"/>
              </a:spcAft>
            </a:pPr>
            <a:r>
              <a:rPr sz="120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500"/>
              </a:spcAft>
            </a:pPr>
            <a:r>
              <a:rPr sz="1200" b="0" i="0">
                <a:solidFill>
                  <a:srgbClr val="5A6270"/>
                </a:solidFill>
                <a:latin typeface="Calibri"/>
              </a:rPr>
              <a:t>I report ROC-AUC because its baseline stays 0.50 at any class balance, which keeps the twelve horizon cells comparable when their churn rates run 11% to 45%. Precision-recall and F1 agree, so the metric is not choosing the answer.</a:t>
            </a:r>
          </a:p>
          <a:p>
            <a:pPr>
              <a:spcAft>
                <a:spcPts val="500"/>
              </a:spcAft>
            </a:pPr>
            <a:r>
              <a:rPr sz="600" b="0" i="0">
                <a:solidFill>
                  <a:srgbClr val="1A1A1A"/>
                </a:solidFill>
                <a:latin typeface="Calibri"/>
              </a:rPr>
              <a:t> </a:t>
            </a:r>
          </a:p>
          <a:p>
            <a:pPr>
              <a:spcAft>
                <a:spcPts val="500"/>
              </a:spcAft>
            </a:pPr>
            <a:r>
              <a:rPr sz="1400" b="1" i="0">
                <a:solidFill>
                  <a:srgbClr val="B02E2E"/>
                </a:solidFill>
                <a:latin typeface="Calibri"/>
              </a:rPr>
              <a:t>Data leakage</a:t>
            </a:r>
          </a:p>
          <a:p>
            <a:pPr lvl="1">
              <a:spcAft>
                <a:spcPts val="500"/>
              </a:spcAft>
            </a:pPr>
            <a:r>
              <a:rPr sz="1200" b="0" i="0">
                <a:solidFill>
                  <a:srgbClr val="5A6270"/>
                </a:solidFill>
                <a:latin typeface="Calibri"/>
              </a:rPr>
              <a:t>I do not rely on reading the code. A set of automatic checks runs before any result is reported, and it blocks the result if anything fails.</a:t>
            </a:r>
          </a:p>
          <a:p>
            <a:pPr lvl="1">
              <a:spcAft>
                <a:spcPts val="500"/>
              </a:spcAft>
            </a:pPr>
            <a:r>
              <a:rPr sz="1200" b="0" i="0">
                <a:solidFill>
                  <a:srgbClr val="5A6270"/>
                </a:solidFill>
                <a:latin typeface="Calibri"/>
              </a:rPr>
              <a:t>The checks look for dates after the cutoff, for banned columns by name, and for any single feature that predicts too well.</a:t>
            </a:r>
          </a:p>
          <a:p>
            <a:pPr lvl="1">
              <a:spcAft>
                <a:spcPts val="500"/>
              </a:spcAft>
            </a:pPr>
            <a:r>
              <a:rPr sz="1200" b="0" i="0">
                <a:solidFill>
                  <a:srgbClr val="5A6270"/>
                </a:solidFill>
                <a:latin typeface="Calibri"/>
              </a:rPr>
              <a:t>Columns that only exist after a customer leaves are worth 0.37 of extra AUC. They push the model to AUC 0.79, which looks like a good model rather than a broken one. That is exactly why they are dangerous.</a:t>
            </a:r>
          </a:p>
          <a:p>
            <a:pPr>
              <a:spcAft>
                <a:spcPts val="500"/>
              </a:spcAft>
            </a:pPr>
            <a:r>
              <a:rPr sz="600" b="0" i="0">
                <a:solidFill>
                  <a:srgbClr val="1A1A1A"/>
                </a:solidFill>
                <a:latin typeface="Calibri"/>
              </a:rPr>
              <a:t> </a:t>
            </a:r>
          </a:p>
          <a:p>
            <a:pPr>
              <a:spcAft>
                <a:spcPts val="500"/>
              </a:spcAft>
            </a:pPr>
            <a:r>
              <a:rPr sz="1400" b="1" i="0">
                <a:solidFill>
                  <a:srgbClr val="2E5F8A"/>
                </a:solidFill>
                <a:latin typeface="Calibri"/>
              </a:rPr>
              <a:t>Interpretability, and how it can mislead you</a:t>
            </a:r>
          </a:p>
          <a:p>
            <a:pPr lvl="1">
              <a:spcAft>
                <a:spcPts val="500"/>
              </a:spcAft>
            </a:pPr>
            <a:r>
              <a:rPr sz="1200" b="0" i="0">
                <a:solidFill>
                  <a:srgbClr val="5A6270"/>
                </a:solidFill>
                <a:latin typeface="Calibri"/>
              </a:rPr>
              <a:t>SHAP gives a clean, confident chart of what drives the prediction. I checked it against shuffled data, where by definition there is nothing to find. The chart looked just as convincing.</a:t>
            </a:r>
          </a:p>
          <a:p>
            <a:pPr lvl="1">
              <a:spcAft>
                <a:spcPts val="500"/>
              </a:spcAft>
            </a:pPr>
            <a:r>
              <a:rPr sz="1200" b="0" i="0">
                <a:solidFill>
                  <a:srgbClr val="5A6270"/>
                </a:solidFill>
                <a:latin typeface="Calibri"/>
              </a:rPr>
              <a:t>The top feature beats random labels only 3 times in 4. Twelve different features take first place across 25 reruns. These tools never tell you when they have nothing to say, so I pair every one with a random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2E5F8A"/>
                </a:solidFill>
                <a:latin typeface="Calibri"/>
              </a:rPr>
              <a:t>Find out what changed during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2_calendar_hazard.png"/>
          <p:cNvPicPr>
            <a:picLocks noChangeAspect="1"/>
          </p:cNvPicPr>
          <p:nvPr/>
        </p:nvPicPr>
        <p:blipFill>
          <a:blip r:embed="rId2"/>
          <a:stretch>
            <a:fillRect/>
          </a:stretch>
        </p:blipFill>
        <p:spPr>
          <a:xfrm>
            <a:off x="2307133" y="1645920"/>
            <a:ext cx="7577429" cy="3383280"/>
          </a:xfrm>
          <a:prstGeom prst="rect">
            <a:avLst/>
          </a:prstGeom>
        </p:spPr>
      </p:pic>
      <p:sp>
        <p:nvSpPr>
          <p:cNvPr id="5" name="TextBox 4"/>
          <p:cNvSpPr txBox="1"/>
          <p:nvPr/>
        </p:nvSpPr>
        <p:spPr>
          <a:xfrm>
            <a:off x="685800" y="5074920"/>
            <a:ext cx="10820095" cy="4572000"/>
          </a:xfrm>
          <a:prstGeom prst="rect">
            <a:avLst/>
          </a:prstGeom>
          <a:noFill/>
        </p:spPr>
        <p:txBody>
          <a:bodyPr wrap="square">
            <a:spAutoFit/>
          </a:bodyPr>
          <a:lstStyle/>
          <a:p>
            <a:pPr>
              <a:spcAft>
                <a:spcPts val="400"/>
              </a:spcAft>
            </a:pPr>
            <a:r>
              <a:rPr sz="1250" b="1" i="0">
                <a:solidFill>
                  <a:srgbClr val="1A1A1A"/>
                </a:solidFill>
                <a:latin typeface="Calibri"/>
              </a:rPr>
              <a:t>Each month, more of our customers leave than the month before. In 2023 about 5 in every 100 left each month. By December 2024 it was 22 in every 100. The customer base stayed the same size throughout, so this is not a growth effect. The rise is far too large and too steady to be luck.</a:t>
            </a:r>
          </a:p>
          <a:p>
            <a:pPr>
              <a:spcAft>
                <a:spcPts val="400"/>
              </a:spcAft>
            </a:pPr>
            <a:r>
              <a:rPr sz="1250" b="0" i="0">
                <a:solidFill>
                  <a:srgbClr val="2E5F8A"/>
                </a:solidFill>
                <a:latin typeface="Calibri"/>
              </a:rPr>
              <a:t>This also explains the model. The cause is hitting every customer at the same time, so comparing customers with each other cannot find it.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What to do: join pricing changes, release dates and competitor events onto this timeline. The data we have holds nothing that changes over time, so this is a clear and answerable request.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2_cohort_gradient.png"/>
          <p:cNvPicPr>
            <a:picLocks noChangeAspect="1"/>
          </p:cNvPicPr>
          <p:nvPr/>
        </p:nvPicPr>
        <p:blipFill>
          <a:blip r:embed="rId2"/>
          <a:stretch>
            <a:fillRect/>
          </a:stretch>
        </p:blipFill>
        <p:spPr>
          <a:xfrm>
            <a:off x="3173168" y="1645920"/>
            <a:ext cx="5845359" cy="3200400"/>
          </a:xfrm>
          <a:prstGeom prst="rect">
            <a:avLst/>
          </a:prstGeom>
        </p:spPr>
      </p:pic>
      <p:sp>
        <p:nvSpPr>
          <p:cNvPr id="5" name="TextBox 4"/>
          <p:cNvSpPr txBox="1"/>
          <p:nvPr/>
        </p:nvSpPr>
        <p:spPr>
          <a:xfrm>
            <a:off x="685800" y="4983480"/>
            <a:ext cx="10820095" cy="4572000"/>
          </a:xfrm>
          <a:prstGeom prst="rect">
            <a:avLst/>
          </a:prstGeom>
          <a:noFill/>
        </p:spPr>
        <p:txBody>
          <a:bodyPr wrap="square">
            <a:spAutoFit/>
          </a:bodyPr>
          <a:lstStyle/>
          <a:p>
            <a:pPr>
              <a:spcAft>
                <a:spcPts val="900"/>
              </a:spcAft>
            </a:pPr>
            <a:r>
              <a:rPr sz="1300" b="1" i="0">
                <a:solidFill>
                  <a:srgbClr val="1A1A1A"/>
                </a:solidFill>
                <a:latin typeface="Calibri"/>
              </a:rPr>
              <a:t>At first it looks like new customers are fragile and risk drops with age. That is the standard reason to invest in onboarding, and the evidence for it looks very strong.</a:t>
            </a:r>
          </a:p>
          <a:p>
            <a:pPr>
              <a:spcAft>
                <a:spcPts val="900"/>
              </a:spcAft>
            </a:pPr>
            <a:r>
              <a:rPr sz="1300" b="1" i="0">
                <a:solidFill>
                  <a:srgbClr val="B02E2E"/>
                </a:solidFill>
                <a:latin typeface="Calibri"/>
              </a:rPr>
              <a:t>It is not real. Customers who joined recently leave faster at every age. They are also the only ones young enough to appear in the early weeks. Mixing the two makes age look like the cause. Within a single joining month, a customer at day 300 is just as likely to leave as one at day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A/B test.</a:t>
            </a:r>
          </a:p>
          <a:p>
            <a:pPr lvl="1">
              <a:spcAft>
                <a:spcPts val="900"/>
              </a:spcAft>
            </a:pPr>
            <a:r>
              <a:rPr sz="1200" b="0" i="0">
                <a:solidFill>
                  <a:srgbClr val="5A6270"/>
                </a:solidFill>
                <a:latin typeface="Calibri"/>
              </a:rPr>
              <a:t>It is a data job. Add the sources that change over time, then rerun this pipeline and compare against the score recorded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the leakage work, because that is where the judgement that transfers to other projects lives.</a:t>
            </a:r>
          </a:p>
          <a:p>
            <a:pPr>
              <a:spcAft>
                <a:spcPts val="400"/>
              </a:spcAft>
            </a:pPr>
            <a:r>
              <a:rPr sz="600" b="0" i="0">
                <a:solidFill>
                  <a:srgbClr val="1A1A1A"/>
                </a:solidFill>
                <a:latin typeface="Calibri"/>
              </a:rPr>
              <a:t> </a:t>
            </a:r>
          </a:p>
          <a:p>
            <a:pPr>
              <a:spcAft>
                <a:spcPts val="400"/>
              </a:spcAft>
            </a:pPr>
            <a:r>
              <a:rPr sz="1300" b="1" i="0">
                <a:solidFill>
                  <a:srgbClr val="1A1A1A"/>
                </a:solidFill>
                <a:latin typeface="Calibri"/>
              </a:rPr>
              <a:t>1. Start with the target, not the model.</a:t>
            </a:r>
          </a:p>
          <a:p>
            <a:pPr lvl="1">
              <a:spcAft>
                <a:spcPts val="400"/>
              </a:spcAft>
            </a:pPr>
            <a:r>
              <a:rPr sz="1100" b="0" i="0">
                <a:solidFill>
                  <a:srgbClr val="5A6270"/>
                </a:solidFill>
                <a:latin typeface="Calibri"/>
              </a:rPr>
              <a:t>My first version modelled a flag that turns out to be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2. Ask of every column: would I really have this on the day I predict?</a:t>
            </a:r>
          </a:p>
          <a:p>
            <a:pPr lvl="1">
              <a:spcAft>
                <a:spcPts val="400"/>
              </a:spcAft>
            </a:pPr>
            <a:r>
              <a:rPr sz="1100" b="0" i="0">
                <a:solidFill>
                  <a:srgbClr val="5A6270"/>
                </a:solidFill>
                <a:latin typeface="Calibri"/>
              </a:rPr>
              <a:t>Then write that check down so a machine runs it. Careful reading caught the obvious problem. The automatic check caught the one I missed.</a:t>
            </a:r>
          </a:p>
          <a:p>
            <a:pPr>
              <a:spcAft>
                <a:spcPts val="400"/>
              </a:spcAft>
            </a:pPr>
            <a:r>
              <a:rPr sz="1300" b="1" i="0">
                <a:solidFill>
                  <a:srgbClr val="1A1A1A"/>
                </a:solidFill>
                <a:latin typeface="Calibri"/>
              </a:rPr>
              <a:t>3. A high score is a question, not an answer.</a:t>
            </a:r>
          </a:p>
          <a:p>
            <a:pPr lvl="1">
              <a:spcAft>
                <a:spcPts val="400"/>
              </a:spcAft>
            </a:pPr>
            <a:r>
              <a:rPr sz="1100" b="0" i="0">
                <a:solidFill>
                  <a:srgbClr val="5A6270"/>
                </a:solidFill>
                <a:latin typeface="Calibri"/>
              </a:rPr>
              <a:t>The first time they see a great number, it should start a hunt for leakage, not a celebration.</a:t>
            </a:r>
          </a:p>
          <a:p>
            <a:pPr>
              <a:spcAft>
                <a:spcPts val="400"/>
              </a:spcAft>
            </a:pPr>
            <a:r>
              <a:rPr sz="1300" b="1" i="0">
                <a:solidFill>
                  <a:srgbClr val="1A1A1A"/>
                </a:solidFill>
                <a:latin typeface="Calibri"/>
              </a:rPr>
              <a:t>4. Find the floor before you celebrate.</a:t>
            </a:r>
          </a:p>
          <a:p>
            <a:pPr lvl="1">
              <a:spcAft>
                <a:spcPts val="400"/>
              </a:spcAft>
            </a:pPr>
            <a:r>
              <a:rPr sz="1100" b="0" i="0">
                <a:solidFill>
                  <a:srgbClr val="5A6270"/>
                </a:solidFill>
                <a:latin typeface="Calibri"/>
              </a:rPr>
              <a:t>Always run the model that uses no features first.</a:t>
            </a:r>
          </a:p>
          <a:p>
            <a:pPr>
              <a:spcAft>
                <a:spcPts val="400"/>
              </a:spcAft>
            </a:pPr>
            <a:r>
              <a:rPr sz="1300" b="1" i="0">
                <a:solidFill>
                  <a:srgbClr val="1A1A1A"/>
                </a:solidFill>
                <a:latin typeface="Calibri"/>
              </a:rPr>
              <a:t>5. Report the range, not the single number.</a:t>
            </a:r>
          </a:p>
          <a:p>
            <a:pPr lvl="1">
              <a:spcAft>
                <a:spcPts val="400"/>
              </a:spcAft>
            </a:pPr>
            <a:r>
              <a:rPr sz="1100" b="0" i="0">
                <a:solidFill>
                  <a:srgbClr val="5A6270"/>
                </a:solidFill>
                <a:latin typeface="Calibri"/>
              </a:rPr>
              <a:t>A range that includes guessing tells you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In this project, the gap between the best model and the honest score was the entire apparent signal. This is the lesson I would spend the most time on.</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it as an experiment, not a lecture. Have them switch off the banned column list and watch AUC jump from 0.58 to 0.79 on its own.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Fix the target and the timestamps first, then measure again. The pipeline takes a date, so that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