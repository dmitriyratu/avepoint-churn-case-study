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to forty minutes, five parts, following the brief. I say the headline up front because the value of this work is in proving the negatives properly and in what we do anyway.</a:t>
            </a:r>
          </a:p>
          <a:p/>
          <a:p>
            <a:r>
              <a:t>The second clause is the part to sit on if there is only time for one thing. The strongest result I had — churn accelerating through 2024, p = 2e-16 — is reproduced exactly by a simulation containing nothing but a random number generator. Slide 10 is that test. Finding it is the piece of work I would most want to be judged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target problem. Along with slide 10 it is the most valuable thing here, and it shows the instinct to check the label before fitting anything.</a:t>
            </a:r>
          </a:p>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p>
            <a:r>
              <a:t>Pre-empt the obvious follow-up: 'so invert the flag and you get 62%'. No. Inverted it scores 62.4% against 61.4% expected by chance, kappa +0.03. There is no information in it either way round.</a:t>
            </a:r>
          </a:p>
          <a:p/>
          <a:p>
            <a:r>
              <a:t>The subscription line is the strongest part because it never touches the flag: 386 churn events can be compared to a subscription ending, and only 6 land on the same day. Median gap 62 days. All three recordings of 'this customer left' are mutually unrelated.</a:t>
            </a:r>
          </a:p>
          <a:p/>
          <a:p>
            <a:r>
              <a:t>Computed in src/audit.py by label_source_agreement and churn_date_coherence, and shown in notebooks 01 and 10.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want to be asked about.</a:t>
            </a:r>
          </a:p>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p>
            <a:r>
              <a:t>If asked what I would have done differently: run this before writing the recommendation, not after. On any generated or vendor-supplied extract, simulate the file before trusting a time trend in it.</a:t>
            </a:r>
          </a:p>
          <a:p/>
          <a:p>
            <a:r>
              <a:t>src/generator.py, notebook 16.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2194560"/>
            <a:ext cx="10820095" cy="2560320"/>
          </a:xfrm>
          <a:prstGeom prst="rect">
            <a:avLst/>
          </a:prstGeom>
          <a:noFill/>
        </p:spPr>
        <p:txBody>
          <a:bodyPr wrap="square">
            <a:spAutoFit/>
          </a:bodyPr>
          <a:lstStyle/>
          <a:p>
            <a:r>
              <a:rPr sz="4000" b="1" i="0">
                <a:solidFill>
                  <a:srgbClr val="1A1A1A"/>
                </a:solidFill>
                <a:latin typeface="Calibri"/>
              </a:rPr>
              <a:t>Why customers leave, and what to do about it</a:t>
            </a:r>
          </a:p>
          <a:p>
            <a:pPr>
              <a:spcBef>
                <a:spcPts val="1600"/>
              </a:spcBef>
            </a:pPr>
            <a:r>
              <a:rPr sz="1800" b="0" i="0">
                <a:solidFill>
                  <a:srgbClr val="5A6270"/>
                </a:solidFill>
                <a:latin typeface="Calibri"/>
              </a:rPr>
              <a:t>Senior ML Engineer case study. RavenStack subscription data: 500 customers across 5 tables.</a:t>
            </a:r>
          </a:p>
          <a:p>
            <a:pPr>
              <a:spcBef>
                <a:spcPts val="2800"/>
              </a:spcBef>
            </a:pPr>
            <a:r>
              <a:rPr sz="1900" b="1" i="0">
                <a:solidFill>
                  <a:srgbClr val="2E5F8A"/>
                </a:solidFill>
                <a:latin typeface="Calibri"/>
              </a:rPr>
              <a:t>The short version: no model here beats a coin flip, the one pattern that looked like a cause comes from how the file was written, and three actions still follow.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400" b="1" i="0">
                <a:solidFill>
                  <a:srgbClr val="1A1A1A"/>
                </a:solidFill>
                <a:latin typeface="Calibri"/>
              </a:rPr>
              <a:t>This work supports two decisions. Who should the success team call this quarter? What should the product team fix?</a:t>
            </a:r>
          </a:p>
          <a:p>
            <a:pPr>
              <a:spcAft>
                <a:spcPts val="600"/>
              </a:spcAft>
            </a:pPr>
            <a:r>
              <a:rPr sz="1400" b="0" i="0">
                <a:solidFill>
                  <a:srgbClr val="1A1A1A"/>
                </a:solidFill>
                <a:latin typeface="Calibri"/>
              </a:rPr>
              <a:t>By the churn event log, seven out of ten customers leave in the end. The typical customer pays $931 a month and is worth about $7,300 in total. Churn is the largest cost we can actually control.</a:t>
            </a:r>
          </a:p>
          <a:p>
            <a:pPr>
              <a:spcAft>
                <a:spcPts val="600"/>
              </a:spcAft>
            </a:pPr>
            <a:r>
              <a:rPr sz="600" b="0" i="0">
                <a:solidFill>
                  <a:srgbClr val="1A1A1A"/>
                </a:solidFill>
                <a:latin typeface="Calibri"/>
              </a:rPr>
              <a:t> </a:t>
            </a:r>
          </a:p>
          <a:p>
            <a:pPr>
              <a:spcAft>
                <a:spcPts val="600"/>
              </a:spcAft>
            </a:pPr>
            <a:r>
              <a:rPr sz="1400" b="1" i="0">
                <a:solidFill>
                  <a:srgbClr val="B02E2E"/>
                </a:solidFill>
                <a:latin typeface="Calibri"/>
              </a:rPr>
              <a:t>The churn flag in the data cannot be used.</a:t>
            </a:r>
          </a:p>
          <a:p>
            <a:pPr lvl="1">
              <a:spcAft>
                <a:spcPts val="600"/>
              </a:spcAft>
            </a:pPr>
            <a:r>
              <a:rPr sz="1200" b="0" i="0">
                <a:solidFill>
                  <a:srgbClr val="5A6270"/>
                </a:solidFill>
                <a:latin typeface="Calibri"/>
              </a:rPr>
              <a:t>It has no date on it. So we cannot tell whether a customer had already left on any given day.</a:t>
            </a:r>
          </a:p>
          <a:p>
            <a:pPr lvl="1">
              <a:spcAft>
                <a:spcPts val="600"/>
              </a:spcAft>
            </a:pPr>
            <a:r>
              <a:rPr sz="1200" b="0" i="0">
                <a:solidFill>
                  <a:srgbClr val="5A6270"/>
                </a:solidFill>
                <a:latin typeface="Calibri"/>
              </a:rPr>
              <a:t>It agrees with the churn event log for 188 of the 500 customers. Two unrelated columns would agree for about 193. So the flag is not a rough version of the truth. It tells us nothing at all about who left.</a:t>
            </a:r>
          </a:p>
          <a:p>
            <a:pPr lvl="1">
              <a:spcAft>
                <a:spcPts val="600"/>
              </a:spcAft>
            </a:pPr>
            <a:r>
              <a:rPr sz="1200" b="0" i="0">
                <a:solidFill>
                  <a:srgbClr val="5A6270"/>
                </a:solidFill>
                <a:latin typeface="Calibri"/>
              </a:rPr>
              <a:t>The other two records do not line up either. A churn date and a subscription ending fall on the same day 2% of the time. The usual gap is two months.</a:t>
            </a:r>
          </a:p>
          <a:p>
            <a:pPr>
              <a:spcAft>
                <a:spcPts val="600"/>
              </a:spcAft>
            </a:pPr>
            <a:r>
              <a:rPr sz="600" b="0" i="0">
                <a:solidFill>
                  <a:srgbClr val="1A1A1A"/>
                </a:solidFill>
                <a:latin typeface="Calibri"/>
              </a:rPr>
              <a:t> </a:t>
            </a:r>
          </a:p>
          <a:p>
            <a:pPr>
              <a:spcAft>
                <a:spcPts val="600"/>
              </a:spcAft>
            </a:pPr>
            <a:r>
              <a:rPr sz="1400" b="1" i="0">
                <a:solidFill>
                  <a:srgbClr val="1A1A1A"/>
                </a:solidFill>
                <a:latin typeface="Calibri"/>
              </a:rPr>
              <a:t>So I rebuilt the target as a question with a date in it:</a:t>
            </a:r>
          </a:p>
          <a:p>
            <a:pPr lvl="1">
              <a:spcAft>
                <a:spcPts val="600"/>
              </a:spcAft>
            </a:pPr>
            <a:r>
              <a:rPr sz="1200" b="0" i="0">
                <a:solidFill>
                  <a:srgbClr val="5A6270"/>
                </a:solidFill>
                <a:latin typeface="Calibri"/>
              </a:rPr>
              <a:t>On 30 June 2024, using only what we knew that day, will this customer leave within the next 90 days?</a:t>
            </a:r>
          </a:p>
          <a:p>
            <a:pPr lvl="1">
              <a:spcAft>
                <a:spcPts val="600"/>
              </a:spcAft>
            </a:pPr>
            <a:r>
              <a:rPr sz="1200" b="0" i="0">
                <a:solidFill>
                  <a:srgbClr val="5A6270"/>
                </a:solidFill>
                <a:latin typeface="Calibri"/>
              </a:rPr>
              <a:t>That gives 177 customers who could still leave. 54 of them did, which is 31%.</a:t>
            </a:r>
          </a:p>
          <a:p>
            <a:pPr lvl="1">
              <a:spcAft>
                <a:spcPts val="600"/>
              </a:spcAft>
            </a:pPr>
            <a:r>
              <a:rPr sz="1200" b="0" i="0">
                <a:solidFill>
                  <a:srgbClr val="5A6270"/>
                </a:solidFill>
                <a:latin typeface="Calibri"/>
              </a:rPr>
              <a:t>Features use only data dated before that day. Anything still unresolved on that day is blanked out.</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found this by counting, not by modelling. No algorithm recovers a fact the source data never recorded the same way twice.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900"/>
              </a:spcAft>
            </a:pPr>
            <a:r>
              <a:rPr sz="1600" b="1" i="0">
                <a:solidFill>
                  <a:srgbClr val="1A1A1A"/>
                </a:solidFill>
                <a:latin typeface="Calibri"/>
              </a:rPr>
              <a:t>For the model</a:t>
            </a:r>
          </a:p>
          <a:p>
            <a:pPr lvl="1">
              <a:spcAft>
                <a:spcPts val="900"/>
              </a:spcAft>
            </a:pPr>
            <a:r>
              <a:rPr sz="1400" b="0" i="0">
                <a:solidFill>
                  <a:srgbClr val="5A6270"/>
                </a:solidFill>
                <a:latin typeface="Calibri"/>
              </a:rPr>
              <a:t>ROC-AUC measures how well the model sorts customers by risk. 0.5 means it is guessing. I always report a range around it, never a single number.</a:t>
            </a:r>
          </a:p>
          <a:p>
            <a:pPr lvl="1">
              <a:spcAft>
                <a:spcPts val="900"/>
              </a:spcAft>
            </a:pPr>
            <a:r>
              <a:rPr sz="1400" b="0" i="0">
                <a:solidFill>
                  <a:srgbClr val="5A6270"/>
                </a:solidFill>
                <a:latin typeface="Calibri"/>
              </a:rPr>
              <a:t>I also report precision and recall, because they say what the CS team actually experiences when they work the list.</a:t>
            </a:r>
          </a:p>
          <a:p>
            <a:pPr lvl="1">
              <a:spcAft>
                <a:spcPts val="900"/>
              </a:spcAft>
            </a:pPr>
            <a:r>
              <a:rPr sz="1400" b="0" i="0">
                <a:solidFill>
                  <a:srgbClr val="5A6270"/>
                </a:solidFill>
                <a:latin typeface="Calibri"/>
              </a:rPr>
              <a:t>The headline number comes from nested cross-validation. That is the only version that accounts for the fact that I also chose the model.</a:t>
            </a:r>
          </a:p>
          <a:p>
            <a:pPr>
              <a:spcAft>
                <a:spcPts val="900"/>
              </a:spcAft>
            </a:pPr>
            <a:r>
              <a:rPr sz="600" b="0" i="0">
                <a:solidFill>
                  <a:srgbClr val="1A1A1A"/>
                </a:solidFill>
                <a:latin typeface="Calibri"/>
              </a:rPr>
              <a:t> </a:t>
            </a:r>
          </a:p>
          <a:p>
            <a:pPr>
              <a:spcAft>
                <a:spcPts val="900"/>
              </a:spcAft>
            </a:pPr>
            <a:r>
              <a:rPr sz="1600" b="1" i="0">
                <a:solidFill>
                  <a:srgbClr val="1A1A1A"/>
                </a:solidFill>
                <a:latin typeface="Calibri"/>
              </a:rPr>
              <a:t>For the business</a:t>
            </a:r>
          </a:p>
          <a:p>
            <a:pPr lvl="1">
              <a:spcAft>
                <a:spcPts val="900"/>
              </a:spcAft>
            </a:pPr>
            <a:r>
              <a:rPr sz="1400" b="0" i="0">
                <a:solidFill>
                  <a:srgbClr val="5A6270"/>
                </a:solidFill>
                <a:latin typeface="Calibri"/>
              </a:rPr>
              <a:t>Retention 180 days after any change we make.</a:t>
            </a:r>
          </a:p>
          <a:p>
            <a:pPr lvl="1">
              <a:spcAft>
                <a:spcPts val="900"/>
              </a:spcAft>
            </a:pPr>
            <a:r>
              <a:rPr sz="1400" b="0" i="0">
                <a:solidFill>
                  <a:srgbClr val="5A6270"/>
                </a:solidFill>
                <a:latin typeface="Calibri"/>
              </a:rPr>
              <a:t>Money kept, so that a saved customer who needed a large discount is not counted as a win.</a:t>
            </a:r>
          </a:p>
          <a:p>
            <a:pPr lvl="1">
              <a:spcAft>
                <a:spcPts val="900"/>
              </a:spcAft>
            </a:pPr>
            <a:r>
              <a:rPr sz="1400" b="0" i="0">
                <a:solidFill>
                  <a:srgbClr val="5A6270"/>
                </a:solidFill>
                <a:latin typeface="Calibri"/>
              </a:rPr>
              <a:t>Value of the campaign compared with calling everyone. Zero is the wrong thing to compare against.</a:t>
            </a:r>
          </a:p>
          <a:p>
            <a:pPr>
              <a:spcAft>
                <a:spcPts val="900"/>
              </a:spcAft>
            </a:pPr>
            <a:r>
              <a:rPr sz="600" b="0" i="0">
                <a:solidFill>
                  <a:srgbClr val="1A1A1A"/>
                </a:solidFill>
                <a:latin typeface="Calibri"/>
              </a:rPr>
              <a:t> </a:t>
            </a:r>
          </a:p>
          <a:p>
            <a:pPr>
              <a:spcAft>
                <a:spcPts val="900"/>
              </a:spcAft>
            </a:pPr>
            <a:r>
              <a:rPr sz="1600" b="1" i="0">
                <a:solidFill>
                  <a:srgbClr val="2E5F8A"/>
                </a:solidFill>
                <a:latin typeface="Calibri"/>
              </a:rPr>
              <a:t>Limits I set before starting</a:t>
            </a:r>
          </a:p>
          <a:p>
            <a:pPr lvl="1">
              <a:spcAft>
                <a:spcPts val="900"/>
              </a:spcAft>
            </a:pPr>
            <a:r>
              <a:rPr sz="1400" b="0" i="0">
                <a:solidFill>
                  <a:srgbClr val="5A6270"/>
                </a:solidFill>
                <a:latin typeface="Calibri"/>
              </a:rPr>
              <a:t>The model has to beat guessing at the bottom of its range, not just on average. It also has to beat simply calling every customer.</a:t>
            </a:r>
          </a:p>
          <a:p>
            <a:pPr lvl="1">
              <a:spcAft>
                <a:spcPts val="900"/>
              </a:spcAft>
            </a:pPr>
            <a:r>
              <a:rPr sz="1400" b="0" i="0">
                <a:solidFill>
                  <a:srgbClr val="5A6270"/>
                </a:solidFill>
                <a:latin typeface="Calibri"/>
              </a:rPr>
              <a:t>Scores order a call list. They never trigger an action on their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10 is that test, and it is the one that changed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600"/>
              </a:spcAft>
            </a:pPr>
            <a:r>
              <a:rPr sz="1350" b="0" i="0">
                <a:solidFill>
                  <a:srgbClr val="5A6270"/>
                </a:solidFill>
                <a:latin typeface="Calibri"/>
              </a:rPr>
              <a:t>Best single model, taken at face value:  AUC 0.583, range 0.37 to 0.75</a:t>
            </a:r>
          </a:p>
          <a:p>
            <a:pPr>
              <a:spcAft>
                <a:spcPts val="600"/>
              </a:spcAft>
            </a:pPr>
            <a:r>
              <a:rPr sz="1350" b="1" i="0">
                <a:solidFill>
                  <a:srgbClr val="1A1A1A"/>
                </a:solidFill>
                <a:latin typeface="Calibri"/>
              </a:rPr>
              <a:t>The honest score:  AUC 0.534, give or take 0.016</a:t>
            </a:r>
          </a:p>
          <a:p>
            <a:pPr>
              <a:spcAft>
                <a:spcPts val="600"/>
              </a:spcAft>
            </a:pPr>
            <a:r>
              <a:rPr sz="1350" b="0" i="0">
                <a:solidFill>
                  <a:srgbClr val="5A6270"/>
                </a:solidFill>
                <a:latin typeface="Calibri"/>
              </a:rPr>
              <a:t>Guessing:  AUC 0.500</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The gap between those two numbers is the point.</a:t>
            </a:r>
          </a:p>
          <a:p>
            <a:pPr lvl="1">
              <a:spcAft>
                <a:spcPts val="600"/>
              </a:spcAft>
            </a:pPr>
            <a:r>
              <a:rPr sz="1150" b="0" i="0">
                <a:solidFill>
                  <a:srgbClr val="5A6270"/>
                </a:solidFill>
                <a:latin typeface="Calibri"/>
              </a:rPr>
              <a:t>Picking the best of ten models is itself a form of fitting. Once you measure that properly, 0.049 of AUC disappears. That is most of what looked like signal.</a:t>
            </a:r>
          </a:p>
          <a:p>
            <a:pPr lvl="1">
              <a:spcAft>
                <a:spcPts val="600"/>
              </a:spcAft>
            </a:pPr>
            <a:r>
              <a:rPr sz="1150" b="0" i="0">
                <a:solidFill>
                  <a:srgbClr val="5A6270"/>
                </a:solidFill>
                <a:latin typeface="Calibri"/>
              </a:rPr>
              <a:t>Across 25 test rounds, eight of the ten models won at least once. A genuinely better model wins nearly every time. Eight different winners is what noise looks like.</a:t>
            </a:r>
          </a:p>
          <a:p>
            <a:pPr>
              <a:spcAft>
                <a:spcPts val="600"/>
              </a:spcAft>
            </a:pPr>
            <a:r>
              <a:rPr sz="600" b="0" i="0">
                <a:solidFill>
                  <a:srgbClr val="1A1A1A"/>
                </a:solidFill>
                <a:latin typeface="Calibri"/>
              </a:rPr>
              <a:t> </a:t>
            </a:r>
          </a:p>
          <a:p>
            <a:pPr>
              <a:spcAft>
                <a:spcPts val="600"/>
              </a:spcAft>
            </a:pPr>
            <a:r>
              <a:rPr sz="1350" b="1" i="0">
                <a:solidFill>
                  <a:srgbClr val="1A1A1A"/>
                </a:solidFill>
                <a:latin typeface="Calibri"/>
              </a:rPr>
              <a:t>Why the score is low. Each cause is measured, not guessed at.</a:t>
            </a:r>
          </a:p>
          <a:p>
            <a:pPr lvl="1">
              <a:spcAft>
                <a:spcPts val="600"/>
              </a:spcAft>
            </a:pPr>
            <a:r>
              <a:rPr sz="115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600"/>
              </a:spcAft>
            </a:pPr>
            <a:r>
              <a:rPr sz="1150" b="0" i="0">
                <a:solidFill>
                  <a:srgbClr val="5A6270"/>
                </a:solidFill>
                <a:latin typeface="Calibri"/>
              </a:rPr>
              <a:t>The target is a random date. Every churn date is a coin toss between the day the customer joined and the last day of the file. Slide 10 is that test.</a:t>
            </a:r>
          </a:p>
          <a:p>
            <a:pPr lvl="1">
              <a:spcAft>
                <a:spcPts val="600"/>
              </a:spcAft>
            </a:pPr>
            <a:r>
              <a:rPr sz="1150" b="0" i="0">
                <a:solidFill>
                  <a:srgbClr val="5A6270"/>
                </a:solidFill>
                <a:latin typeface="Calibri"/>
              </a:rPr>
              <a:t>Subscriptions is the one table with real rules, and none of it relates to churn.</a:t>
            </a:r>
          </a:p>
          <a:p>
            <a:pPr lvl="1">
              <a:spcAft>
                <a:spcPts val="600"/>
              </a:spcAft>
            </a:pPr>
            <a:r>
              <a:rPr sz="1150" b="0" i="0">
                <a:solidFill>
                  <a:srgbClr val="5A6270"/>
                </a:solidFill>
                <a:latin typeface="Calibri"/>
              </a:rPr>
              <a:t>Sample size is real but secondary: 54 churners against 73 features.</a:t>
            </a:r>
          </a:p>
          <a:p>
            <a:pPr lvl="1">
              <a:spcAft>
                <a:spcPts val="600"/>
              </a:spcAft>
            </a:pPr>
            <a:r>
              <a:rPr sz="1150" b="0" i="0">
                <a:solidFill>
                  <a:srgbClr val="5A6270"/>
                </a:solidFill>
                <a:latin typeface="Calibri"/>
              </a:rPr>
              <a:t>It is not leakage, not the feature build, and not tuning. I checked all three.</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Imbalance, leakage and 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1A1A1A"/>
                </a:solidFill>
                <a:latin typeface="Calibri"/>
              </a:rPr>
              <a:t>Class imbalance</a:t>
            </a:r>
          </a:p>
          <a:p>
            <a:pPr lvl="1">
              <a:spcAft>
                <a:spcPts val="500"/>
              </a:spcAft>
            </a:pPr>
            <a:r>
              <a:rPr sz="1200" b="0" i="0">
                <a:solidFill>
                  <a:srgbClr val="5A6270"/>
                </a:solidFill>
                <a:latin typeface="Calibri"/>
              </a:rPr>
              <a:t>31% of customers left, so the classes are uneven but not badly so. I weight the rare class rather than inventing synthetic customers. With only 54 real examples, synthetic ones are copies of copies and they flatter the score.</a:t>
            </a:r>
          </a:p>
          <a:p>
            <a:pPr lvl="1">
              <a:spcAft>
                <a:spcPts val="500"/>
              </a:spcAft>
            </a:pPr>
            <a:r>
              <a:rPr sz="120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500"/>
              </a:spcAft>
            </a:pPr>
            <a:r>
              <a:rPr sz="1200" b="0" i="0">
                <a:solidFill>
                  <a:srgbClr val="5A6270"/>
                </a:solidFill>
                <a:latin typeface="Calibri"/>
              </a:rPr>
              <a:t>I report ROC-AUC because its baseline stays 0.50 at any class balance, which keeps the twelve horizon cells comparable when their churn rates run 11% to 45%. Precision-recall and F1 agree, so the metric is not choosing the answer.</a:t>
            </a:r>
          </a:p>
          <a:p>
            <a:pPr>
              <a:spcAft>
                <a:spcPts val="500"/>
              </a:spcAft>
            </a:pPr>
            <a:r>
              <a:rPr sz="600" b="0" i="0">
                <a:solidFill>
                  <a:srgbClr val="1A1A1A"/>
                </a:solidFill>
                <a:latin typeface="Calibri"/>
              </a:rPr>
              <a:t> </a:t>
            </a:r>
          </a:p>
          <a:p>
            <a:pPr>
              <a:spcAft>
                <a:spcPts val="500"/>
              </a:spcAft>
            </a:pPr>
            <a:r>
              <a:rPr sz="1400" b="1" i="0">
                <a:solidFill>
                  <a:srgbClr val="B02E2E"/>
                </a:solidFill>
                <a:latin typeface="Calibri"/>
              </a:rPr>
              <a:t>Data leakage</a:t>
            </a:r>
          </a:p>
          <a:p>
            <a:pPr lvl="1">
              <a:spcAft>
                <a:spcPts val="500"/>
              </a:spcAft>
            </a:pPr>
            <a:r>
              <a:rPr sz="1200" b="0" i="0">
                <a:solidFill>
                  <a:srgbClr val="5A6270"/>
                </a:solidFill>
                <a:latin typeface="Calibri"/>
              </a:rPr>
              <a:t>I do not rely on reading the code. A set of automatic checks runs before any result is reported, and it blocks the result if anything fails.</a:t>
            </a:r>
          </a:p>
          <a:p>
            <a:pPr lvl="1">
              <a:spcAft>
                <a:spcPts val="500"/>
              </a:spcAft>
            </a:pPr>
            <a:r>
              <a:rPr sz="1200" b="0" i="0">
                <a:solidFill>
                  <a:srgbClr val="5A6270"/>
                </a:solidFill>
                <a:latin typeface="Calibri"/>
              </a:rPr>
              <a:t>The checks look for dates after the cutoff, for banned columns by name, and for any single feature that predicts too well.</a:t>
            </a:r>
          </a:p>
          <a:p>
            <a:pPr lvl="1">
              <a:spcAft>
                <a:spcPts val="500"/>
              </a:spcAft>
            </a:pPr>
            <a:r>
              <a:rPr sz="1200" b="0" i="0">
                <a:solidFill>
                  <a:srgbClr val="5A6270"/>
                </a:solidFill>
                <a:latin typeface="Calibri"/>
              </a:rPr>
              <a:t>Columns that only exist after a customer leaves are worth 0.37 of extra AUC. They push the model to AUC 0.79, which looks like a good model rather than a broken one. That is exactly why they are dangerous.</a:t>
            </a:r>
          </a:p>
          <a:p>
            <a:pPr>
              <a:spcAft>
                <a:spcPts val="500"/>
              </a:spcAft>
            </a:pPr>
            <a:r>
              <a:rPr sz="600" b="0" i="0">
                <a:solidFill>
                  <a:srgbClr val="1A1A1A"/>
                </a:solidFill>
                <a:latin typeface="Calibri"/>
              </a:rPr>
              <a:t> </a:t>
            </a:r>
          </a:p>
          <a:p>
            <a:pPr>
              <a:spcAft>
                <a:spcPts val="500"/>
              </a:spcAft>
            </a:pPr>
            <a:r>
              <a:rPr sz="1400" b="1" i="0">
                <a:solidFill>
                  <a:srgbClr val="2E5F8A"/>
                </a:solidFill>
                <a:latin typeface="Calibri"/>
              </a:rPr>
              <a:t>Interpretability, and how it can mislead you</a:t>
            </a:r>
          </a:p>
          <a:p>
            <a:pPr lvl="1">
              <a:spcAft>
                <a:spcPts val="500"/>
              </a:spcAft>
            </a:pPr>
            <a:r>
              <a:rPr sz="1200" b="0" i="0">
                <a:solidFill>
                  <a:srgbClr val="5A6270"/>
                </a:solidFill>
                <a:latin typeface="Calibri"/>
              </a:rPr>
              <a:t>SHAP gives a clean, confident chart of what drives the prediction. I checked it against shuffled data, where by definition there is nothing to find. The chart looked just as convincing.</a:t>
            </a:r>
          </a:p>
          <a:p>
            <a:pPr lvl="1">
              <a:spcAft>
                <a:spcPts val="500"/>
              </a:spcAft>
            </a:pPr>
            <a:r>
              <a:rPr sz="1200" b="0" i="0">
                <a:solidFill>
                  <a:srgbClr val="5A6270"/>
                </a:solidFill>
                <a:latin typeface="Calibri"/>
              </a:rPr>
              <a:t>The top feature beats random labels only 3 times in 4. Twelve different features take first place across 25 reruns. These tools never tell you when they have nothing to say, so I pair every one with a random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6_generator_artefact.png"/>
          <p:cNvPicPr>
            <a:picLocks noChangeAspect="1"/>
          </p:cNvPicPr>
          <p:nvPr/>
        </p:nvPicPr>
        <p:blipFill>
          <a:blip r:embed="rId2"/>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10, applied to a spending decision instead of an investigation.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